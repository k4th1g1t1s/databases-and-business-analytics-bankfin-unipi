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2764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Καλωσόρισμα. Σύντομη παρουσίαση του διδάσκοντα (αν δεν έγινε στην παρουσίαση μαθημάτων επιλογής). Ερώτηση-«πάγος»: «Ποιος έχει δουλέψει ποτέ με Excel; Με SQL;» — δίνει εικόνα για το επίπεδο της τάξης.</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Δείξτε live πού κατεβαίνει το SQL Server Developer/Express και το SSMS. Σημείωση: το SSMS υπάρχει μόνο για Windows· οι χρήστες Mac τρέχουν SQL Server σε Docker και συνδέονται με VS Code (επέκταση MSSQL).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Όριο Excel: 1.048.576 γραμμές ανά φύλλο. Ρωτήστε την τάξη: «Πόσες συναλλαγές κάνει μια τράπεζα την ημέρα;» — για να φανεί γιατί το Excel δεν αρκεί.</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Προσοχή: το «SQL Server» (σύντομα MSSQL) πάει στη γραμμή «SQL Server». Το DataCamp χρησιμοποιεί κυρίως PostgreSQL· οι διαφορές στα βασικά είναι μικρές και θα τις επισημαίνουμε (π.χ. LIMIT vs TOP την επόμενη εβδομάδα).</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Ο «σκελετός» όλου του εξαμήνου. Companies στο κέντρο· StockPrices, Financials, Dividends «κρέμονται» από αυτό μέσω CompanyID. Το MarketIndex δεν έχει ξένο κλειδί — συνδέεται με τις τιμές μέσω της ημερομηνίας (θα το χρειαστούμε στην παλινδρόμηση τύπου CAPM).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Σύντομη διαφάνεια — αρκεί ένα πέρασμα. Τα tickers δεν είναι το πρωτεύον κλειδί, γιατί μπορεί να αλλάξουν (συγχωνεύσεις, μετονομασίες) — θα το δούμε στη διαφάνεια για το PRIMARY KEY. Οι αποδόσεις (returns) και το beta έρχονται στην εβδ. 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Κανόνας: επιλέγουμε τον «μικρότερο» τύπο που χωράει με ασφάλεια τις τιμές. Γιατί BIGINT για τον όγκο; Οι ημερήσιοι όγκοι χωράνε σε INT, αλλά τα αθροίσματα (π.χ. ετήσιος όγκος) εύκολα ξεπερνούν τα 2,1 δισ.</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Σημειώστε ότι ο κλάδος 9 (Βιοτεχνολογία) δεν έχει καμία εταιρεία — επιτρέπεται. Θα τον ξαναβρούμε στην Εβδομάδα 4 με το LEFT JOIN.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όνομα «FK__Companies__Secto__…» το έδωσε αυτόματα ο SQL Server επειδή δεν ονομάσαμε τον περιορισμό. Γι' αυτό είναι καλή πρακτική το CONSTRAINT FK_Companies_Sectors FOREIGN KEY (SectorID) REFERENCES Sectors(SectorID).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Απαντήσεις: α) 6 · β) (CompanyID, TradeDate) — μία τιμή ανά εταιρεία ανά ημέρα · γ) StockPrices, Financials, Dividends · δ) BIGINT — τα αθροίσματα όγκου ξεπερνούν το όριο του INT · ε) FoundedYear, Employees.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Πλήρης λύση στο αρχείο Lyseis_Ebdomada_01-02.sql. Προσοχή στη σειρά δημιουργίας: πρώτα Analysts, μετά Recommendations (λόγω ξένου κλειδιού).</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Απαντήσεις: α) ✗ UNIQUE (SectorName «Τράπεζες» υπάρχει) · β) ✗ FOREIGN KEY (κλάδος 99 δεν υπάρχει) · γ) ✗ PRIMARY KEY (υπάρχει ήδη τιμή για εταιρεία 1 στις 2024-01-02) · δ) ✗ CHECK CK_HighLow (High 1.90 &lt; Low 2.00) · ε) ✓ περνάει· η Country παίρνει DEFAULT «Ελλάδα». Μετά: DELETE FROM Companies WHERE CompanyID = 25;</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Συνολικός εκτιμώμενος χρόνος: ~2,5–3 ώρες. Οι αναθέσεις μετρούν ως bonus (αν εγκριθεί από το τμήμα).</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flipV="1">
            <a:off x="5824728" y="978408"/>
            <a:ext cx="699516" cy="310896"/>
          </a:xfrm>
          <a:prstGeom prst="line">
            <a:avLst/>
          </a:prstGeom>
          <a:noFill/>
          <a:ln w="12700">
            <a:solidFill>
              <a:srgbClr val="2EC4B6">
                <a:alpha val="45000"/>
              </a:srgbClr>
            </a:solidFill>
            <a:prstDash val="solid"/>
          </a:ln>
        </p:spPr>
        <p:txBody>
          <a:bodyPr/>
          <a:lstStyle/>
          <a:p>
            <a:endParaRPr lang="el-GR"/>
          </a:p>
        </p:txBody>
      </p:sp>
      <p:sp>
        <p:nvSpPr>
          <p:cNvPr id="3" name="Shape 1"/>
          <p:cNvSpPr/>
          <p:nvPr/>
        </p:nvSpPr>
        <p:spPr>
          <a:xfrm>
            <a:off x="6524244" y="978408"/>
            <a:ext cx="699516" cy="544068"/>
          </a:xfrm>
          <a:prstGeom prst="line">
            <a:avLst/>
          </a:prstGeom>
          <a:noFill/>
          <a:ln w="12700">
            <a:solidFill>
              <a:srgbClr val="2EC4B6">
                <a:alpha val="45000"/>
              </a:srgbClr>
            </a:solidFill>
            <a:prstDash val="solid"/>
          </a:ln>
        </p:spPr>
        <p:txBody>
          <a:bodyPr/>
          <a:lstStyle/>
          <a:p>
            <a:endParaRPr lang="el-GR"/>
          </a:p>
        </p:txBody>
      </p:sp>
      <p:sp>
        <p:nvSpPr>
          <p:cNvPr id="4" name="Shape 2"/>
          <p:cNvSpPr/>
          <p:nvPr/>
        </p:nvSpPr>
        <p:spPr>
          <a:xfrm flipV="1">
            <a:off x="7223760" y="1133856"/>
            <a:ext cx="854964" cy="388620"/>
          </a:xfrm>
          <a:prstGeom prst="line">
            <a:avLst/>
          </a:prstGeom>
          <a:noFill/>
          <a:ln w="12700">
            <a:solidFill>
              <a:srgbClr val="2EC4B6">
                <a:alpha val="45000"/>
              </a:srgbClr>
            </a:solidFill>
            <a:prstDash val="solid"/>
          </a:ln>
        </p:spPr>
        <p:txBody>
          <a:bodyPr/>
          <a:lstStyle/>
          <a:p>
            <a:endParaRPr lang="el-GR"/>
          </a:p>
        </p:txBody>
      </p:sp>
      <p:sp>
        <p:nvSpPr>
          <p:cNvPr id="5" name="Shape 3"/>
          <p:cNvSpPr/>
          <p:nvPr/>
        </p:nvSpPr>
        <p:spPr>
          <a:xfrm>
            <a:off x="8078724" y="1133856"/>
            <a:ext cx="621792" cy="699516"/>
          </a:xfrm>
          <a:prstGeom prst="line">
            <a:avLst/>
          </a:prstGeom>
          <a:noFill/>
          <a:ln w="12700">
            <a:solidFill>
              <a:srgbClr val="2EC4B6">
                <a:alpha val="45000"/>
              </a:srgbClr>
            </a:solidFill>
            <a:prstDash val="solid"/>
          </a:ln>
        </p:spPr>
        <p:txBody>
          <a:bodyPr/>
          <a:lstStyle/>
          <a:p>
            <a:endParaRPr lang="el-GR"/>
          </a:p>
        </p:txBody>
      </p:sp>
      <p:sp>
        <p:nvSpPr>
          <p:cNvPr id="6" name="Shape 4"/>
          <p:cNvSpPr/>
          <p:nvPr/>
        </p:nvSpPr>
        <p:spPr>
          <a:xfrm>
            <a:off x="5824728" y="1289304"/>
            <a:ext cx="388620" cy="777240"/>
          </a:xfrm>
          <a:prstGeom prst="line">
            <a:avLst/>
          </a:prstGeom>
          <a:noFill/>
          <a:ln w="12700">
            <a:solidFill>
              <a:srgbClr val="2EC4B6">
                <a:alpha val="45000"/>
              </a:srgbClr>
            </a:solidFill>
            <a:prstDash val="solid"/>
          </a:ln>
        </p:spPr>
        <p:txBody>
          <a:bodyPr/>
          <a:lstStyle/>
          <a:p>
            <a:endParaRPr lang="el-GR"/>
          </a:p>
        </p:txBody>
      </p:sp>
      <p:sp>
        <p:nvSpPr>
          <p:cNvPr id="7" name="Shape 5"/>
          <p:cNvSpPr/>
          <p:nvPr/>
        </p:nvSpPr>
        <p:spPr>
          <a:xfrm>
            <a:off x="6213348" y="2066544"/>
            <a:ext cx="777240" cy="388620"/>
          </a:xfrm>
          <a:prstGeom prst="line">
            <a:avLst/>
          </a:prstGeom>
          <a:noFill/>
          <a:ln w="12700">
            <a:solidFill>
              <a:srgbClr val="2EC4B6">
                <a:alpha val="45000"/>
              </a:srgbClr>
            </a:solidFill>
            <a:prstDash val="solid"/>
          </a:ln>
        </p:spPr>
        <p:txBody>
          <a:bodyPr/>
          <a:lstStyle/>
          <a:p>
            <a:endParaRPr lang="el-GR"/>
          </a:p>
        </p:txBody>
      </p:sp>
      <p:sp>
        <p:nvSpPr>
          <p:cNvPr id="8" name="Shape 6"/>
          <p:cNvSpPr/>
          <p:nvPr/>
        </p:nvSpPr>
        <p:spPr>
          <a:xfrm>
            <a:off x="6524244" y="978408"/>
            <a:ext cx="466344" cy="1476756"/>
          </a:xfrm>
          <a:prstGeom prst="line">
            <a:avLst/>
          </a:prstGeom>
          <a:noFill/>
          <a:ln w="12700">
            <a:solidFill>
              <a:srgbClr val="2EC4B6">
                <a:alpha val="45000"/>
              </a:srgbClr>
            </a:solidFill>
            <a:prstDash val="solid"/>
          </a:ln>
        </p:spPr>
        <p:txBody>
          <a:bodyPr/>
          <a:lstStyle/>
          <a:p>
            <a:endParaRPr lang="el-GR"/>
          </a:p>
        </p:txBody>
      </p:sp>
      <p:sp>
        <p:nvSpPr>
          <p:cNvPr id="9" name="Shape 7"/>
          <p:cNvSpPr/>
          <p:nvPr/>
        </p:nvSpPr>
        <p:spPr>
          <a:xfrm>
            <a:off x="7223760" y="1522476"/>
            <a:ext cx="621792" cy="699516"/>
          </a:xfrm>
          <a:prstGeom prst="line">
            <a:avLst/>
          </a:prstGeom>
          <a:noFill/>
          <a:ln w="12700">
            <a:solidFill>
              <a:srgbClr val="2EC4B6">
                <a:alpha val="45000"/>
              </a:srgbClr>
            </a:solidFill>
            <a:prstDash val="solid"/>
          </a:ln>
        </p:spPr>
        <p:txBody>
          <a:bodyPr/>
          <a:lstStyle/>
          <a:p>
            <a:endParaRPr lang="el-GR"/>
          </a:p>
        </p:txBody>
      </p:sp>
      <p:sp>
        <p:nvSpPr>
          <p:cNvPr id="10" name="Shape 8"/>
          <p:cNvSpPr/>
          <p:nvPr/>
        </p:nvSpPr>
        <p:spPr>
          <a:xfrm flipV="1">
            <a:off x="6990588" y="2221992"/>
            <a:ext cx="854964" cy="233172"/>
          </a:xfrm>
          <a:prstGeom prst="line">
            <a:avLst/>
          </a:prstGeom>
          <a:noFill/>
          <a:ln w="12700">
            <a:solidFill>
              <a:srgbClr val="2EC4B6">
                <a:alpha val="45000"/>
              </a:srgbClr>
            </a:solidFill>
            <a:prstDash val="solid"/>
          </a:ln>
        </p:spPr>
        <p:txBody>
          <a:bodyPr/>
          <a:lstStyle/>
          <a:p>
            <a:endParaRPr lang="el-GR"/>
          </a:p>
        </p:txBody>
      </p:sp>
      <p:sp>
        <p:nvSpPr>
          <p:cNvPr id="11" name="Shape 9"/>
          <p:cNvSpPr/>
          <p:nvPr/>
        </p:nvSpPr>
        <p:spPr>
          <a:xfrm flipV="1">
            <a:off x="7845552" y="1833372"/>
            <a:ext cx="854964" cy="388620"/>
          </a:xfrm>
          <a:prstGeom prst="line">
            <a:avLst/>
          </a:prstGeom>
          <a:noFill/>
          <a:ln w="12700">
            <a:solidFill>
              <a:srgbClr val="2EC4B6">
                <a:alpha val="45000"/>
              </a:srgbClr>
            </a:solidFill>
            <a:prstDash val="solid"/>
          </a:ln>
        </p:spPr>
        <p:txBody>
          <a:bodyPr/>
          <a:lstStyle/>
          <a:p>
            <a:endParaRPr lang="el-GR"/>
          </a:p>
        </p:txBody>
      </p:sp>
      <p:sp>
        <p:nvSpPr>
          <p:cNvPr id="12" name="Shape 10"/>
          <p:cNvSpPr/>
          <p:nvPr/>
        </p:nvSpPr>
        <p:spPr>
          <a:xfrm>
            <a:off x="7845552" y="2221992"/>
            <a:ext cx="621792" cy="621792"/>
          </a:xfrm>
          <a:prstGeom prst="line">
            <a:avLst/>
          </a:prstGeom>
          <a:noFill/>
          <a:ln w="12700">
            <a:solidFill>
              <a:srgbClr val="2EC4B6">
                <a:alpha val="45000"/>
              </a:srgbClr>
            </a:solidFill>
            <a:prstDash val="solid"/>
          </a:ln>
        </p:spPr>
        <p:txBody>
          <a:bodyPr/>
          <a:lstStyle/>
          <a:p>
            <a:endParaRPr lang="el-GR"/>
          </a:p>
        </p:txBody>
      </p:sp>
      <p:sp>
        <p:nvSpPr>
          <p:cNvPr id="13" name="Shape 11"/>
          <p:cNvSpPr/>
          <p:nvPr/>
        </p:nvSpPr>
        <p:spPr>
          <a:xfrm flipV="1">
            <a:off x="8467344" y="1833372"/>
            <a:ext cx="233172" cy="1010412"/>
          </a:xfrm>
          <a:prstGeom prst="line">
            <a:avLst/>
          </a:prstGeom>
          <a:noFill/>
          <a:ln w="12700">
            <a:solidFill>
              <a:srgbClr val="2EC4B6">
                <a:alpha val="45000"/>
              </a:srgbClr>
            </a:solidFill>
            <a:prstDash val="solid"/>
          </a:ln>
        </p:spPr>
        <p:txBody>
          <a:bodyPr/>
          <a:lstStyle/>
          <a:p>
            <a:endParaRPr lang="el-GR"/>
          </a:p>
        </p:txBody>
      </p:sp>
      <p:sp>
        <p:nvSpPr>
          <p:cNvPr id="14" name="Shape 12"/>
          <p:cNvSpPr/>
          <p:nvPr/>
        </p:nvSpPr>
        <p:spPr>
          <a:xfrm flipV="1">
            <a:off x="5980176" y="2066544"/>
            <a:ext cx="233172" cy="1010412"/>
          </a:xfrm>
          <a:prstGeom prst="line">
            <a:avLst/>
          </a:prstGeom>
          <a:noFill/>
          <a:ln w="12700">
            <a:solidFill>
              <a:srgbClr val="2EC4B6">
                <a:alpha val="45000"/>
              </a:srgbClr>
            </a:solidFill>
            <a:prstDash val="solid"/>
          </a:ln>
        </p:spPr>
        <p:txBody>
          <a:bodyPr/>
          <a:lstStyle/>
          <a:p>
            <a:endParaRPr lang="el-GR"/>
          </a:p>
        </p:txBody>
      </p:sp>
      <p:sp>
        <p:nvSpPr>
          <p:cNvPr id="15" name="Shape 13"/>
          <p:cNvSpPr/>
          <p:nvPr/>
        </p:nvSpPr>
        <p:spPr>
          <a:xfrm>
            <a:off x="5980176" y="3076956"/>
            <a:ext cx="777240" cy="310896"/>
          </a:xfrm>
          <a:prstGeom prst="line">
            <a:avLst/>
          </a:prstGeom>
          <a:noFill/>
          <a:ln w="12700">
            <a:solidFill>
              <a:srgbClr val="2EC4B6">
                <a:alpha val="45000"/>
              </a:srgbClr>
            </a:solidFill>
            <a:prstDash val="solid"/>
          </a:ln>
        </p:spPr>
        <p:txBody>
          <a:bodyPr/>
          <a:lstStyle/>
          <a:p>
            <a:endParaRPr lang="el-GR"/>
          </a:p>
        </p:txBody>
      </p:sp>
      <p:sp>
        <p:nvSpPr>
          <p:cNvPr id="16" name="Shape 14"/>
          <p:cNvSpPr/>
          <p:nvPr/>
        </p:nvSpPr>
        <p:spPr>
          <a:xfrm flipV="1">
            <a:off x="6757416" y="2455164"/>
            <a:ext cx="233172" cy="932688"/>
          </a:xfrm>
          <a:prstGeom prst="line">
            <a:avLst/>
          </a:prstGeom>
          <a:noFill/>
          <a:ln w="12700">
            <a:solidFill>
              <a:srgbClr val="2EC4B6">
                <a:alpha val="45000"/>
              </a:srgbClr>
            </a:solidFill>
            <a:prstDash val="solid"/>
          </a:ln>
        </p:spPr>
        <p:txBody>
          <a:bodyPr/>
          <a:lstStyle/>
          <a:p>
            <a:endParaRPr lang="el-GR"/>
          </a:p>
        </p:txBody>
      </p:sp>
      <p:sp>
        <p:nvSpPr>
          <p:cNvPr id="17" name="Shape 15"/>
          <p:cNvSpPr/>
          <p:nvPr/>
        </p:nvSpPr>
        <p:spPr>
          <a:xfrm flipV="1">
            <a:off x="6757416" y="3154680"/>
            <a:ext cx="854964" cy="233172"/>
          </a:xfrm>
          <a:prstGeom prst="line">
            <a:avLst/>
          </a:prstGeom>
          <a:noFill/>
          <a:ln w="12700">
            <a:solidFill>
              <a:srgbClr val="2EC4B6">
                <a:alpha val="45000"/>
              </a:srgbClr>
            </a:solidFill>
            <a:prstDash val="solid"/>
          </a:ln>
        </p:spPr>
        <p:txBody>
          <a:bodyPr/>
          <a:lstStyle/>
          <a:p>
            <a:endParaRPr lang="el-GR"/>
          </a:p>
        </p:txBody>
      </p:sp>
      <p:sp>
        <p:nvSpPr>
          <p:cNvPr id="18" name="Shape 16"/>
          <p:cNvSpPr/>
          <p:nvPr/>
        </p:nvSpPr>
        <p:spPr>
          <a:xfrm flipV="1">
            <a:off x="7612380" y="2221992"/>
            <a:ext cx="233172" cy="932688"/>
          </a:xfrm>
          <a:prstGeom prst="line">
            <a:avLst/>
          </a:prstGeom>
          <a:noFill/>
          <a:ln w="12700">
            <a:solidFill>
              <a:srgbClr val="2EC4B6">
                <a:alpha val="45000"/>
              </a:srgbClr>
            </a:solidFill>
            <a:prstDash val="solid"/>
          </a:ln>
        </p:spPr>
        <p:txBody>
          <a:bodyPr/>
          <a:lstStyle/>
          <a:p>
            <a:endParaRPr lang="el-GR"/>
          </a:p>
        </p:txBody>
      </p:sp>
      <p:sp>
        <p:nvSpPr>
          <p:cNvPr id="19" name="Shape 17"/>
          <p:cNvSpPr/>
          <p:nvPr/>
        </p:nvSpPr>
        <p:spPr>
          <a:xfrm flipV="1">
            <a:off x="7612380" y="2843784"/>
            <a:ext cx="854964" cy="310896"/>
          </a:xfrm>
          <a:prstGeom prst="line">
            <a:avLst/>
          </a:prstGeom>
          <a:noFill/>
          <a:ln w="12700">
            <a:solidFill>
              <a:srgbClr val="2EC4B6">
                <a:alpha val="45000"/>
              </a:srgbClr>
            </a:solidFill>
            <a:prstDash val="solid"/>
          </a:ln>
        </p:spPr>
        <p:txBody>
          <a:bodyPr/>
          <a:lstStyle/>
          <a:p>
            <a:endParaRPr lang="el-GR"/>
          </a:p>
        </p:txBody>
      </p:sp>
      <p:sp>
        <p:nvSpPr>
          <p:cNvPr id="20" name="Shape 18"/>
          <p:cNvSpPr/>
          <p:nvPr/>
        </p:nvSpPr>
        <p:spPr>
          <a:xfrm>
            <a:off x="7612380" y="3154680"/>
            <a:ext cx="621792" cy="544068"/>
          </a:xfrm>
          <a:prstGeom prst="line">
            <a:avLst/>
          </a:prstGeom>
          <a:noFill/>
          <a:ln w="12700">
            <a:solidFill>
              <a:srgbClr val="2EC4B6">
                <a:alpha val="45000"/>
              </a:srgbClr>
            </a:solidFill>
            <a:prstDash val="solid"/>
          </a:ln>
        </p:spPr>
        <p:txBody>
          <a:bodyPr/>
          <a:lstStyle/>
          <a:p>
            <a:endParaRPr lang="el-GR"/>
          </a:p>
        </p:txBody>
      </p:sp>
      <p:sp>
        <p:nvSpPr>
          <p:cNvPr id="21" name="Shape 19"/>
          <p:cNvSpPr/>
          <p:nvPr/>
        </p:nvSpPr>
        <p:spPr>
          <a:xfrm flipV="1">
            <a:off x="8234172" y="2843784"/>
            <a:ext cx="233172" cy="854964"/>
          </a:xfrm>
          <a:prstGeom prst="line">
            <a:avLst/>
          </a:prstGeom>
          <a:noFill/>
          <a:ln w="12700">
            <a:solidFill>
              <a:srgbClr val="2EC4B6">
                <a:alpha val="45000"/>
              </a:srgbClr>
            </a:solidFill>
            <a:prstDash val="solid"/>
          </a:ln>
        </p:spPr>
        <p:txBody>
          <a:bodyPr/>
          <a:lstStyle/>
          <a:p>
            <a:endParaRPr lang="el-GR"/>
          </a:p>
        </p:txBody>
      </p:sp>
      <p:sp>
        <p:nvSpPr>
          <p:cNvPr id="22" name="Shape 20"/>
          <p:cNvSpPr/>
          <p:nvPr/>
        </p:nvSpPr>
        <p:spPr>
          <a:xfrm>
            <a:off x="6757416" y="3387852"/>
            <a:ext cx="466344" cy="544068"/>
          </a:xfrm>
          <a:prstGeom prst="line">
            <a:avLst/>
          </a:prstGeom>
          <a:noFill/>
          <a:ln w="12700">
            <a:solidFill>
              <a:srgbClr val="2EC4B6">
                <a:alpha val="45000"/>
              </a:srgbClr>
            </a:solidFill>
            <a:prstDash val="solid"/>
          </a:ln>
        </p:spPr>
        <p:txBody>
          <a:bodyPr/>
          <a:lstStyle/>
          <a:p>
            <a:endParaRPr lang="el-GR"/>
          </a:p>
        </p:txBody>
      </p:sp>
      <p:sp>
        <p:nvSpPr>
          <p:cNvPr id="23" name="Shape 21"/>
          <p:cNvSpPr/>
          <p:nvPr/>
        </p:nvSpPr>
        <p:spPr>
          <a:xfrm flipV="1">
            <a:off x="7223760" y="3698748"/>
            <a:ext cx="1010412" cy="233172"/>
          </a:xfrm>
          <a:prstGeom prst="line">
            <a:avLst/>
          </a:prstGeom>
          <a:noFill/>
          <a:ln w="12700">
            <a:solidFill>
              <a:srgbClr val="2EC4B6">
                <a:alpha val="45000"/>
              </a:srgbClr>
            </a:solidFill>
            <a:prstDash val="solid"/>
          </a:ln>
        </p:spPr>
        <p:txBody>
          <a:bodyPr/>
          <a:lstStyle/>
          <a:p>
            <a:endParaRPr lang="el-GR"/>
          </a:p>
        </p:txBody>
      </p:sp>
      <p:sp>
        <p:nvSpPr>
          <p:cNvPr id="24" name="Shape 22"/>
          <p:cNvSpPr/>
          <p:nvPr/>
        </p:nvSpPr>
        <p:spPr>
          <a:xfrm flipV="1">
            <a:off x="8234172" y="3465576"/>
            <a:ext cx="544068" cy="233172"/>
          </a:xfrm>
          <a:prstGeom prst="line">
            <a:avLst/>
          </a:prstGeom>
          <a:noFill/>
          <a:ln w="12700">
            <a:solidFill>
              <a:srgbClr val="2EC4B6">
                <a:alpha val="45000"/>
              </a:srgbClr>
            </a:solidFill>
            <a:prstDash val="solid"/>
          </a:ln>
        </p:spPr>
        <p:txBody>
          <a:bodyPr/>
          <a:lstStyle/>
          <a:p>
            <a:endParaRPr lang="el-GR"/>
          </a:p>
        </p:txBody>
      </p:sp>
      <p:sp>
        <p:nvSpPr>
          <p:cNvPr id="25" name="Shape 23"/>
          <p:cNvSpPr/>
          <p:nvPr/>
        </p:nvSpPr>
        <p:spPr>
          <a:xfrm>
            <a:off x="8467344" y="2843784"/>
            <a:ext cx="310896" cy="621792"/>
          </a:xfrm>
          <a:prstGeom prst="line">
            <a:avLst/>
          </a:prstGeom>
          <a:noFill/>
          <a:ln w="12700">
            <a:solidFill>
              <a:srgbClr val="2EC4B6">
                <a:alpha val="45000"/>
              </a:srgbClr>
            </a:solidFill>
            <a:prstDash val="solid"/>
          </a:ln>
        </p:spPr>
        <p:txBody>
          <a:bodyPr/>
          <a:lstStyle/>
          <a:p>
            <a:endParaRPr lang="el-GR"/>
          </a:p>
        </p:txBody>
      </p:sp>
      <p:sp>
        <p:nvSpPr>
          <p:cNvPr id="26" name="Shape 24"/>
          <p:cNvSpPr/>
          <p:nvPr/>
        </p:nvSpPr>
        <p:spPr>
          <a:xfrm flipV="1">
            <a:off x="6990588" y="1522476"/>
            <a:ext cx="233172" cy="932688"/>
          </a:xfrm>
          <a:prstGeom prst="line">
            <a:avLst/>
          </a:prstGeom>
          <a:noFill/>
          <a:ln w="12700">
            <a:solidFill>
              <a:srgbClr val="2EC4B6">
                <a:alpha val="45000"/>
              </a:srgbClr>
            </a:solidFill>
            <a:prstDash val="solid"/>
          </a:ln>
        </p:spPr>
        <p:txBody>
          <a:bodyPr/>
          <a:lstStyle/>
          <a:p>
            <a:endParaRPr lang="el-GR"/>
          </a:p>
        </p:txBody>
      </p:sp>
      <p:sp>
        <p:nvSpPr>
          <p:cNvPr id="27" name="Shape 25"/>
          <p:cNvSpPr/>
          <p:nvPr/>
        </p:nvSpPr>
        <p:spPr>
          <a:xfrm>
            <a:off x="5778094" y="1242670"/>
            <a:ext cx="93269" cy="93269"/>
          </a:xfrm>
          <a:prstGeom prst="ellipse">
            <a:avLst/>
          </a:prstGeom>
          <a:solidFill>
            <a:srgbClr val="F2B134"/>
          </a:solidFill>
          <a:ln w="12700">
            <a:solidFill>
              <a:srgbClr val="F2B134"/>
            </a:solidFill>
            <a:prstDash val="solid"/>
          </a:ln>
        </p:spPr>
        <p:txBody>
          <a:bodyPr/>
          <a:lstStyle/>
          <a:p>
            <a:endParaRPr lang="el-GR"/>
          </a:p>
        </p:txBody>
      </p:sp>
      <p:sp>
        <p:nvSpPr>
          <p:cNvPr id="28" name="Shape 26"/>
          <p:cNvSpPr/>
          <p:nvPr/>
        </p:nvSpPr>
        <p:spPr>
          <a:xfrm>
            <a:off x="6477610" y="931774"/>
            <a:ext cx="93269" cy="93269"/>
          </a:xfrm>
          <a:prstGeom prst="ellipse">
            <a:avLst/>
          </a:prstGeom>
          <a:solidFill>
            <a:srgbClr val="2EC4B6"/>
          </a:solidFill>
          <a:ln w="12700">
            <a:solidFill>
              <a:srgbClr val="2EC4B6"/>
            </a:solidFill>
            <a:prstDash val="solid"/>
          </a:ln>
        </p:spPr>
        <p:txBody>
          <a:bodyPr/>
          <a:lstStyle/>
          <a:p>
            <a:endParaRPr lang="el-GR"/>
          </a:p>
        </p:txBody>
      </p:sp>
      <p:sp>
        <p:nvSpPr>
          <p:cNvPr id="29" name="Shape 27"/>
          <p:cNvSpPr/>
          <p:nvPr/>
        </p:nvSpPr>
        <p:spPr>
          <a:xfrm>
            <a:off x="7138264" y="1436980"/>
            <a:ext cx="170993" cy="170993"/>
          </a:xfrm>
          <a:prstGeom prst="ellipse">
            <a:avLst/>
          </a:prstGeom>
          <a:solidFill>
            <a:srgbClr val="C0304A"/>
          </a:solidFill>
          <a:ln w="12700">
            <a:solidFill>
              <a:srgbClr val="C0304A"/>
            </a:solidFill>
            <a:prstDash val="solid"/>
          </a:ln>
        </p:spPr>
        <p:txBody>
          <a:bodyPr/>
          <a:lstStyle/>
          <a:p>
            <a:endParaRPr lang="el-GR"/>
          </a:p>
        </p:txBody>
      </p:sp>
      <p:sp>
        <p:nvSpPr>
          <p:cNvPr id="30" name="Shape 28"/>
          <p:cNvSpPr/>
          <p:nvPr/>
        </p:nvSpPr>
        <p:spPr>
          <a:xfrm>
            <a:off x="8032090" y="1087222"/>
            <a:ext cx="93269" cy="93269"/>
          </a:xfrm>
          <a:prstGeom prst="ellipse">
            <a:avLst/>
          </a:prstGeom>
          <a:solidFill>
            <a:srgbClr val="F2B134"/>
          </a:solidFill>
          <a:ln w="12700">
            <a:solidFill>
              <a:srgbClr val="F2B134"/>
            </a:solidFill>
            <a:prstDash val="solid"/>
          </a:ln>
        </p:spPr>
        <p:txBody>
          <a:bodyPr/>
          <a:lstStyle/>
          <a:p>
            <a:endParaRPr lang="el-GR"/>
          </a:p>
        </p:txBody>
      </p:sp>
      <p:sp>
        <p:nvSpPr>
          <p:cNvPr id="31" name="Shape 29"/>
          <p:cNvSpPr/>
          <p:nvPr/>
        </p:nvSpPr>
        <p:spPr>
          <a:xfrm>
            <a:off x="8653882" y="1786738"/>
            <a:ext cx="93269" cy="93269"/>
          </a:xfrm>
          <a:prstGeom prst="ellipse">
            <a:avLst/>
          </a:prstGeom>
          <a:solidFill>
            <a:srgbClr val="2EC4B6"/>
          </a:solidFill>
          <a:ln w="12700">
            <a:solidFill>
              <a:srgbClr val="2EC4B6"/>
            </a:solidFill>
            <a:prstDash val="solid"/>
          </a:ln>
        </p:spPr>
        <p:txBody>
          <a:bodyPr/>
          <a:lstStyle/>
          <a:p>
            <a:endParaRPr lang="el-GR"/>
          </a:p>
        </p:txBody>
      </p:sp>
      <p:sp>
        <p:nvSpPr>
          <p:cNvPr id="32" name="Shape 30"/>
          <p:cNvSpPr/>
          <p:nvPr/>
        </p:nvSpPr>
        <p:spPr>
          <a:xfrm>
            <a:off x="6166714" y="2019910"/>
            <a:ext cx="93269" cy="93269"/>
          </a:xfrm>
          <a:prstGeom prst="ellipse">
            <a:avLst/>
          </a:prstGeom>
          <a:solidFill>
            <a:srgbClr val="2EC4B6"/>
          </a:solidFill>
          <a:ln w="12700">
            <a:solidFill>
              <a:srgbClr val="2EC4B6"/>
            </a:solidFill>
            <a:prstDash val="solid"/>
          </a:ln>
        </p:spPr>
        <p:txBody>
          <a:bodyPr/>
          <a:lstStyle/>
          <a:p>
            <a:endParaRPr lang="el-GR"/>
          </a:p>
        </p:txBody>
      </p:sp>
      <p:sp>
        <p:nvSpPr>
          <p:cNvPr id="33" name="Shape 31"/>
          <p:cNvSpPr/>
          <p:nvPr/>
        </p:nvSpPr>
        <p:spPr>
          <a:xfrm>
            <a:off x="6943954" y="2408530"/>
            <a:ext cx="93269" cy="93269"/>
          </a:xfrm>
          <a:prstGeom prst="ellipse">
            <a:avLst/>
          </a:prstGeom>
          <a:solidFill>
            <a:srgbClr val="F2B134"/>
          </a:solidFill>
          <a:ln w="12700">
            <a:solidFill>
              <a:srgbClr val="F2B134"/>
            </a:solidFill>
            <a:prstDash val="solid"/>
          </a:ln>
        </p:spPr>
        <p:txBody>
          <a:bodyPr/>
          <a:lstStyle/>
          <a:p>
            <a:endParaRPr lang="el-GR"/>
          </a:p>
        </p:txBody>
      </p:sp>
      <p:sp>
        <p:nvSpPr>
          <p:cNvPr id="34" name="Shape 32"/>
          <p:cNvSpPr/>
          <p:nvPr/>
        </p:nvSpPr>
        <p:spPr>
          <a:xfrm>
            <a:off x="7760056" y="2136496"/>
            <a:ext cx="170993" cy="170993"/>
          </a:xfrm>
          <a:prstGeom prst="ellipse">
            <a:avLst/>
          </a:prstGeom>
          <a:solidFill>
            <a:srgbClr val="C0304A"/>
          </a:solidFill>
          <a:ln w="12700">
            <a:solidFill>
              <a:srgbClr val="C0304A"/>
            </a:solidFill>
            <a:prstDash val="solid"/>
          </a:ln>
        </p:spPr>
        <p:txBody>
          <a:bodyPr/>
          <a:lstStyle/>
          <a:p>
            <a:endParaRPr lang="el-GR"/>
          </a:p>
        </p:txBody>
      </p:sp>
      <p:sp>
        <p:nvSpPr>
          <p:cNvPr id="35" name="Shape 33"/>
          <p:cNvSpPr/>
          <p:nvPr/>
        </p:nvSpPr>
        <p:spPr>
          <a:xfrm>
            <a:off x="8420710" y="2797150"/>
            <a:ext cx="93269" cy="93269"/>
          </a:xfrm>
          <a:prstGeom prst="ellipse">
            <a:avLst/>
          </a:prstGeom>
          <a:solidFill>
            <a:srgbClr val="2EC4B6"/>
          </a:solidFill>
          <a:ln w="12700">
            <a:solidFill>
              <a:srgbClr val="2EC4B6"/>
            </a:solidFill>
            <a:prstDash val="solid"/>
          </a:ln>
        </p:spPr>
        <p:txBody>
          <a:bodyPr/>
          <a:lstStyle/>
          <a:p>
            <a:endParaRPr lang="el-GR"/>
          </a:p>
        </p:txBody>
      </p:sp>
      <p:sp>
        <p:nvSpPr>
          <p:cNvPr id="36" name="Shape 34"/>
          <p:cNvSpPr/>
          <p:nvPr/>
        </p:nvSpPr>
        <p:spPr>
          <a:xfrm>
            <a:off x="5933542" y="3030322"/>
            <a:ext cx="93269" cy="93269"/>
          </a:xfrm>
          <a:prstGeom prst="ellipse">
            <a:avLst/>
          </a:prstGeom>
          <a:solidFill>
            <a:srgbClr val="F2B134"/>
          </a:solidFill>
          <a:ln w="12700">
            <a:solidFill>
              <a:srgbClr val="F2B134"/>
            </a:solidFill>
            <a:prstDash val="solid"/>
          </a:ln>
        </p:spPr>
        <p:txBody>
          <a:bodyPr/>
          <a:lstStyle/>
          <a:p>
            <a:endParaRPr lang="el-GR"/>
          </a:p>
        </p:txBody>
      </p:sp>
      <p:sp>
        <p:nvSpPr>
          <p:cNvPr id="37" name="Shape 35"/>
          <p:cNvSpPr/>
          <p:nvPr/>
        </p:nvSpPr>
        <p:spPr>
          <a:xfrm>
            <a:off x="6710782" y="3341218"/>
            <a:ext cx="93269" cy="93269"/>
          </a:xfrm>
          <a:prstGeom prst="ellipse">
            <a:avLst/>
          </a:prstGeom>
          <a:solidFill>
            <a:srgbClr val="2EC4B6"/>
          </a:solidFill>
          <a:ln w="12700">
            <a:solidFill>
              <a:srgbClr val="2EC4B6"/>
            </a:solidFill>
            <a:prstDash val="solid"/>
          </a:ln>
        </p:spPr>
        <p:txBody>
          <a:bodyPr/>
          <a:lstStyle/>
          <a:p>
            <a:endParaRPr lang="el-GR"/>
          </a:p>
        </p:txBody>
      </p:sp>
      <p:sp>
        <p:nvSpPr>
          <p:cNvPr id="38" name="Shape 36"/>
          <p:cNvSpPr/>
          <p:nvPr/>
        </p:nvSpPr>
        <p:spPr>
          <a:xfrm>
            <a:off x="7526884" y="3069184"/>
            <a:ext cx="170993" cy="170993"/>
          </a:xfrm>
          <a:prstGeom prst="ellipse">
            <a:avLst/>
          </a:prstGeom>
          <a:solidFill>
            <a:srgbClr val="C0304A"/>
          </a:solidFill>
          <a:ln w="12700">
            <a:solidFill>
              <a:srgbClr val="C0304A"/>
            </a:solidFill>
            <a:prstDash val="solid"/>
          </a:ln>
        </p:spPr>
        <p:txBody>
          <a:bodyPr/>
          <a:lstStyle/>
          <a:p>
            <a:endParaRPr lang="el-GR"/>
          </a:p>
        </p:txBody>
      </p:sp>
      <p:sp>
        <p:nvSpPr>
          <p:cNvPr id="39" name="Shape 37"/>
          <p:cNvSpPr/>
          <p:nvPr/>
        </p:nvSpPr>
        <p:spPr>
          <a:xfrm>
            <a:off x="8187538" y="3652114"/>
            <a:ext cx="93269" cy="93269"/>
          </a:xfrm>
          <a:prstGeom prst="ellipse">
            <a:avLst/>
          </a:prstGeom>
          <a:solidFill>
            <a:srgbClr val="F2B134"/>
          </a:solidFill>
          <a:ln w="12700">
            <a:solidFill>
              <a:srgbClr val="F2B134"/>
            </a:solidFill>
            <a:prstDash val="solid"/>
          </a:ln>
        </p:spPr>
        <p:txBody>
          <a:bodyPr/>
          <a:lstStyle/>
          <a:p>
            <a:endParaRPr lang="el-GR"/>
          </a:p>
        </p:txBody>
      </p:sp>
      <p:sp>
        <p:nvSpPr>
          <p:cNvPr id="40" name="Shape 38"/>
          <p:cNvSpPr/>
          <p:nvPr/>
        </p:nvSpPr>
        <p:spPr>
          <a:xfrm>
            <a:off x="7177126" y="3885286"/>
            <a:ext cx="93269" cy="93269"/>
          </a:xfrm>
          <a:prstGeom prst="ellipse">
            <a:avLst/>
          </a:prstGeom>
          <a:solidFill>
            <a:srgbClr val="2EC4B6"/>
          </a:solidFill>
          <a:ln w="12700">
            <a:solidFill>
              <a:srgbClr val="2EC4B6"/>
            </a:solidFill>
            <a:prstDash val="solid"/>
          </a:ln>
        </p:spPr>
        <p:txBody>
          <a:bodyPr/>
          <a:lstStyle/>
          <a:p>
            <a:endParaRPr lang="el-GR"/>
          </a:p>
        </p:txBody>
      </p:sp>
      <p:sp>
        <p:nvSpPr>
          <p:cNvPr id="41" name="Shape 39"/>
          <p:cNvSpPr/>
          <p:nvPr/>
        </p:nvSpPr>
        <p:spPr>
          <a:xfrm>
            <a:off x="8731606" y="3418942"/>
            <a:ext cx="93269" cy="93269"/>
          </a:xfrm>
          <a:prstGeom prst="ellipse">
            <a:avLst/>
          </a:prstGeom>
          <a:solidFill>
            <a:srgbClr val="2EC4B6"/>
          </a:solidFill>
          <a:ln w="12700">
            <a:solidFill>
              <a:srgbClr val="2EC4B6"/>
            </a:solidFill>
            <a:prstDash val="solid"/>
          </a:ln>
        </p:spPr>
        <p:txBody>
          <a:bodyPr/>
          <a:lstStyle/>
          <a:p>
            <a:endParaRPr lang="el-GR"/>
          </a:p>
        </p:txBody>
      </p:sp>
      <p:sp>
        <p:nvSpPr>
          <p:cNvPr id="42" name="Text 40"/>
          <p:cNvSpPr txBox="1"/>
          <p:nvPr/>
        </p:nvSpPr>
        <p:spPr>
          <a:xfrm>
            <a:off x="548640" y="960120"/>
            <a:ext cx="5120640" cy="274320"/>
          </a:xfrm>
          <a:prstGeom prst="rect">
            <a:avLst/>
          </a:prstGeom>
          <a:noFill/>
          <a:ln/>
        </p:spPr>
        <p:txBody>
          <a:bodyPr wrap="square" lIns="0" tIns="0" rIns="0" bIns="0" rtlCol="0" anchor="ctr"/>
          <a:lstStyle/>
          <a:p>
            <a:pPr marL="0" indent="0">
              <a:buNone/>
            </a:pPr>
            <a:r>
              <a:rPr lang="en-US" sz="1200" b="1" kern="0" spc="200" dirty="0">
                <a:solidFill>
                  <a:srgbClr val="2EC4B6"/>
                </a:solidFill>
                <a:latin typeface="Calibri" pitchFamily="34" charset="0"/>
                <a:ea typeface="Calibri" pitchFamily="34" charset="-122"/>
                <a:cs typeface="Calibri" pitchFamily="34" charset="-120"/>
              </a:rPr>
              <a:t>ΕΒΔΟΜΑΔΑ 1</a:t>
            </a:r>
            <a:endParaRPr lang="en-US" sz="1200" dirty="0"/>
          </a:p>
        </p:txBody>
      </p:sp>
      <p:sp>
        <p:nvSpPr>
          <p:cNvPr id="43" name="Text 41"/>
          <p:cNvSpPr txBox="1"/>
          <p:nvPr/>
        </p:nvSpPr>
        <p:spPr>
          <a:xfrm>
            <a:off x="548640" y="1325880"/>
            <a:ext cx="5120640" cy="1554480"/>
          </a:xfrm>
          <a:prstGeom prst="rect">
            <a:avLst/>
          </a:prstGeom>
          <a:noFill/>
          <a:ln/>
        </p:spPr>
        <p:txBody>
          <a:bodyPr wrap="square" lIns="0" tIns="0" rIns="0" bIns="0" rtlCol="0" anchor="t"/>
          <a:lstStyle/>
          <a:p>
            <a:pPr marL="0" indent="0">
              <a:buNone/>
            </a:pPr>
            <a:r>
              <a:rPr lang="en-US" sz="3000" b="1" dirty="0">
                <a:solidFill>
                  <a:srgbClr val="FFFFFF"/>
                </a:solidFill>
                <a:latin typeface="Arial" pitchFamily="34" charset="0"/>
                <a:ea typeface="Arial" pitchFamily="34" charset="-122"/>
                <a:cs typeface="Arial" pitchFamily="34" charset="-120"/>
              </a:rPr>
              <a:t>Εισαγωγή στις Σχεσιακές Βάσεις Δεδομένων</a:t>
            </a:r>
            <a:endParaRPr lang="en-US" sz="3000" dirty="0"/>
          </a:p>
        </p:txBody>
      </p:sp>
      <p:sp>
        <p:nvSpPr>
          <p:cNvPr id="44" name="Text 42"/>
          <p:cNvSpPr txBox="1"/>
          <p:nvPr/>
        </p:nvSpPr>
        <p:spPr>
          <a:xfrm>
            <a:off x="548640" y="2926080"/>
            <a:ext cx="4937760" cy="548640"/>
          </a:xfrm>
          <a:prstGeom prst="rect">
            <a:avLst/>
          </a:prstGeom>
          <a:noFill/>
          <a:ln/>
        </p:spPr>
        <p:txBody>
          <a:bodyPr wrap="square" lIns="0" tIns="0" rIns="0" bIns="0" rtlCol="0" anchor="t"/>
          <a:lstStyle/>
          <a:p>
            <a:pPr marL="0" indent="0">
              <a:buNone/>
            </a:pPr>
            <a:r>
              <a:rPr lang="en-US" sz="1500" i="1" dirty="0">
                <a:solidFill>
                  <a:srgbClr val="A9B8CC"/>
                </a:solidFill>
                <a:latin typeface="Calibri" pitchFamily="34" charset="0"/>
                <a:ea typeface="Calibri" pitchFamily="34" charset="-122"/>
                <a:cs typeface="Calibri" pitchFamily="34" charset="-120"/>
              </a:rPr>
              <a:t>Πίνακες, τύποι δεδομένων και περιορισμοί ακεραιότητας</a:t>
            </a:r>
            <a:endParaRPr lang="en-US" sz="1500" dirty="0"/>
          </a:p>
        </p:txBody>
      </p:sp>
      <p:sp>
        <p:nvSpPr>
          <p:cNvPr id="45" name="Text 43"/>
          <p:cNvSpPr txBox="1"/>
          <p:nvPr/>
        </p:nvSpPr>
        <p:spPr>
          <a:xfrm>
            <a:off x="548640" y="3977640"/>
            <a:ext cx="5303520" cy="640080"/>
          </a:xfrm>
          <a:prstGeom prst="rect">
            <a:avLst/>
          </a:prstGeom>
          <a:noFill/>
          <a:ln/>
        </p:spPr>
        <p:txBody>
          <a:bodyPr wrap="square" lIns="0" tIns="0" rIns="0" bIns="0" rtlCol="0" anchor="ctr"/>
          <a:lstStyle/>
          <a:p>
            <a:pPr marL="0" indent="0">
              <a:buNone/>
            </a:pPr>
            <a:r>
              <a:rPr lang="en-US" sz="1400" b="1" dirty="0" err="1">
                <a:solidFill>
                  <a:srgbClr val="FFFFFF"/>
                </a:solidFill>
                <a:latin typeface="Calibri" pitchFamily="34" charset="0"/>
                <a:ea typeface="Calibri" pitchFamily="34" charset="-122"/>
                <a:cs typeface="Calibri" pitchFamily="34" charset="-120"/>
              </a:rPr>
              <a:t>Δρ</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Αθ</a:t>
            </a:r>
            <a:r>
              <a:rPr lang="en-US" sz="1400" b="1" dirty="0">
                <a:solidFill>
                  <a:srgbClr val="FFFFFF"/>
                </a:solidFill>
                <a:latin typeface="Calibri" pitchFamily="34" charset="0"/>
                <a:ea typeface="Calibri" pitchFamily="34" charset="-122"/>
                <a:cs typeface="Calibri" pitchFamily="34" charset="-120"/>
              </a:rPr>
              <a:t>ανάσιος Κρανιάς</a:t>
            </a:r>
            <a:endParaRPr lang="en-US" sz="1400" dirty="0"/>
          </a:p>
          <a:p>
            <a:pPr marL="0" indent="0">
              <a:buNone/>
            </a:pPr>
            <a:r>
              <a:rPr lang="en-US" sz="1000" dirty="0" err="1">
                <a:solidFill>
                  <a:srgbClr val="A9B8CC"/>
                </a:solidFill>
                <a:latin typeface="Calibri" pitchFamily="34" charset="0"/>
                <a:ea typeface="Calibri" pitchFamily="34" charset="-122"/>
                <a:cs typeface="Calibri" pitchFamily="34" charset="-120"/>
              </a:rPr>
              <a:t>Βάσεις</a:t>
            </a:r>
            <a:r>
              <a:rPr lang="en-US" sz="1000" dirty="0">
                <a:solidFill>
                  <a:srgbClr val="A9B8CC"/>
                </a:solidFill>
                <a:latin typeface="Calibri" pitchFamily="34" charset="0"/>
                <a:ea typeface="Calibri" pitchFamily="34" charset="-122"/>
                <a:cs typeface="Calibri" pitchFamily="34" charset="-120"/>
              </a:rPr>
              <a:t> </a:t>
            </a:r>
            <a:r>
              <a:rPr lang="en-US" sz="1000" dirty="0" err="1">
                <a:solidFill>
                  <a:srgbClr val="A9B8CC"/>
                </a:solidFill>
                <a:latin typeface="Calibri" pitchFamily="34" charset="0"/>
                <a:ea typeface="Calibri" pitchFamily="34" charset="-122"/>
                <a:cs typeface="Calibri" pitchFamily="34" charset="-120"/>
              </a:rPr>
              <a:t>Δεδομένων</a:t>
            </a:r>
            <a:r>
              <a:rPr lang="en-US" sz="1000" dirty="0">
                <a:solidFill>
                  <a:srgbClr val="A9B8CC"/>
                </a:solidFill>
                <a:latin typeface="Calibri" pitchFamily="34" charset="0"/>
                <a:ea typeface="Calibri" pitchFamily="34" charset="-122"/>
                <a:cs typeface="Calibri" pitchFamily="34" charset="-120"/>
              </a:rPr>
              <a:t> &amp; Επ</a:t>
            </a:r>
            <a:r>
              <a:rPr lang="en-US" sz="1000" dirty="0" err="1">
                <a:solidFill>
                  <a:srgbClr val="A9B8CC"/>
                </a:solidFill>
                <a:latin typeface="Calibri" pitchFamily="34" charset="0"/>
                <a:ea typeface="Calibri" pitchFamily="34" charset="-122"/>
                <a:cs typeface="Calibri" pitchFamily="34" charset="-120"/>
              </a:rPr>
              <a:t>ιχειρημ</a:t>
            </a:r>
            <a:r>
              <a:rPr lang="en-US" sz="1000" dirty="0">
                <a:solidFill>
                  <a:srgbClr val="A9B8CC"/>
                </a:solidFill>
                <a:latin typeface="Calibri" pitchFamily="34" charset="0"/>
                <a:ea typeface="Calibri" pitchFamily="34" charset="-122"/>
                <a:cs typeface="Calibri" pitchFamily="34" charset="-120"/>
              </a:rPr>
              <a:t>ατική Αναλυτική · Τμήμα Χρηματοοικονομικής και Τραπεζικής Διοικητικής · Πανεπιστήμιο Πειραιώς</a:t>
            </a:r>
          </a:p>
          <a:p>
            <a:pPr marL="0" indent="0">
              <a:buNone/>
            </a:pPr>
            <a:r>
              <a:rPr lang="en-US" sz="1400" dirty="0">
                <a:solidFill>
                  <a:srgbClr val="FF0000"/>
                </a:solidFill>
              </a:rPr>
              <a:t>akranias@unipi.gr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Το σημερινό πλάνο</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4 ώρες: ~2 ώρες θεωρία + ~2 ώρες εργαστήριο</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457200" y="1325880"/>
            <a:ext cx="4572000" cy="530352"/>
          </a:xfrm>
          <a:prstGeom prst="roundRect">
            <a:avLst>
              <a:gd name="adj" fmla="val 13793"/>
            </a:avLst>
          </a:prstGeom>
          <a:solidFill>
            <a:srgbClr val="EEF3F8"/>
          </a:solidFill>
          <a:ln w="12700">
            <a:solidFill>
              <a:srgbClr val="EEF3F8"/>
            </a:solidFill>
            <a:prstDash val="solid"/>
          </a:ln>
        </p:spPr>
        <p:txBody>
          <a:bodyPr/>
          <a:lstStyle/>
          <a:p>
            <a:endParaRPr lang="el-GR"/>
          </a:p>
        </p:txBody>
      </p:sp>
      <p:sp>
        <p:nvSpPr>
          <p:cNvPr id="7" name="Text 5"/>
          <p:cNvSpPr txBox="1"/>
          <p:nvPr/>
        </p:nvSpPr>
        <p:spPr>
          <a:xfrm>
            <a:off x="640080" y="1325880"/>
            <a:ext cx="548640" cy="530352"/>
          </a:xfrm>
          <a:prstGeom prst="rect">
            <a:avLst/>
          </a:prstGeom>
          <a:noFill/>
          <a:ln/>
        </p:spPr>
        <p:txBody>
          <a:bodyPr wrap="square" lIns="0" tIns="0" rIns="0" bIns="0" rtlCol="0" anchor="ctr"/>
          <a:lstStyle/>
          <a:p>
            <a:pPr marL="0" indent="0">
              <a:buNone/>
            </a:pPr>
            <a:r>
              <a:rPr lang="en-US" sz="1800" b="1" dirty="0">
                <a:solidFill>
                  <a:srgbClr val="1A9E92"/>
                </a:solidFill>
                <a:latin typeface="Arial" pitchFamily="34" charset="0"/>
                <a:ea typeface="Arial" pitchFamily="34" charset="-122"/>
                <a:cs typeface="Arial" pitchFamily="34" charset="-120"/>
              </a:rPr>
              <a:t>01</a:t>
            </a:r>
            <a:endParaRPr lang="en-US" sz="1800" dirty="0"/>
          </a:p>
        </p:txBody>
      </p:sp>
      <p:sp>
        <p:nvSpPr>
          <p:cNvPr id="8" name="Text 6"/>
          <p:cNvSpPr txBox="1"/>
          <p:nvPr/>
        </p:nvSpPr>
        <p:spPr>
          <a:xfrm>
            <a:off x="1234440" y="1325880"/>
            <a:ext cx="2926080" cy="530352"/>
          </a:xfrm>
          <a:prstGeom prst="rect">
            <a:avLst/>
          </a:prstGeom>
          <a:noFill/>
          <a:ln/>
        </p:spPr>
        <p:txBody>
          <a:bodyPr wrap="square" lIns="0" tIns="0" rIns="0" bIns="0"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Το μάθημα: οργάνωση &amp; εργαλεία</a:t>
            </a:r>
            <a:endParaRPr lang="en-US" sz="1500" dirty="0"/>
          </a:p>
        </p:txBody>
      </p:sp>
      <p:sp>
        <p:nvSpPr>
          <p:cNvPr id="9" name="Shape 7"/>
          <p:cNvSpPr/>
          <p:nvPr/>
        </p:nvSpPr>
        <p:spPr>
          <a:xfrm>
            <a:off x="4206240" y="1453896"/>
            <a:ext cx="640080" cy="274320"/>
          </a:xfrm>
          <a:prstGeom prst="roundRect">
            <a:avLst>
              <a:gd name="adj" fmla="val 50000"/>
            </a:avLst>
          </a:prstGeom>
          <a:solidFill>
            <a:srgbClr val="12233A"/>
          </a:solidFill>
          <a:ln w="12700">
            <a:solidFill>
              <a:srgbClr val="12233A"/>
            </a:solidFill>
            <a:prstDash val="solid"/>
          </a:ln>
        </p:spPr>
        <p:txBody>
          <a:bodyPr/>
          <a:lstStyle/>
          <a:p>
            <a:endParaRPr lang="el-GR"/>
          </a:p>
        </p:txBody>
      </p:sp>
      <p:sp>
        <p:nvSpPr>
          <p:cNvPr id="10" name="Text 8"/>
          <p:cNvSpPr txBox="1"/>
          <p:nvPr/>
        </p:nvSpPr>
        <p:spPr>
          <a:xfrm>
            <a:off x="4206240" y="1453896"/>
            <a:ext cx="6400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20′</a:t>
            </a:r>
            <a:endParaRPr lang="en-US" sz="1000" dirty="0"/>
          </a:p>
        </p:txBody>
      </p:sp>
      <p:sp>
        <p:nvSpPr>
          <p:cNvPr id="11" name="Shape 9"/>
          <p:cNvSpPr/>
          <p:nvPr/>
        </p:nvSpPr>
        <p:spPr>
          <a:xfrm>
            <a:off x="457200" y="1965960"/>
            <a:ext cx="4572000" cy="530352"/>
          </a:xfrm>
          <a:prstGeom prst="roundRect">
            <a:avLst>
              <a:gd name="adj" fmla="val 13793"/>
            </a:avLst>
          </a:prstGeom>
          <a:solidFill>
            <a:srgbClr val="EEF3F8"/>
          </a:solidFill>
          <a:ln w="12700">
            <a:solidFill>
              <a:srgbClr val="EEF3F8"/>
            </a:solidFill>
            <a:prstDash val="solid"/>
          </a:ln>
        </p:spPr>
        <p:txBody>
          <a:bodyPr/>
          <a:lstStyle/>
          <a:p>
            <a:endParaRPr lang="el-GR"/>
          </a:p>
        </p:txBody>
      </p:sp>
      <p:sp>
        <p:nvSpPr>
          <p:cNvPr id="12" name="Text 10"/>
          <p:cNvSpPr txBox="1"/>
          <p:nvPr/>
        </p:nvSpPr>
        <p:spPr>
          <a:xfrm>
            <a:off x="640080" y="1965960"/>
            <a:ext cx="548640" cy="530352"/>
          </a:xfrm>
          <a:prstGeom prst="rect">
            <a:avLst/>
          </a:prstGeom>
          <a:noFill/>
          <a:ln/>
        </p:spPr>
        <p:txBody>
          <a:bodyPr wrap="square" lIns="0" tIns="0" rIns="0" bIns="0" rtlCol="0" anchor="ctr"/>
          <a:lstStyle/>
          <a:p>
            <a:pPr marL="0" indent="0">
              <a:buNone/>
            </a:pPr>
            <a:r>
              <a:rPr lang="en-US" sz="1800" b="1" dirty="0">
                <a:solidFill>
                  <a:srgbClr val="1A9E92"/>
                </a:solidFill>
                <a:latin typeface="Arial" pitchFamily="34" charset="0"/>
                <a:ea typeface="Arial" pitchFamily="34" charset="-122"/>
                <a:cs typeface="Arial" pitchFamily="34" charset="-120"/>
              </a:rPr>
              <a:t>02</a:t>
            </a:r>
            <a:endParaRPr lang="en-US" sz="1800" dirty="0"/>
          </a:p>
        </p:txBody>
      </p:sp>
      <p:sp>
        <p:nvSpPr>
          <p:cNvPr id="13" name="Text 11"/>
          <p:cNvSpPr txBox="1"/>
          <p:nvPr/>
        </p:nvSpPr>
        <p:spPr>
          <a:xfrm>
            <a:off x="1234440" y="1965960"/>
            <a:ext cx="2926080" cy="530352"/>
          </a:xfrm>
          <a:prstGeom prst="rect">
            <a:avLst/>
          </a:prstGeom>
          <a:noFill/>
          <a:ln/>
        </p:spPr>
        <p:txBody>
          <a:bodyPr wrap="square" lIns="0" tIns="0" rIns="0" bIns="0"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Γιατί βάσεις δεδομένων;</a:t>
            </a:r>
            <a:endParaRPr lang="en-US" sz="1500" dirty="0"/>
          </a:p>
        </p:txBody>
      </p:sp>
      <p:sp>
        <p:nvSpPr>
          <p:cNvPr id="14" name="Shape 12"/>
          <p:cNvSpPr/>
          <p:nvPr/>
        </p:nvSpPr>
        <p:spPr>
          <a:xfrm>
            <a:off x="4206240" y="2093976"/>
            <a:ext cx="640080" cy="274320"/>
          </a:xfrm>
          <a:prstGeom prst="roundRect">
            <a:avLst>
              <a:gd name="adj" fmla="val 50000"/>
            </a:avLst>
          </a:prstGeom>
          <a:solidFill>
            <a:srgbClr val="12233A"/>
          </a:solidFill>
          <a:ln w="12700">
            <a:solidFill>
              <a:srgbClr val="12233A"/>
            </a:solidFill>
            <a:prstDash val="solid"/>
          </a:ln>
        </p:spPr>
        <p:txBody>
          <a:bodyPr/>
          <a:lstStyle/>
          <a:p>
            <a:endParaRPr lang="el-GR"/>
          </a:p>
        </p:txBody>
      </p:sp>
      <p:sp>
        <p:nvSpPr>
          <p:cNvPr id="15" name="Text 13"/>
          <p:cNvSpPr txBox="1"/>
          <p:nvPr/>
        </p:nvSpPr>
        <p:spPr>
          <a:xfrm>
            <a:off x="4206240" y="2093976"/>
            <a:ext cx="6400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30′</a:t>
            </a:r>
            <a:endParaRPr lang="en-US" sz="1000" dirty="0"/>
          </a:p>
        </p:txBody>
      </p:sp>
      <p:sp>
        <p:nvSpPr>
          <p:cNvPr id="16" name="Shape 14"/>
          <p:cNvSpPr/>
          <p:nvPr/>
        </p:nvSpPr>
        <p:spPr>
          <a:xfrm>
            <a:off x="457200" y="2606040"/>
            <a:ext cx="4572000" cy="530352"/>
          </a:xfrm>
          <a:prstGeom prst="roundRect">
            <a:avLst>
              <a:gd name="adj" fmla="val 13793"/>
            </a:avLst>
          </a:prstGeom>
          <a:solidFill>
            <a:srgbClr val="EEF3F8"/>
          </a:solidFill>
          <a:ln w="12700">
            <a:solidFill>
              <a:srgbClr val="EEF3F8"/>
            </a:solidFill>
            <a:prstDash val="solid"/>
          </a:ln>
        </p:spPr>
        <p:txBody>
          <a:bodyPr/>
          <a:lstStyle/>
          <a:p>
            <a:endParaRPr lang="el-GR"/>
          </a:p>
        </p:txBody>
      </p:sp>
      <p:sp>
        <p:nvSpPr>
          <p:cNvPr id="17" name="Text 15"/>
          <p:cNvSpPr txBox="1"/>
          <p:nvPr/>
        </p:nvSpPr>
        <p:spPr>
          <a:xfrm>
            <a:off x="640080" y="2606040"/>
            <a:ext cx="548640" cy="530352"/>
          </a:xfrm>
          <a:prstGeom prst="rect">
            <a:avLst/>
          </a:prstGeom>
          <a:noFill/>
          <a:ln/>
        </p:spPr>
        <p:txBody>
          <a:bodyPr wrap="square" lIns="0" tIns="0" rIns="0" bIns="0" rtlCol="0" anchor="ctr"/>
          <a:lstStyle/>
          <a:p>
            <a:pPr marL="0" indent="0">
              <a:buNone/>
            </a:pPr>
            <a:r>
              <a:rPr lang="en-US" sz="1800" b="1" dirty="0">
                <a:solidFill>
                  <a:srgbClr val="1A9E92"/>
                </a:solidFill>
                <a:latin typeface="Arial" pitchFamily="34" charset="0"/>
                <a:ea typeface="Arial" pitchFamily="34" charset="-122"/>
                <a:cs typeface="Arial" pitchFamily="34" charset="-120"/>
              </a:rPr>
              <a:t>03</a:t>
            </a:r>
            <a:endParaRPr lang="en-US" sz="1800" dirty="0"/>
          </a:p>
        </p:txBody>
      </p:sp>
      <p:sp>
        <p:nvSpPr>
          <p:cNvPr id="18" name="Text 16"/>
          <p:cNvSpPr txBox="1"/>
          <p:nvPr/>
        </p:nvSpPr>
        <p:spPr>
          <a:xfrm>
            <a:off x="1234440" y="2606040"/>
            <a:ext cx="2926080" cy="530352"/>
          </a:xfrm>
          <a:prstGeom prst="rect">
            <a:avLst/>
          </a:prstGeom>
          <a:noFill/>
          <a:ln/>
        </p:spPr>
        <p:txBody>
          <a:bodyPr wrap="square" lIns="0" tIns="0" rIns="0" bIns="0"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Σχήμα πίνακα &amp; τύποι δεδομένων</a:t>
            </a:r>
            <a:endParaRPr lang="en-US" sz="1500" dirty="0"/>
          </a:p>
        </p:txBody>
      </p:sp>
      <p:sp>
        <p:nvSpPr>
          <p:cNvPr id="19" name="Shape 17"/>
          <p:cNvSpPr/>
          <p:nvPr/>
        </p:nvSpPr>
        <p:spPr>
          <a:xfrm>
            <a:off x="4206240" y="2734056"/>
            <a:ext cx="640080" cy="274320"/>
          </a:xfrm>
          <a:prstGeom prst="roundRect">
            <a:avLst>
              <a:gd name="adj" fmla="val 50000"/>
            </a:avLst>
          </a:prstGeom>
          <a:solidFill>
            <a:srgbClr val="12233A"/>
          </a:solidFill>
          <a:ln w="12700">
            <a:solidFill>
              <a:srgbClr val="12233A"/>
            </a:solidFill>
            <a:prstDash val="solid"/>
          </a:ln>
        </p:spPr>
        <p:txBody>
          <a:bodyPr/>
          <a:lstStyle/>
          <a:p>
            <a:endParaRPr lang="el-GR"/>
          </a:p>
        </p:txBody>
      </p:sp>
      <p:sp>
        <p:nvSpPr>
          <p:cNvPr id="20" name="Text 18"/>
          <p:cNvSpPr txBox="1"/>
          <p:nvPr/>
        </p:nvSpPr>
        <p:spPr>
          <a:xfrm>
            <a:off x="4206240" y="2734056"/>
            <a:ext cx="6400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40′</a:t>
            </a:r>
            <a:endParaRPr lang="en-US" sz="1000" dirty="0"/>
          </a:p>
        </p:txBody>
      </p:sp>
      <p:sp>
        <p:nvSpPr>
          <p:cNvPr id="21" name="Shape 19"/>
          <p:cNvSpPr/>
          <p:nvPr/>
        </p:nvSpPr>
        <p:spPr>
          <a:xfrm>
            <a:off x="457200" y="3246120"/>
            <a:ext cx="4572000" cy="530352"/>
          </a:xfrm>
          <a:prstGeom prst="roundRect">
            <a:avLst>
              <a:gd name="adj" fmla="val 13793"/>
            </a:avLst>
          </a:prstGeom>
          <a:solidFill>
            <a:srgbClr val="EEF3F8"/>
          </a:solidFill>
          <a:ln w="12700">
            <a:solidFill>
              <a:srgbClr val="EEF3F8"/>
            </a:solidFill>
            <a:prstDash val="solid"/>
          </a:ln>
        </p:spPr>
        <p:txBody>
          <a:bodyPr/>
          <a:lstStyle/>
          <a:p>
            <a:endParaRPr lang="el-GR"/>
          </a:p>
        </p:txBody>
      </p:sp>
      <p:sp>
        <p:nvSpPr>
          <p:cNvPr id="22" name="Text 20"/>
          <p:cNvSpPr txBox="1"/>
          <p:nvPr/>
        </p:nvSpPr>
        <p:spPr>
          <a:xfrm>
            <a:off x="640080" y="3246120"/>
            <a:ext cx="548640" cy="530352"/>
          </a:xfrm>
          <a:prstGeom prst="rect">
            <a:avLst/>
          </a:prstGeom>
          <a:noFill/>
          <a:ln/>
        </p:spPr>
        <p:txBody>
          <a:bodyPr wrap="square" lIns="0" tIns="0" rIns="0" bIns="0" rtlCol="0" anchor="ctr"/>
          <a:lstStyle/>
          <a:p>
            <a:pPr marL="0" indent="0">
              <a:buNone/>
            </a:pPr>
            <a:r>
              <a:rPr lang="en-US" sz="1800" b="1" dirty="0">
                <a:solidFill>
                  <a:srgbClr val="1A9E92"/>
                </a:solidFill>
                <a:latin typeface="Arial" pitchFamily="34" charset="0"/>
                <a:ea typeface="Arial" pitchFamily="34" charset="-122"/>
                <a:cs typeface="Arial" pitchFamily="34" charset="-120"/>
              </a:rPr>
              <a:t>04</a:t>
            </a:r>
            <a:endParaRPr lang="en-US" sz="1800" dirty="0"/>
          </a:p>
        </p:txBody>
      </p:sp>
      <p:sp>
        <p:nvSpPr>
          <p:cNvPr id="23" name="Text 21"/>
          <p:cNvSpPr txBox="1"/>
          <p:nvPr/>
        </p:nvSpPr>
        <p:spPr>
          <a:xfrm>
            <a:off x="1234440" y="3246120"/>
            <a:ext cx="2926080" cy="530352"/>
          </a:xfrm>
          <a:prstGeom prst="rect">
            <a:avLst/>
          </a:prstGeom>
          <a:noFill/>
          <a:ln/>
        </p:spPr>
        <p:txBody>
          <a:bodyPr wrap="square" lIns="0" tIns="0" rIns="0" bIns="0"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Περιορισμοί ακεραιότητας</a:t>
            </a:r>
            <a:endParaRPr lang="en-US" sz="1500" dirty="0"/>
          </a:p>
        </p:txBody>
      </p:sp>
      <p:sp>
        <p:nvSpPr>
          <p:cNvPr id="24" name="Shape 22"/>
          <p:cNvSpPr/>
          <p:nvPr/>
        </p:nvSpPr>
        <p:spPr>
          <a:xfrm>
            <a:off x="4206240" y="3374136"/>
            <a:ext cx="640080" cy="274320"/>
          </a:xfrm>
          <a:prstGeom prst="roundRect">
            <a:avLst>
              <a:gd name="adj" fmla="val 50000"/>
            </a:avLst>
          </a:prstGeom>
          <a:solidFill>
            <a:srgbClr val="12233A"/>
          </a:solidFill>
          <a:ln w="12700">
            <a:solidFill>
              <a:srgbClr val="12233A"/>
            </a:solidFill>
            <a:prstDash val="solid"/>
          </a:ln>
        </p:spPr>
        <p:txBody>
          <a:bodyPr/>
          <a:lstStyle/>
          <a:p>
            <a:endParaRPr lang="el-GR"/>
          </a:p>
        </p:txBody>
      </p:sp>
      <p:sp>
        <p:nvSpPr>
          <p:cNvPr id="25" name="Text 23"/>
          <p:cNvSpPr txBox="1"/>
          <p:nvPr/>
        </p:nvSpPr>
        <p:spPr>
          <a:xfrm>
            <a:off x="4206240" y="3374136"/>
            <a:ext cx="6400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30′</a:t>
            </a:r>
            <a:endParaRPr lang="en-US" sz="1000" dirty="0"/>
          </a:p>
        </p:txBody>
      </p:sp>
      <p:sp>
        <p:nvSpPr>
          <p:cNvPr id="26" name="Shape 24"/>
          <p:cNvSpPr/>
          <p:nvPr/>
        </p:nvSpPr>
        <p:spPr>
          <a:xfrm>
            <a:off x="457200" y="3886200"/>
            <a:ext cx="4572000" cy="530352"/>
          </a:xfrm>
          <a:prstGeom prst="roundRect">
            <a:avLst>
              <a:gd name="adj" fmla="val 13793"/>
            </a:avLst>
          </a:prstGeom>
          <a:solidFill>
            <a:srgbClr val="E2EAF3"/>
          </a:solidFill>
          <a:ln w="12700">
            <a:solidFill>
              <a:srgbClr val="E2EAF3"/>
            </a:solidFill>
            <a:prstDash val="solid"/>
          </a:ln>
        </p:spPr>
        <p:txBody>
          <a:bodyPr/>
          <a:lstStyle/>
          <a:p>
            <a:endParaRPr lang="el-GR"/>
          </a:p>
        </p:txBody>
      </p:sp>
      <p:sp>
        <p:nvSpPr>
          <p:cNvPr id="27" name="Text 25"/>
          <p:cNvSpPr txBox="1"/>
          <p:nvPr/>
        </p:nvSpPr>
        <p:spPr>
          <a:xfrm>
            <a:off x="640080" y="3886200"/>
            <a:ext cx="548640" cy="530352"/>
          </a:xfrm>
          <a:prstGeom prst="rect">
            <a:avLst/>
          </a:prstGeom>
          <a:noFill/>
          <a:ln/>
        </p:spPr>
        <p:txBody>
          <a:bodyPr wrap="square" lIns="0" tIns="0" rIns="0" bIns="0" rtlCol="0" anchor="ctr"/>
          <a:lstStyle/>
          <a:p>
            <a:pPr marL="0" indent="0">
              <a:buNone/>
            </a:pPr>
            <a:r>
              <a:rPr lang="en-US" sz="1800" b="1" dirty="0">
                <a:solidFill>
                  <a:srgbClr val="1A9E92"/>
                </a:solidFill>
                <a:latin typeface="Arial" pitchFamily="34" charset="0"/>
                <a:ea typeface="Arial" pitchFamily="34" charset="-122"/>
                <a:cs typeface="Arial" pitchFamily="34" charset="-120"/>
              </a:rPr>
              <a:t>05</a:t>
            </a:r>
            <a:endParaRPr lang="en-US" sz="1800" dirty="0"/>
          </a:p>
        </p:txBody>
      </p:sp>
      <p:sp>
        <p:nvSpPr>
          <p:cNvPr id="28" name="Text 26"/>
          <p:cNvSpPr txBox="1"/>
          <p:nvPr/>
        </p:nvSpPr>
        <p:spPr>
          <a:xfrm>
            <a:off x="1234440" y="3886200"/>
            <a:ext cx="2926080" cy="530352"/>
          </a:xfrm>
          <a:prstGeom prst="rect">
            <a:avLst/>
          </a:prstGeom>
          <a:noFill/>
          <a:ln/>
        </p:spPr>
        <p:txBody>
          <a:bodyPr wrap="square" lIns="0" tIns="0" rIns="0" bIns="0"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Εργαστήριο στο SSMS</a:t>
            </a:r>
            <a:endParaRPr lang="en-US" sz="1500" dirty="0"/>
          </a:p>
        </p:txBody>
      </p:sp>
      <p:sp>
        <p:nvSpPr>
          <p:cNvPr id="29" name="Shape 27"/>
          <p:cNvSpPr/>
          <p:nvPr/>
        </p:nvSpPr>
        <p:spPr>
          <a:xfrm>
            <a:off x="4206240" y="4014216"/>
            <a:ext cx="640080" cy="274320"/>
          </a:xfrm>
          <a:prstGeom prst="roundRect">
            <a:avLst>
              <a:gd name="adj" fmla="val 50000"/>
            </a:avLst>
          </a:prstGeom>
          <a:solidFill>
            <a:srgbClr val="12233A"/>
          </a:solidFill>
          <a:ln w="12700">
            <a:solidFill>
              <a:srgbClr val="12233A"/>
            </a:solidFill>
            <a:prstDash val="solid"/>
          </a:ln>
        </p:spPr>
        <p:txBody>
          <a:bodyPr/>
          <a:lstStyle/>
          <a:p>
            <a:endParaRPr lang="el-GR"/>
          </a:p>
        </p:txBody>
      </p:sp>
      <p:sp>
        <p:nvSpPr>
          <p:cNvPr id="30" name="Text 28"/>
          <p:cNvSpPr txBox="1"/>
          <p:nvPr/>
        </p:nvSpPr>
        <p:spPr>
          <a:xfrm>
            <a:off x="4206240" y="4014216"/>
            <a:ext cx="64008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90′</a:t>
            </a:r>
            <a:endParaRPr lang="en-US" sz="1000" dirty="0"/>
          </a:p>
        </p:txBody>
      </p:sp>
      <p:sp>
        <p:nvSpPr>
          <p:cNvPr id="31" name="Shape 29"/>
          <p:cNvSpPr/>
          <p:nvPr/>
        </p:nvSpPr>
        <p:spPr>
          <a:xfrm>
            <a:off x="5394960" y="1325880"/>
            <a:ext cx="3291840" cy="3090672"/>
          </a:xfrm>
          <a:prstGeom prst="roundRect">
            <a:avLst>
              <a:gd name="adj" fmla="val 2367"/>
            </a:avLst>
          </a:prstGeom>
          <a:solidFill>
            <a:srgbClr val="0D1B2A"/>
          </a:solidFill>
          <a:ln w="12700">
            <a:solidFill>
              <a:srgbClr val="0D1B2A"/>
            </a:solidFill>
            <a:prstDash val="solid"/>
          </a:ln>
        </p:spPr>
        <p:txBody>
          <a:bodyPr/>
          <a:lstStyle/>
          <a:p>
            <a:endParaRPr lang="el-GR"/>
          </a:p>
        </p:txBody>
      </p:sp>
      <p:sp>
        <p:nvSpPr>
          <p:cNvPr id="32" name="Shape 30"/>
          <p:cNvSpPr/>
          <p:nvPr/>
        </p:nvSpPr>
        <p:spPr>
          <a:xfrm>
            <a:off x="5577840" y="1508760"/>
            <a:ext cx="502920" cy="502920"/>
          </a:xfrm>
          <a:prstGeom prst="ellipse">
            <a:avLst/>
          </a:prstGeom>
          <a:solidFill>
            <a:srgbClr val="1A9E92"/>
          </a:solidFill>
          <a:ln w="12700">
            <a:solidFill>
              <a:srgbClr val="1A9E92"/>
            </a:solidFill>
            <a:prstDash val="solid"/>
          </a:ln>
        </p:spPr>
        <p:txBody>
          <a:bodyPr/>
          <a:lstStyle/>
          <a:p>
            <a:endParaRPr lang="el-GR"/>
          </a:p>
        </p:txBody>
      </p:sp>
      <p:pic>
        <p:nvPicPr>
          <p:cNvPr id="33" name="Image 0" descr="preencoded.png"/>
          <p:cNvPicPr>
            <a:picLocks noChangeAspect="1"/>
          </p:cNvPicPr>
          <p:nvPr/>
        </p:nvPicPr>
        <p:blipFill>
          <a:blip r:embed="rId3"/>
          <a:stretch>
            <a:fillRect/>
          </a:stretch>
        </p:blipFill>
        <p:spPr>
          <a:xfrm>
            <a:off x="5703570" y="1634490"/>
            <a:ext cx="251460" cy="251460"/>
          </a:xfrm>
          <a:prstGeom prst="rect">
            <a:avLst/>
          </a:prstGeom>
        </p:spPr>
      </p:pic>
      <p:sp>
        <p:nvSpPr>
          <p:cNvPr id="34" name="Text 31"/>
          <p:cNvSpPr txBox="1"/>
          <p:nvPr/>
        </p:nvSpPr>
        <p:spPr>
          <a:xfrm>
            <a:off x="6217920" y="1508760"/>
            <a:ext cx="2331720" cy="5029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Στο τέλος της ημέρας θα μπορείς να:</a:t>
            </a:r>
            <a:endParaRPr lang="en-US" sz="1300" dirty="0"/>
          </a:p>
        </p:txBody>
      </p:sp>
      <p:sp>
        <p:nvSpPr>
          <p:cNvPr id="35" name="Text 32"/>
          <p:cNvSpPr txBox="1"/>
          <p:nvPr/>
        </p:nvSpPr>
        <p:spPr>
          <a:xfrm>
            <a:off x="5623560" y="2194560"/>
            <a:ext cx="292608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εξηγείς τι είναι μια σχεσιακή βάση και πότε τη χρειαζόμαστε</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διαβάζεις το σχήμα ενός πίνακα</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επιλέγεις σωστό τύπο δεδομένων</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ορίζεις κλειδιά και περιορισμούς</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flipV="1">
            <a:off x="6422746" y="1302106"/>
            <a:ext cx="510235" cy="226771"/>
          </a:xfrm>
          <a:prstGeom prst="line">
            <a:avLst/>
          </a:prstGeom>
          <a:noFill/>
          <a:ln w="12700">
            <a:solidFill>
              <a:srgbClr val="2EC4B6">
                <a:alpha val="22500"/>
              </a:srgbClr>
            </a:solidFill>
            <a:prstDash val="solid"/>
          </a:ln>
        </p:spPr>
        <p:txBody>
          <a:bodyPr/>
          <a:lstStyle/>
          <a:p>
            <a:endParaRPr lang="el-GR"/>
          </a:p>
        </p:txBody>
      </p:sp>
      <p:sp>
        <p:nvSpPr>
          <p:cNvPr id="3" name="Shape 1"/>
          <p:cNvSpPr/>
          <p:nvPr/>
        </p:nvSpPr>
        <p:spPr>
          <a:xfrm>
            <a:off x="6932981" y="1302106"/>
            <a:ext cx="510235" cy="396850"/>
          </a:xfrm>
          <a:prstGeom prst="line">
            <a:avLst/>
          </a:prstGeom>
          <a:noFill/>
          <a:ln w="12700">
            <a:solidFill>
              <a:srgbClr val="2EC4B6">
                <a:alpha val="22500"/>
              </a:srgbClr>
            </a:solidFill>
            <a:prstDash val="solid"/>
          </a:ln>
        </p:spPr>
        <p:txBody>
          <a:bodyPr/>
          <a:lstStyle/>
          <a:p>
            <a:endParaRPr lang="el-GR"/>
          </a:p>
        </p:txBody>
      </p:sp>
      <p:sp>
        <p:nvSpPr>
          <p:cNvPr id="4" name="Shape 2"/>
          <p:cNvSpPr/>
          <p:nvPr/>
        </p:nvSpPr>
        <p:spPr>
          <a:xfrm flipV="1">
            <a:off x="7443216" y="1415491"/>
            <a:ext cx="623621" cy="283464"/>
          </a:xfrm>
          <a:prstGeom prst="line">
            <a:avLst/>
          </a:prstGeom>
          <a:noFill/>
          <a:ln w="12700">
            <a:solidFill>
              <a:srgbClr val="2EC4B6">
                <a:alpha val="22500"/>
              </a:srgbClr>
            </a:solidFill>
            <a:prstDash val="solid"/>
          </a:ln>
        </p:spPr>
        <p:txBody>
          <a:bodyPr/>
          <a:lstStyle/>
          <a:p>
            <a:endParaRPr lang="el-GR"/>
          </a:p>
        </p:txBody>
      </p:sp>
      <p:sp>
        <p:nvSpPr>
          <p:cNvPr id="5" name="Shape 3"/>
          <p:cNvSpPr/>
          <p:nvPr/>
        </p:nvSpPr>
        <p:spPr>
          <a:xfrm>
            <a:off x="8066837" y="1415491"/>
            <a:ext cx="453542" cy="510235"/>
          </a:xfrm>
          <a:prstGeom prst="line">
            <a:avLst/>
          </a:prstGeom>
          <a:noFill/>
          <a:ln w="12700">
            <a:solidFill>
              <a:srgbClr val="2EC4B6">
                <a:alpha val="22500"/>
              </a:srgbClr>
            </a:solidFill>
            <a:prstDash val="solid"/>
          </a:ln>
        </p:spPr>
        <p:txBody>
          <a:bodyPr/>
          <a:lstStyle/>
          <a:p>
            <a:endParaRPr lang="el-GR"/>
          </a:p>
        </p:txBody>
      </p:sp>
      <p:sp>
        <p:nvSpPr>
          <p:cNvPr id="6" name="Shape 4"/>
          <p:cNvSpPr/>
          <p:nvPr/>
        </p:nvSpPr>
        <p:spPr>
          <a:xfrm>
            <a:off x="6422746" y="1528877"/>
            <a:ext cx="283464" cy="566928"/>
          </a:xfrm>
          <a:prstGeom prst="line">
            <a:avLst/>
          </a:prstGeom>
          <a:noFill/>
          <a:ln w="12700">
            <a:solidFill>
              <a:srgbClr val="2EC4B6">
                <a:alpha val="22500"/>
              </a:srgbClr>
            </a:solidFill>
            <a:prstDash val="solid"/>
          </a:ln>
        </p:spPr>
        <p:txBody>
          <a:bodyPr/>
          <a:lstStyle/>
          <a:p>
            <a:endParaRPr lang="el-GR"/>
          </a:p>
        </p:txBody>
      </p:sp>
      <p:sp>
        <p:nvSpPr>
          <p:cNvPr id="7" name="Shape 5"/>
          <p:cNvSpPr/>
          <p:nvPr/>
        </p:nvSpPr>
        <p:spPr>
          <a:xfrm>
            <a:off x="6706210" y="2095805"/>
            <a:ext cx="566928" cy="283464"/>
          </a:xfrm>
          <a:prstGeom prst="line">
            <a:avLst/>
          </a:prstGeom>
          <a:noFill/>
          <a:ln w="12700">
            <a:solidFill>
              <a:srgbClr val="2EC4B6">
                <a:alpha val="22500"/>
              </a:srgbClr>
            </a:solidFill>
            <a:prstDash val="solid"/>
          </a:ln>
        </p:spPr>
        <p:txBody>
          <a:bodyPr/>
          <a:lstStyle/>
          <a:p>
            <a:endParaRPr lang="el-GR"/>
          </a:p>
        </p:txBody>
      </p:sp>
      <p:sp>
        <p:nvSpPr>
          <p:cNvPr id="8" name="Shape 6"/>
          <p:cNvSpPr/>
          <p:nvPr/>
        </p:nvSpPr>
        <p:spPr>
          <a:xfrm>
            <a:off x="6932981" y="1302106"/>
            <a:ext cx="340157" cy="1077163"/>
          </a:xfrm>
          <a:prstGeom prst="line">
            <a:avLst/>
          </a:prstGeom>
          <a:noFill/>
          <a:ln w="12700">
            <a:solidFill>
              <a:srgbClr val="2EC4B6">
                <a:alpha val="22500"/>
              </a:srgbClr>
            </a:solidFill>
            <a:prstDash val="solid"/>
          </a:ln>
        </p:spPr>
        <p:txBody>
          <a:bodyPr/>
          <a:lstStyle/>
          <a:p>
            <a:endParaRPr lang="el-GR"/>
          </a:p>
        </p:txBody>
      </p:sp>
      <p:sp>
        <p:nvSpPr>
          <p:cNvPr id="9" name="Shape 7"/>
          <p:cNvSpPr/>
          <p:nvPr/>
        </p:nvSpPr>
        <p:spPr>
          <a:xfrm>
            <a:off x="7443216" y="1698955"/>
            <a:ext cx="453542" cy="510235"/>
          </a:xfrm>
          <a:prstGeom prst="line">
            <a:avLst/>
          </a:prstGeom>
          <a:noFill/>
          <a:ln w="12700">
            <a:solidFill>
              <a:srgbClr val="2EC4B6">
                <a:alpha val="22500"/>
              </a:srgbClr>
            </a:solidFill>
            <a:prstDash val="solid"/>
          </a:ln>
        </p:spPr>
        <p:txBody>
          <a:bodyPr/>
          <a:lstStyle/>
          <a:p>
            <a:endParaRPr lang="el-GR"/>
          </a:p>
        </p:txBody>
      </p:sp>
      <p:sp>
        <p:nvSpPr>
          <p:cNvPr id="10" name="Shape 8"/>
          <p:cNvSpPr/>
          <p:nvPr/>
        </p:nvSpPr>
        <p:spPr>
          <a:xfrm flipV="1">
            <a:off x="7273138" y="2209190"/>
            <a:ext cx="623621" cy="170078"/>
          </a:xfrm>
          <a:prstGeom prst="line">
            <a:avLst/>
          </a:prstGeom>
          <a:noFill/>
          <a:ln w="12700">
            <a:solidFill>
              <a:srgbClr val="2EC4B6">
                <a:alpha val="22500"/>
              </a:srgbClr>
            </a:solidFill>
            <a:prstDash val="solid"/>
          </a:ln>
        </p:spPr>
        <p:txBody>
          <a:bodyPr/>
          <a:lstStyle/>
          <a:p>
            <a:endParaRPr lang="el-GR"/>
          </a:p>
        </p:txBody>
      </p:sp>
      <p:sp>
        <p:nvSpPr>
          <p:cNvPr id="11" name="Shape 9"/>
          <p:cNvSpPr/>
          <p:nvPr/>
        </p:nvSpPr>
        <p:spPr>
          <a:xfrm flipV="1">
            <a:off x="7896758" y="1925726"/>
            <a:ext cx="623621" cy="283464"/>
          </a:xfrm>
          <a:prstGeom prst="line">
            <a:avLst/>
          </a:prstGeom>
          <a:noFill/>
          <a:ln w="12700">
            <a:solidFill>
              <a:srgbClr val="2EC4B6">
                <a:alpha val="22500"/>
              </a:srgbClr>
            </a:solidFill>
            <a:prstDash val="solid"/>
          </a:ln>
        </p:spPr>
        <p:txBody>
          <a:bodyPr/>
          <a:lstStyle/>
          <a:p>
            <a:endParaRPr lang="el-GR"/>
          </a:p>
        </p:txBody>
      </p:sp>
      <p:sp>
        <p:nvSpPr>
          <p:cNvPr id="12" name="Shape 10"/>
          <p:cNvSpPr/>
          <p:nvPr/>
        </p:nvSpPr>
        <p:spPr>
          <a:xfrm>
            <a:off x="7896758" y="2209190"/>
            <a:ext cx="453542" cy="453542"/>
          </a:xfrm>
          <a:prstGeom prst="line">
            <a:avLst/>
          </a:prstGeom>
          <a:noFill/>
          <a:ln w="12700">
            <a:solidFill>
              <a:srgbClr val="2EC4B6">
                <a:alpha val="22500"/>
              </a:srgbClr>
            </a:solidFill>
            <a:prstDash val="solid"/>
          </a:ln>
        </p:spPr>
        <p:txBody>
          <a:bodyPr/>
          <a:lstStyle/>
          <a:p>
            <a:endParaRPr lang="el-GR"/>
          </a:p>
        </p:txBody>
      </p:sp>
      <p:sp>
        <p:nvSpPr>
          <p:cNvPr id="13" name="Shape 11"/>
          <p:cNvSpPr/>
          <p:nvPr/>
        </p:nvSpPr>
        <p:spPr>
          <a:xfrm flipV="1">
            <a:off x="8350301" y="1925726"/>
            <a:ext cx="170078" cy="737006"/>
          </a:xfrm>
          <a:prstGeom prst="line">
            <a:avLst/>
          </a:prstGeom>
          <a:noFill/>
          <a:ln w="12700">
            <a:solidFill>
              <a:srgbClr val="2EC4B6">
                <a:alpha val="22500"/>
              </a:srgbClr>
            </a:solidFill>
            <a:prstDash val="solid"/>
          </a:ln>
        </p:spPr>
        <p:txBody>
          <a:bodyPr/>
          <a:lstStyle/>
          <a:p>
            <a:endParaRPr lang="el-GR"/>
          </a:p>
        </p:txBody>
      </p:sp>
      <p:sp>
        <p:nvSpPr>
          <p:cNvPr id="14" name="Shape 12"/>
          <p:cNvSpPr/>
          <p:nvPr/>
        </p:nvSpPr>
        <p:spPr>
          <a:xfrm flipV="1">
            <a:off x="6536131" y="2095805"/>
            <a:ext cx="170078" cy="737006"/>
          </a:xfrm>
          <a:prstGeom prst="line">
            <a:avLst/>
          </a:prstGeom>
          <a:noFill/>
          <a:ln w="12700">
            <a:solidFill>
              <a:srgbClr val="2EC4B6">
                <a:alpha val="22500"/>
              </a:srgbClr>
            </a:solidFill>
            <a:prstDash val="solid"/>
          </a:ln>
        </p:spPr>
        <p:txBody>
          <a:bodyPr/>
          <a:lstStyle/>
          <a:p>
            <a:endParaRPr lang="el-GR"/>
          </a:p>
        </p:txBody>
      </p:sp>
      <p:sp>
        <p:nvSpPr>
          <p:cNvPr id="15" name="Shape 13"/>
          <p:cNvSpPr/>
          <p:nvPr/>
        </p:nvSpPr>
        <p:spPr>
          <a:xfrm>
            <a:off x="6536131" y="2832811"/>
            <a:ext cx="566928" cy="226771"/>
          </a:xfrm>
          <a:prstGeom prst="line">
            <a:avLst/>
          </a:prstGeom>
          <a:noFill/>
          <a:ln w="12700">
            <a:solidFill>
              <a:srgbClr val="2EC4B6">
                <a:alpha val="22500"/>
              </a:srgbClr>
            </a:solidFill>
            <a:prstDash val="solid"/>
          </a:ln>
        </p:spPr>
        <p:txBody>
          <a:bodyPr/>
          <a:lstStyle/>
          <a:p>
            <a:endParaRPr lang="el-GR"/>
          </a:p>
        </p:txBody>
      </p:sp>
      <p:sp>
        <p:nvSpPr>
          <p:cNvPr id="16" name="Shape 14"/>
          <p:cNvSpPr/>
          <p:nvPr/>
        </p:nvSpPr>
        <p:spPr>
          <a:xfrm flipV="1">
            <a:off x="7103059" y="2379269"/>
            <a:ext cx="170078" cy="680314"/>
          </a:xfrm>
          <a:prstGeom prst="line">
            <a:avLst/>
          </a:prstGeom>
          <a:noFill/>
          <a:ln w="12700">
            <a:solidFill>
              <a:srgbClr val="2EC4B6">
                <a:alpha val="22500"/>
              </a:srgbClr>
            </a:solidFill>
            <a:prstDash val="solid"/>
          </a:ln>
        </p:spPr>
        <p:txBody>
          <a:bodyPr/>
          <a:lstStyle/>
          <a:p>
            <a:endParaRPr lang="el-GR"/>
          </a:p>
        </p:txBody>
      </p:sp>
      <p:sp>
        <p:nvSpPr>
          <p:cNvPr id="17" name="Shape 15"/>
          <p:cNvSpPr/>
          <p:nvPr/>
        </p:nvSpPr>
        <p:spPr>
          <a:xfrm flipV="1">
            <a:off x="7103059" y="2889504"/>
            <a:ext cx="623621" cy="170078"/>
          </a:xfrm>
          <a:prstGeom prst="line">
            <a:avLst/>
          </a:prstGeom>
          <a:noFill/>
          <a:ln w="12700">
            <a:solidFill>
              <a:srgbClr val="2EC4B6">
                <a:alpha val="22500"/>
              </a:srgbClr>
            </a:solidFill>
            <a:prstDash val="solid"/>
          </a:ln>
        </p:spPr>
        <p:txBody>
          <a:bodyPr/>
          <a:lstStyle/>
          <a:p>
            <a:endParaRPr lang="el-GR"/>
          </a:p>
        </p:txBody>
      </p:sp>
      <p:sp>
        <p:nvSpPr>
          <p:cNvPr id="18" name="Shape 16"/>
          <p:cNvSpPr/>
          <p:nvPr/>
        </p:nvSpPr>
        <p:spPr>
          <a:xfrm flipV="1">
            <a:off x="7726680" y="2209190"/>
            <a:ext cx="170078" cy="680314"/>
          </a:xfrm>
          <a:prstGeom prst="line">
            <a:avLst/>
          </a:prstGeom>
          <a:noFill/>
          <a:ln w="12700">
            <a:solidFill>
              <a:srgbClr val="2EC4B6">
                <a:alpha val="22500"/>
              </a:srgbClr>
            </a:solidFill>
            <a:prstDash val="solid"/>
          </a:ln>
        </p:spPr>
        <p:txBody>
          <a:bodyPr/>
          <a:lstStyle/>
          <a:p>
            <a:endParaRPr lang="el-GR"/>
          </a:p>
        </p:txBody>
      </p:sp>
      <p:sp>
        <p:nvSpPr>
          <p:cNvPr id="19" name="Shape 17"/>
          <p:cNvSpPr/>
          <p:nvPr/>
        </p:nvSpPr>
        <p:spPr>
          <a:xfrm flipV="1">
            <a:off x="7726680" y="2662733"/>
            <a:ext cx="623621" cy="226771"/>
          </a:xfrm>
          <a:prstGeom prst="line">
            <a:avLst/>
          </a:prstGeom>
          <a:noFill/>
          <a:ln w="12700">
            <a:solidFill>
              <a:srgbClr val="2EC4B6">
                <a:alpha val="22500"/>
              </a:srgbClr>
            </a:solidFill>
            <a:prstDash val="solid"/>
          </a:ln>
        </p:spPr>
        <p:txBody>
          <a:bodyPr/>
          <a:lstStyle/>
          <a:p>
            <a:endParaRPr lang="el-GR"/>
          </a:p>
        </p:txBody>
      </p:sp>
      <p:sp>
        <p:nvSpPr>
          <p:cNvPr id="20" name="Shape 18"/>
          <p:cNvSpPr/>
          <p:nvPr/>
        </p:nvSpPr>
        <p:spPr>
          <a:xfrm>
            <a:off x="7726680" y="2889504"/>
            <a:ext cx="453542" cy="396850"/>
          </a:xfrm>
          <a:prstGeom prst="line">
            <a:avLst/>
          </a:prstGeom>
          <a:noFill/>
          <a:ln w="12700">
            <a:solidFill>
              <a:srgbClr val="2EC4B6">
                <a:alpha val="22500"/>
              </a:srgbClr>
            </a:solidFill>
            <a:prstDash val="solid"/>
          </a:ln>
        </p:spPr>
        <p:txBody>
          <a:bodyPr/>
          <a:lstStyle/>
          <a:p>
            <a:endParaRPr lang="el-GR"/>
          </a:p>
        </p:txBody>
      </p:sp>
      <p:sp>
        <p:nvSpPr>
          <p:cNvPr id="21" name="Shape 19"/>
          <p:cNvSpPr/>
          <p:nvPr/>
        </p:nvSpPr>
        <p:spPr>
          <a:xfrm flipV="1">
            <a:off x="8180222" y="2662733"/>
            <a:ext cx="170078" cy="623621"/>
          </a:xfrm>
          <a:prstGeom prst="line">
            <a:avLst/>
          </a:prstGeom>
          <a:noFill/>
          <a:ln w="12700">
            <a:solidFill>
              <a:srgbClr val="2EC4B6">
                <a:alpha val="22500"/>
              </a:srgbClr>
            </a:solidFill>
            <a:prstDash val="solid"/>
          </a:ln>
        </p:spPr>
        <p:txBody>
          <a:bodyPr/>
          <a:lstStyle/>
          <a:p>
            <a:endParaRPr lang="el-GR"/>
          </a:p>
        </p:txBody>
      </p:sp>
      <p:sp>
        <p:nvSpPr>
          <p:cNvPr id="22" name="Shape 20"/>
          <p:cNvSpPr/>
          <p:nvPr/>
        </p:nvSpPr>
        <p:spPr>
          <a:xfrm>
            <a:off x="7103059" y="3059582"/>
            <a:ext cx="340157" cy="396850"/>
          </a:xfrm>
          <a:prstGeom prst="line">
            <a:avLst/>
          </a:prstGeom>
          <a:noFill/>
          <a:ln w="12700">
            <a:solidFill>
              <a:srgbClr val="2EC4B6">
                <a:alpha val="22500"/>
              </a:srgbClr>
            </a:solidFill>
            <a:prstDash val="solid"/>
          </a:ln>
        </p:spPr>
        <p:txBody>
          <a:bodyPr/>
          <a:lstStyle/>
          <a:p>
            <a:endParaRPr lang="el-GR"/>
          </a:p>
        </p:txBody>
      </p:sp>
      <p:sp>
        <p:nvSpPr>
          <p:cNvPr id="23" name="Shape 21"/>
          <p:cNvSpPr/>
          <p:nvPr/>
        </p:nvSpPr>
        <p:spPr>
          <a:xfrm flipV="1">
            <a:off x="7443216" y="3286354"/>
            <a:ext cx="737006" cy="170078"/>
          </a:xfrm>
          <a:prstGeom prst="line">
            <a:avLst/>
          </a:prstGeom>
          <a:noFill/>
          <a:ln w="12700">
            <a:solidFill>
              <a:srgbClr val="2EC4B6">
                <a:alpha val="22500"/>
              </a:srgbClr>
            </a:solidFill>
            <a:prstDash val="solid"/>
          </a:ln>
        </p:spPr>
        <p:txBody>
          <a:bodyPr/>
          <a:lstStyle/>
          <a:p>
            <a:endParaRPr lang="el-GR"/>
          </a:p>
        </p:txBody>
      </p:sp>
      <p:sp>
        <p:nvSpPr>
          <p:cNvPr id="24" name="Shape 22"/>
          <p:cNvSpPr/>
          <p:nvPr/>
        </p:nvSpPr>
        <p:spPr>
          <a:xfrm flipV="1">
            <a:off x="8180222" y="3116275"/>
            <a:ext cx="396850" cy="170078"/>
          </a:xfrm>
          <a:prstGeom prst="line">
            <a:avLst/>
          </a:prstGeom>
          <a:noFill/>
          <a:ln w="12700">
            <a:solidFill>
              <a:srgbClr val="2EC4B6">
                <a:alpha val="22500"/>
              </a:srgbClr>
            </a:solidFill>
            <a:prstDash val="solid"/>
          </a:ln>
        </p:spPr>
        <p:txBody>
          <a:bodyPr/>
          <a:lstStyle/>
          <a:p>
            <a:endParaRPr lang="el-GR"/>
          </a:p>
        </p:txBody>
      </p:sp>
      <p:sp>
        <p:nvSpPr>
          <p:cNvPr id="25" name="Shape 23"/>
          <p:cNvSpPr/>
          <p:nvPr/>
        </p:nvSpPr>
        <p:spPr>
          <a:xfrm>
            <a:off x="8350301" y="2662733"/>
            <a:ext cx="226771" cy="453542"/>
          </a:xfrm>
          <a:prstGeom prst="line">
            <a:avLst/>
          </a:prstGeom>
          <a:noFill/>
          <a:ln w="12700">
            <a:solidFill>
              <a:srgbClr val="2EC4B6">
                <a:alpha val="22500"/>
              </a:srgbClr>
            </a:solidFill>
            <a:prstDash val="solid"/>
          </a:ln>
        </p:spPr>
        <p:txBody>
          <a:bodyPr/>
          <a:lstStyle/>
          <a:p>
            <a:endParaRPr lang="el-GR"/>
          </a:p>
        </p:txBody>
      </p:sp>
      <p:sp>
        <p:nvSpPr>
          <p:cNvPr id="26" name="Shape 24"/>
          <p:cNvSpPr/>
          <p:nvPr/>
        </p:nvSpPr>
        <p:spPr>
          <a:xfrm flipV="1">
            <a:off x="7273138" y="1698955"/>
            <a:ext cx="170078" cy="680314"/>
          </a:xfrm>
          <a:prstGeom prst="line">
            <a:avLst/>
          </a:prstGeom>
          <a:noFill/>
          <a:ln w="12700">
            <a:solidFill>
              <a:srgbClr val="2EC4B6">
                <a:alpha val="22500"/>
              </a:srgbClr>
            </a:solidFill>
            <a:prstDash val="solid"/>
          </a:ln>
        </p:spPr>
        <p:txBody>
          <a:bodyPr/>
          <a:lstStyle/>
          <a:p>
            <a:endParaRPr lang="el-GR"/>
          </a:p>
        </p:txBody>
      </p:sp>
      <p:sp>
        <p:nvSpPr>
          <p:cNvPr id="27" name="Shape 25"/>
          <p:cNvSpPr/>
          <p:nvPr/>
        </p:nvSpPr>
        <p:spPr>
          <a:xfrm>
            <a:off x="6388730" y="1494861"/>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28" name="Shape 26"/>
          <p:cNvSpPr/>
          <p:nvPr/>
        </p:nvSpPr>
        <p:spPr>
          <a:xfrm>
            <a:off x="6898965" y="1268090"/>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29" name="Shape 27"/>
          <p:cNvSpPr/>
          <p:nvPr/>
        </p:nvSpPr>
        <p:spPr>
          <a:xfrm>
            <a:off x="7380854" y="1636593"/>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0" name="Shape 28"/>
          <p:cNvSpPr/>
          <p:nvPr/>
        </p:nvSpPr>
        <p:spPr>
          <a:xfrm>
            <a:off x="8032821" y="1381476"/>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1" name="Shape 29"/>
          <p:cNvSpPr/>
          <p:nvPr/>
        </p:nvSpPr>
        <p:spPr>
          <a:xfrm>
            <a:off x="8486364" y="1891711"/>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2" name="Shape 30"/>
          <p:cNvSpPr/>
          <p:nvPr/>
        </p:nvSpPr>
        <p:spPr>
          <a:xfrm>
            <a:off x="6672194" y="2061789"/>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3" name="Shape 31"/>
          <p:cNvSpPr/>
          <p:nvPr/>
        </p:nvSpPr>
        <p:spPr>
          <a:xfrm>
            <a:off x="7239122" y="2345253"/>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4" name="Shape 32"/>
          <p:cNvSpPr/>
          <p:nvPr/>
        </p:nvSpPr>
        <p:spPr>
          <a:xfrm>
            <a:off x="7834396" y="2146828"/>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5" name="Shape 33"/>
          <p:cNvSpPr/>
          <p:nvPr/>
        </p:nvSpPr>
        <p:spPr>
          <a:xfrm>
            <a:off x="8316285" y="2628717"/>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6" name="Shape 34"/>
          <p:cNvSpPr/>
          <p:nvPr/>
        </p:nvSpPr>
        <p:spPr>
          <a:xfrm>
            <a:off x="6502116" y="2798796"/>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7" name="Shape 35"/>
          <p:cNvSpPr/>
          <p:nvPr/>
        </p:nvSpPr>
        <p:spPr>
          <a:xfrm>
            <a:off x="7069044" y="3025567"/>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8" name="Shape 36"/>
          <p:cNvSpPr/>
          <p:nvPr/>
        </p:nvSpPr>
        <p:spPr>
          <a:xfrm>
            <a:off x="7664318" y="2827142"/>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9" name="Shape 37"/>
          <p:cNvSpPr/>
          <p:nvPr/>
        </p:nvSpPr>
        <p:spPr>
          <a:xfrm>
            <a:off x="8146207" y="3252338"/>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40" name="Shape 38"/>
          <p:cNvSpPr/>
          <p:nvPr/>
        </p:nvSpPr>
        <p:spPr>
          <a:xfrm>
            <a:off x="7409200" y="3422416"/>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41" name="Shape 39"/>
          <p:cNvSpPr/>
          <p:nvPr/>
        </p:nvSpPr>
        <p:spPr>
          <a:xfrm>
            <a:off x="8543056" y="3082260"/>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42" name="Text 40"/>
          <p:cNvSpPr txBox="1"/>
          <p:nvPr/>
        </p:nvSpPr>
        <p:spPr>
          <a:xfrm>
            <a:off x="548640" y="1280160"/>
            <a:ext cx="2286000" cy="1005840"/>
          </a:xfrm>
          <a:prstGeom prst="rect">
            <a:avLst/>
          </a:prstGeom>
          <a:noFill/>
          <a:ln/>
        </p:spPr>
        <p:txBody>
          <a:bodyPr wrap="square" lIns="0" tIns="0" rIns="0" bIns="0" rtlCol="0" anchor="ctr"/>
          <a:lstStyle/>
          <a:p>
            <a:pPr marL="0" indent="0">
              <a:buNone/>
            </a:pPr>
            <a:r>
              <a:rPr lang="en-US" sz="6600" b="1" dirty="0">
                <a:solidFill>
                  <a:srgbClr val="2EC4B6"/>
                </a:solidFill>
                <a:latin typeface="Arial" pitchFamily="34" charset="0"/>
                <a:ea typeface="Arial" pitchFamily="34" charset="-122"/>
                <a:cs typeface="Arial" pitchFamily="34" charset="-120"/>
              </a:rPr>
              <a:t>01</a:t>
            </a:r>
            <a:endParaRPr lang="en-US" sz="6600" dirty="0"/>
          </a:p>
        </p:txBody>
      </p:sp>
      <p:sp>
        <p:nvSpPr>
          <p:cNvPr id="43" name="Text 41"/>
          <p:cNvSpPr txBox="1"/>
          <p:nvPr/>
        </p:nvSpPr>
        <p:spPr>
          <a:xfrm>
            <a:off x="548640" y="2240280"/>
            <a:ext cx="5669280" cy="960120"/>
          </a:xfrm>
          <a:prstGeom prst="rect">
            <a:avLst/>
          </a:prstGeom>
          <a:noFill/>
          <a:ln/>
        </p:spPr>
        <p:txBody>
          <a:bodyPr wrap="square" lIns="0" tIns="0" rIns="0" bIns="0" rtlCol="0" anchor="b"/>
          <a:lstStyle/>
          <a:p>
            <a:pPr marL="0" indent="0">
              <a:buNone/>
            </a:pPr>
            <a:r>
              <a:rPr lang="en-US" sz="2800" b="1" dirty="0">
                <a:solidFill>
                  <a:srgbClr val="FFFFFF"/>
                </a:solidFill>
                <a:latin typeface="Arial" pitchFamily="34" charset="0"/>
                <a:ea typeface="Arial" pitchFamily="34" charset="-122"/>
                <a:cs typeface="Arial" pitchFamily="34" charset="-120"/>
              </a:rPr>
              <a:t>Το μάθημα</a:t>
            </a:r>
            <a:endParaRPr lang="en-US" sz="2800" dirty="0"/>
          </a:p>
        </p:txBody>
      </p:sp>
      <p:sp>
        <p:nvSpPr>
          <p:cNvPr id="44" name="Text 42"/>
          <p:cNvSpPr txBox="1"/>
          <p:nvPr/>
        </p:nvSpPr>
        <p:spPr>
          <a:xfrm>
            <a:off x="548640" y="3291840"/>
            <a:ext cx="5486400" cy="548640"/>
          </a:xfrm>
          <a:prstGeom prst="rect">
            <a:avLst/>
          </a:prstGeom>
          <a:noFill/>
          <a:ln/>
        </p:spPr>
        <p:txBody>
          <a:bodyPr wrap="square" lIns="0" tIns="0" rIns="0" bIns="0" rtlCol="0" anchor="t"/>
          <a:lstStyle/>
          <a:p>
            <a:pPr marL="0" indent="0">
              <a:buNone/>
            </a:pPr>
            <a:r>
              <a:rPr lang="en-US" sz="1500" dirty="0">
                <a:solidFill>
                  <a:srgbClr val="A9B8CC"/>
                </a:solidFill>
                <a:latin typeface="Calibri" pitchFamily="34" charset="0"/>
                <a:ea typeface="Calibri" pitchFamily="34" charset="-122"/>
                <a:cs typeface="Calibri" pitchFamily="34" charset="-120"/>
              </a:rPr>
              <a:t>Πώς δουλεύουμε, πώς αξιολογείστε, τι χρειάζεστε</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Πώς οργανώνεται το μάθημα</a:t>
            </a:r>
            <a:endParaRPr lang="en-US" sz="2600" dirty="0"/>
          </a:p>
        </p:txBody>
      </p:sp>
      <p:sp>
        <p:nvSpPr>
          <p:cNvPr id="3" name="Text 1"/>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457200" y="1280160"/>
            <a:ext cx="2606040" cy="2331720"/>
          </a:xfrm>
          <a:prstGeom prst="roundRect">
            <a:avLst>
              <a:gd name="adj" fmla="val 3137"/>
            </a:avLst>
          </a:prstGeom>
          <a:solidFill>
            <a:srgbClr val="EEF3F8"/>
          </a:solidFill>
          <a:ln w="12700">
            <a:solidFill>
              <a:srgbClr val="EEF3F8"/>
            </a:solidFill>
            <a:prstDash val="solid"/>
          </a:ln>
        </p:spPr>
        <p:txBody>
          <a:bodyPr/>
          <a:lstStyle/>
          <a:p>
            <a:endParaRPr lang="el-GR"/>
          </a:p>
        </p:txBody>
      </p:sp>
      <p:sp>
        <p:nvSpPr>
          <p:cNvPr id="6" name="Shape 4"/>
          <p:cNvSpPr/>
          <p:nvPr/>
        </p:nvSpPr>
        <p:spPr>
          <a:xfrm>
            <a:off x="640080" y="1463040"/>
            <a:ext cx="502920" cy="502920"/>
          </a:xfrm>
          <a:prstGeom prst="ellipse">
            <a:avLst/>
          </a:prstGeom>
          <a:solidFill>
            <a:srgbClr val="1A9E92"/>
          </a:solidFill>
          <a:ln w="12700">
            <a:solidFill>
              <a:srgbClr val="1A9E92"/>
            </a:solidFill>
            <a:prstDash val="solid"/>
          </a:ln>
        </p:spPr>
        <p:txBody>
          <a:bodyPr/>
          <a:lstStyle/>
          <a:p>
            <a:endParaRPr lang="el-GR"/>
          </a:p>
        </p:txBody>
      </p:sp>
      <p:pic>
        <p:nvPicPr>
          <p:cNvPr id="7" name="Image 0" descr="preencoded.png"/>
          <p:cNvPicPr>
            <a:picLocks noChangeAspect="1"/>
          </p:cNvPicPr>
          <p:nvPr/>
        </p:nvPicPr>
        <p:blipFill>
          <a:blip r:embed="rId3"/>
          <a:stretch>
            <a:fillRect/>
          </a:stretch>
        </p:blipFill>
        <p:spPr>
          <a:xfrm>
            <a:off x="765810" y="1588770"/>
            <a:ext cx="251460" cy="251460"/>
          </a:xfrm>
          <a:prstGeom prst="rect">
            <a:avLst/>
          </a:prstGeom>
        </p:spPr>
      </p:pic>
      <p:sp>
        <p:nvSpPr>
          <p:cNvPr id="8" name="Text 5"/>
          <p:cNvSpPr txBox="1"/>
          <p:nvPr/>
        </p:nvSpPr>
        <p:spPr>
          <a:xfrm>
            <a:off x="1280160" y="1463040"/>
            <a:ext cx="1645920" cy="502920"/>
          </a:xfrm>
          <a:prstGeom prst="rect">
            <a:avLst/>
          </a:prstGeom>
          <a:noFill/>
          <a:ln/>
        </p:spPr>
        <p:txBody>
          <a:bodyPr wrap="square" lIns="0" tIns="0" rIns="0" bIns="0" rtlCol="0" anchor="ctr"/>
          <a:lstStyle/>
          <a:p>
            <a:pPr marL="0" indent="0">
              <a:buNone/>
            </a:pPr>
            <a:r>
              <a:rPr lang="en-US" sz="1600" b="1" dirty="0">
                <a:solidFill>
                  <a:srgbClr val="12233A"/>
                </a:solidFill>
                <a:latin typeface="Calibri" pitchFamily="34" charset="0"/>
                <a:ea typeface="Calibri" pitchFamily="34" charset="-122"/>
                <a:cs typeface="Calibri" pitchFamily="34" charset="-120"/>
              </a:rPr>
              <a:t>Κάθε εβδομάδα</a:t>
            </a:r>
            <a:endParaRPr lang="en-US" sz="1600" dirty="0"/>
          </a:p>
        </p:txBody>
      </p:sp>
      <p:sp>
        <p:nvSpPr>
          <p:cNvPr id="9" name="Text 6"/>
          <p:cNvSpPr txBox="1"/>
          <p:nvPr/>
        </p:nvSpPr>
        <p:spPr>
          <a:xfrm>
            <a:off x="658368" y="2148840"/>
            <a:ext cx="2286000" cy="1417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2233A"/>
                </a:solidFill>
                <a:latin typeface="Calibri" pitchFamily="34" charset="0"/>
                <a:ea typeface="Calibri" pitchFamily="34" charset="-122"/>
                <a:cs typeface="Calibri" pitchFamily="34" charset="-120"/>
              </a:rPr>
              <a:t>~2 ώρες θεωρία με παραδείγματα</a:t>
            </a:r>
            <a:endParaRPr lang="en-US" sz="1250" dirty="0"/>
          </a:p>
          <a:p>
            <a:pPr marL="342900" indent="-342900">
              <a:spcAft>
                <a:spcPts val="600"/>
              </a:spcAft>
              <a:buSzPct val="100000"/>
              <a:buChar char="•"/>
            </a:pPr>
            <a:r>
              <a:rPr lang="en-US" sz="1250" dirty="0">
                <a:solidFill>
                  <a:srgbClr val="12233A"/>
                </a:solidFill>
                <a:latin typeface="Calibri" pitchFamily="34" charset="0"/>
                <a:ea typeface="Calibri" pitchFamily="34" charset="-122"/>
                <a:cs typeface="Calibri" pitchFamily="34" charset="-120"/>
              </a:rPr>
              <a:t>~2 ώρες εργαστήριο (live coding)</a:t>
            </a:r>
            <a:endParaRPr lang="en-US" sz="1250" dirty="0"/>
          </a:p>
          <a:p>
            <a:pPr marL="342900" indent="-342900">
              <a:spcAft>
                <a:spcPts val="600"/>
              </a:spcAft>
              <a:buSzPct val="100000"/>
              <a:buChar char="•"/>
            </a:pPr>
            <a:r>
              <a:rPr lang="en-US" sz="1250" dirty="0">
                <a:solidFill>
                  <a:srgbClr val="12233A"/>
                </a:solidFill>
                <a:latin typeface="Calibri" pitchFamily="34" charset="0"/>
                <a:ea typeface="Calibri" pitchFamily="34" charset="-122"/>
                <a:cs typeface="Calibri" pitchFamily="34" charset="-120"/>
              </a:rPr>
              <a:t>Ανάθεση DataCamp για το σπίτι</a:t>
            </a:r>
            <a:endParaRPr lang="en-US" sz="1250" dirty="0"/>
          </a:p>
        </p:txBody>
      </p:sp>
      <p:sp>
        <p:nvSpPr>
          <p:cNvPr id="10" name="Shape 7"/>
          <p:cNvSpPr/>
          <p:nvPr/>
        </p:nvSpPr>
        <p:spPr>
          <a:xfrm>
            <a:off x="3246120" y="1280160"/>
            <a:ext cx="2606040" cy="2331720"/>
          </a:xfrm>
          <a:prstGeom prst="roundRect">
            <a:avLst>
              <a:gd name="adj" fmla="val 3137"/>
            </a:avLst>
          </a:prstGeom>
          <a:solidFill>
            <a:srgbClr val="EEF3F8"/>
          </a:solidFill>
          <a:ln w="12700">
            <a:solidFill>
              <a:srgbClr val="EEF3F8"/>
            </a:solidFill>
            <a:prstDash val="solid"/>
          </a:ln>
        </p:spPr>
        <p:txBody>
          <a:bodyPr/>
          <a:lstStyle/>
          <a:p>
            <a:endParaRPr lang="el-GR"/>
          </a:p>
        </p:txBody>
      </p:sp>
      <p:sp>
        <p:nvSpPr>
          <p:cNvPr id="11" name="Shape 8"/>
          <p:cNvSpPr/>
          <p:nvPr/>
        </p:nvSpPr>
        <p:spPr>
          <a:xfrm>
            <a:off x="3429000" y="1463040"/>
            <a:ext cx="502920" cy="502920"/>
          </a:xfrm>
          <a:prstGeom prst="ellipse">
            <a:avLst/>
          </a:prstGeom>
          <a:solidFill>
            <a:srgbClr val="C0304A"/>
          </a:solidFill>
          <a:ln w="12700">
            <a:solidFill>
              <a:srgbClr val="C0304A"/>
            </a:solidFill>
            <a:prstDash val="solid"/>
          </a:ln>
        </p:spPr>
        <p:txBody>
          <a:bodyPr/>
          <a:lstStyle/>
          <a:p>
            <a:endParaRPr lang="el-GR"/>
          </a:p>
        </p:txBody>
      </p:sp>
      <p:pic>
        <p:nvPicPr>
          <p:cNvPr id="12" name="Image 1" descr="preencoded.png"/>
          <p:cNvPicPr>
            <a:picLocks noChangeAspect="1"/>
          </p:cNvPicPr>
          <p:nvPr/>
        </p:nvPicPr>
        <p:blipFill>
          <a:blip r:embed="rId4"/>
          <a:stretch>
            <a:fillRect/>
          </a:stretch>
        </p:blipFill>
        <p:spPr>
          <a:xfrm>
            <a:off x="3554730" y="1588770"/>
            <a:ext cx="251460" cy="251460"/>
          </a:xfrm>
          <a:prstGeom prst="rect">
            <a:avLst/>
          </a:prstGeom>
        </p:spPr>
      </p:pic>
      <p:sp>
        <p:nvSpPr>
          <p:cNvPr id="13" name="Text 9"/>
          <p:cNvSpPr txBox="1"/>
          <p:nvPr/>
        </p:nvSpPr>
        <p:spPr>
          <a:xfrm>
            <a:off x="4069080" y="1463040"/>
            <a:ext cx="1645920" cy="502920"/>
          </a:xfrm>
          <a:prstGeom prst="rect">
            <a:avLst/>
          </a:prstGeom>
          <a:noFill/>
          <a:ln/>
        </p:spPr>
        <p:txBody>
          <a:bodyPr wrap="square" lIns="0" tIns="0" rIns="0" bIns="0" rtlCol="0" anchor="ctr"/>
          <a:lstStyle/>
          <a:p>
            <a:pPr marL="0" indent="0">
              <a:buNone/>
            </a:pPr>
            <a:r>
              <a:rPr lang="en-US" sz="1600" b="1" dirty="0">
                <a:solidFill>
                  <a:srgbClr val="12233A"/>
                </a:solidFill>
                <a:latin typeface="Calibri" pitchFamily="34" charset="0"/>
                <a:ea typeface="Calibri" pitchFamily="34" charset="-122"/>
                <a:cs typeface="Calibri" pitchFamily="34" charset="-120"/>
              </a:rPr>
              <a:t>Αξιολόγηση</a:t>
            </a:r>
            <a:endParaRPr lang="en-US" sz="1600" dirty="0"/>
          </a:p>
        </p:txBody>
      </p:sp>
      <p:sp>
        <p:nvSpPr>
          <p:cNvPr id="14" name="Text 10"/>
          <p:cNvSpPr txBox="1"/>
          <p:nvPr/>
        </p:nvSpPr>
        <p:spPr>
          <a:xfrm>
            <a:off x="3447288" y="2148840"/>
            <a:ext cx="2286000" cy="1417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2233A"/>
                </a:solidFill>
                <a:latin typeface="Calibri" pitchFamily="34" charset="0"/>
                <a:ea typeface="Calibri" pitchFamily="34" charset="-122"/>
                <a:cs typeface="Calibri" pitchFamily="34" charset="-120"/>
              </a:rPr>
              <a:t>60% τελική εξέταση (θεωρία &amp; κώδικας)</a:t>
            </a:r>
            <a:endParaRPr lang="en-US" sz="1250" dirty="0"/>
          </a:p>
          <a:p>
            <a:pPr marL="342900" indent="-342900">
              <a:spcAft>
                <a:spcPts val="600"/>
              </a:spcAft>
              <a:buSzPct val="100000"/>
              <a:buChar char="•"/>
            </a:pPr>
            <a:r>
              <a:rPr lang="en-US" sz="1250" dirty="0">
                <a:solidFill>
                  <a:srgbClr val="12233A"/>
                </a:solidFill>
                <a:latin typeface="Calibri" pitchFamily="34" charset="0"/>
                <a:ea typeface="Calibri" pitchFamily="34" charset="-122"/>
                <a:cs typeface="Calibri" pitchFamily="34" charset="-120"/>
              </a:rPr>
              <a:t>40% end-to-end project (SQL → R → dashboard)</a:t>
            </a:r>
            <a:endParaRPr lang="en-US" sz="1250" dirty="0"/>
          </a:p>
          <a:p>
            <a:pPr marL="342900" indent="-342900">
              <a:spcAft>
                <a:spcPts val="600"/>
              </a:spcAft>
              <a:buSzPct val="100000"/>
              <a:buChar char="•"/>
            </a:pPr>
            <a:r>
              <a:rPr lang="en-US" sz="1250" dirty="0">
                <a:solidFill>
                  <a:srgbClr val="12233A"/>
                </a:solidFill>
                <a:latin typeface="Calibri" pitchFamily="34" charset="0"/>
                <a:ea typeface="Calibri" pitchFamily="34" charset="-122"/>
                <a:cs typeface="Calibri" pitchFamily="34" charset="-120"/>
              </a:rPr>
              <a:t>Bonus: αναθέσεις DataCamp</a:t>
            </a:r>
            <a:endParaRPr lang="en-US" sz="1250" dirty="0"/>
          </a:p>
        </p:txBody>
      </p:sp>
      <p:sp>
        <p:nvSpPr>
          <p:cNvPr id="15" name="Shape 11"/>
          <p:cNvSpPr/>
          <p:nvPr/>
        </p:nvSpPr>
        <p:spPr>
          <a:xfrm>
            <a:off x="6035040" y="1280160"/>
            <a:ext cx="2606040" cy="2331720"/>
          </a:xfrm>
          <a:prstGeom prst="roundRect">
            <a:avLst>
              <a:gd name="adj" fmla="val 3137"/>
            </a:avLst>
          </a:prstGeom>
          <a:solidFill>
            <a:srgbClr val="EEF3F8"/>
          </a:solidFill>
          <a:ln w="12700">
            <a:solidFill>
              <a:srgbClr val="EEF3F8"/>
            </a:solidFill>
            <a:prstDash val="solid"/>
          </a:ln>
        </p:spPr>
        <p:txBody>
          <a:bodyPr/>
          <a:lstStyle/>
          <a:p>
            <a:endParaRPr lang="el-GR"/>
          </a:p>
        </p:txBody>
      </p:sp>
      <p:sp>
        <p:nvSpPr>
          <p:cNvPr id="16" name="Shape 12"/>
          <p:cNvSpPr/>
          <p:nvPr/>
        </p:nvSpPr>
        <p:spPr>
          <a:xfrm>
            <a:off x="6217920" y="1463040"/>
            <a:ext cx="502920" cy="502920"/>
          </a:xfrm>
          <a:prstGeom prst="ellipse">
            <a:avLst/>
          </a:prstGeom>
          <a:solidFill>
            <a:srgbClr val="1A9E92"/>
          </a:solidFill>
          <a:ln w="12700">
            <a:solidFill>
              <a:srgbClr val="1A9E92"/>
            </a:solidFill>
            <a:prstDash val="solid"/>
          </a:ln>
        </p:spPr>
        <p:txBody>
          <a:bodyPr/>
          <a:lstStyle/>
          <a:p>
            <a:endParaRPr lang="el-GR"/>
          </a:p>
        </p:txBody>
      </p:sp>
      <p:pic>
        <p:nvPicPr>
          <p:cNvPr id="17" name="Image 2" descr="preencoded.png"/>
          <p:cNvPicPr>
            <a:picLocks noChangeAspect="1"/>
          </p:cNvPicPr>
          <p:nvPr/>
        </p:nvPicPr>
        <p:blipFill>
          <a:blip r:embed="rId5"/>
          <a:stretch>
            <a:fillRect/>
          </a:stretch>
        </p:blipFill>
        <p:spPr>
          <a:xfrm>
            <a:off x="6343650" y="1588770"/>
            <a:ext cx="251460" cy="251460"/>
          </a:xfrm>
          <a:prstGeom prst="rect">
            <a:avLst/>
          </a:prstGeom>
        </p:spPr>
      </p:pic>
      <p:sp>
        <p:nvSpPr>
          <p:cNvPr id="18" name="Text 13"/>
          <p:cNvSpPr txBox="1"/>
          <p:nvPr/>
        </p:nvSpPr>
        <p:spPr>
          <a:xfrm>
            <a:off x="6858000" y="1463040"/>
            <a:ext cx="1645920" cy="502920"/>
          </a:xfrm>
          <a:prstGeom prst="rect">
            <a:avLst/>
          </a:prstGeom>
          <a:noFill/>
          <a:ln/>
        </p:spPr>
        <p:txBody>
          <a:bodyPr wrap="square" lIns="0" tIns="0" rIns="0" bIns="0" rtlCol="0" anchor="ctr"/>
          <a:lstStyle/>
          <a:p>
            <a:pPr marL="0" indent="0">
              <a:buNone/>
            </a:pPr>
            <a:r>
              <a:rPr lang="en-US" sz="1600" b="1" dirty="0">
                <a:solidFill>
                  <a:srgbClr val="12233A"/>
                </a:solidFill>
                <a:latin typeface="Calibri" pitchFamily="34" charset="0"/>
                <a:ea typeface="Calibri" pitchFamily="34" charset="-122"/>
                <a:cs typeface="Calibri" pitchFamily="34" charset="-120"/>
              </a:rPr>
              <a:t>Υλικό</a:t>
            </a:r>
            <a:endParaRPr lang="en-US" sz="1600" dirty="0"/>
          </a:p>
        </p:txBody>
      </p:sp>
      <p:sp>
        <p:nvSpPr>
          <p:cNvPr id="19" name="Text 14"/>
          <p:cNvSpPr txBox="1"/>
          <p:nvPr/>
        </p:nvSpPr>
        <p:spPr>
          <a:xfrm>
            <a:off x="6236208" y="2148840"/>
            <a:ext cx="2286000" cy="1417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2233A"/>
                </a:solidFill>
                <a:latin typeface="Calibri" pitchFamily="34" charset="0"/>
                <a:ea typeface="Calibri" pitchFamily="34" charset="-122"/>
                <a:cs typeface="Calibri" pitchFamily="34" charset="-120"/>
              </a:rPr>
              <a:t>Διαφάνειες &amp; SQL/R scripts στο eclass</a:t>
            </a:r>
            <a:endParaRPr lang="en-US" sz="1250" dirty="0"/>
          </a:p>
          <a:p>
            <a:pPr marL="342900" indent="-342900">
              <a:spcAft>
                <a:spcPts val="600"/>
              </a:spcAft>
              <a:buSzPct val="100000"/>
              <a:buChar char="•"/>
            </a:pPr>
            <a:r>
              <a:rPr lang="en-US" sz="1250" dirty="0">
                <a:solidFill>
                  <a:srgbClr val="12233A"/>
                </a:solidFill>
                <a:latin typeface="Calibri" pitchFamily="34" charset="0"/>
                <a:ea typeface="Calibri" pitchFamily="34" charset="-122"/>
                <a:cs typeface="Calibri" pitchFamily="34" charset="-120"/>
              </a:rPr>
              <a:t>Βάση StockMarketDB για όλο το εξάμηνο</a:t>
            </a:r>
            <a:endParaRPr lang="en-US" sz="1250" dirty="0"/>
          </a:p>
          <a:p>
            <a:pPr marL="342900" indent="-342900">
              <a:spcAft>
                <a:spcPts val="600"/>
              </a:spcAft>
              <a:buSzPct val="100000"/>
              <a:buChar char="•"/>
            </a:pPr>
            <a:r>
              <a:rPr lang="en-US" sz="1250" dirty="0">
                <a:solidFill>
                  <a:srgbClr val="12233A"/>
                </a:solidFill>
                <a:latin typeface="Calibri" pitchFamily="34" charset="0"/>
                <a:ea typeface="Calibri" pitchFamily="34" charset="-122"/>
                <a:cs typeface="Calibri" pitchFamily="34" charset="-120"/>
              </a:rPr>
              <a:t>DataCamp Classroom του μαθήματος</a:t>
            </a:r>
            <a:endParaRPr lang="en-US" sz="1250" dirty="0"/>
          </a:p>
        </p:txBody>
      </p:sp>
      <p:sp>
        <p:nvSpPr>
          <p:cNvPr id="20" name="Text 15"/>
          <p:cNvSpPr txBox="1"/>
          <p:nvPr/>
        </p:nvSpPr>
        <p:spPr>
          <a:xfrm>
            <a:off x="457200" y="3840480"/>
            <a:ext cx="8229600" cy="548640"/>
          </a:xfrm>
          <a:prstGeom prst="rect">
            <a:avLst/>
          </a:prstGeom>
          <a:noFill/>
          <a:ln/>
        </p:spPr>
        <p:txBody>
          <a:bodyPr wrap="square" lIns="0" tIns="0" rIns="0" bIns="0" rtlCol="0" anchor="t"/>
          <a:lstStyle/>
          <a:p>
            <a:pPr marL="0" indent="0">
              <a:buNone/>
            </a:pPr>
            <a:r>
              <a:rPr lang="en-US" sz="1200" b="1" dirty="0">
                <a:solidFill>
                  <a:srgbClr val="12233A"/>
                </a:solidFill>
                <a:latin typeface="Calibri" pitchFamily="34" charset="0"/>
                <a:ea typeface="Calibri" pitchFamily="34" charset="-122"/>
                <a:cs typeface="Calibri" pitchFamily="34" charset="-120"/>
              </a:rPr>
              <a:t>Βιβλιογραφία: </a:t>
            </a:r>
            <a:r>
              <a:rPr lang="en-US" sz="1200" dirty="0">
                <a:solidFill>
                  <a:srgbClr val="5B6B7F"/>
                </a:solidFill>
                <a:latin typeface="Calibri" pitchFamily="34" charset="0"/>
                <a:ea typeface="Calibri" pitchFamily="34" charset="-122"/>
                <a:cs typeface="Calibri" pitchFamily="34" charset="-120"/>
              </a:rPr>
              <a:t>Elmasri &amp; Navathe, Fundamentals of Database Systems · Wooldridge, Introductory Econometrics · Wickham &amp; Grolemund, R for Data Science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Εργαλεία &amp; εγκατάσταση</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Όλα δωρεάν για εκπαιδευτική χρήση · ελέγξτε την εγκατάσταση πριν την Εβδομάδα 2</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51460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Εργαλείο</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Τι κάνει</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Windows</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Mac</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SQL Server (Developer / Express)</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Ο «μηχανισμός» της βάσης</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 εγκατάσταση</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μέσω Docker</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SQL Server Management Studio</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Γράφουμε &amp; τρέχουμε SQL</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 → VS Code + επέκταση MSSQL</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R + RStudio</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Ανάλυση &amp; οικονομετρία (εβδ. 6+)</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Excel (Microsoft 365)</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Γέφυρα: pivot tables, XLOOKUP</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Power BI Desktop</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Dashboards (εβδ. 11)</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 → εργαστήριο / VM</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457200" y="3840480"/>
            <a:ext cx="8229600" cy="566928"/>
          </a:xfrm>
          <a:prstGeom prst="roundRect">
            <a:avLst>
              <a:gd name="adj" fmla="val 12903"/>
            </a:avLst>
          </a:prstGeom>
          <a:solidFill>
            <a:srgbClr val="F2B134"/>
          </a:solidFill>
          <a:ln w="12700">
            <a:solidFill>
              <a:srgbClr val="F2B134"/>
            </a:solidFill>
            <a:prstDash val="solid"/>
          </a:ln>
        </p:spPr>
        <p:txBody>
          <a:bodyPr/>
          <a:lstStyle/>
          <a:p>
            <a:endParaRPr lang="el-GR"/>
          </a:p>
        </p:txBody>
      </p:sp>
      <p:pic>
        <p:nvPicPr>
          <p:cNvPr id="8" name="Image 0" descr="preencoded.png"/>
          <p:cNvPicPr>
            <a:picLocks noChangeAspect="1"/>
          </p:cNvPicPr>
          <p:nvPr/>
        </p:nvPicPr>
        <p:blipFill>
          <a:blip r:embed="rId3"/>
          <a:stretch>
            <a:fillRect/>
          </a:stretch>
        </p:blipFill>
        <p:spPr>
          <a:xfrm>
            <a:off x="640080" y="3968496"/>
            <a:ext cx="310896" cy="310896"/>
          </a:xfrm>
          <a:prstGeom prst="rect">
            <a:avLst/>
          </a:prstGeom>
        </p:spPr>
      </p:pic>
      <p:sp>
        <p:nvSpPr>
          <p:cNvPr id="9" name="Text 5"/>
          <p:cNvSpPr txBox="1"/>
          <p:nvPr/>
        </p:nvSpPr>
        <p:spPr>
          <a:xfrm>
            <a:off x="1097280" y="3840480"/>
            <a:ext cx="7452360" cy="566928"/>
          </a:xfrm>
          <a:prstGeom prst="rect">
            <a:avLst/>
          </a:prstGeom>
          <a:noFill/>
          <a:ln/>
        </p:spPr>
        <p:txBody>
          <a:bodyPr wrap="square" lIns="0" tIns="0" rIns="0" bIns="0" rtlCol="0" anchor="ctr"/>
          <a:lstStyle/>
          <a:p>
            <a:pPr marL="0" indent="0">
              <a:buNone/>
            </a:pPr>
            <a:r>
              <a:rPr lang="en-US" sz="1300" b="1" dirty="0">
                <a:solidFill>
                  <a:srgbClr val="12233A"/>
                </a:solidFill>
                <a:latin typeface="Calibri" pitchFamily="34" charset="0"/>
                <a:ea typeface="Calibri" pitchFamily="34" charset="-122"/>
                <a:cs typeface="Calibri" pitchFamily="34" charset="-120"/>
              </a:rPr>
              <a:t>Έχετε Mac ή πρόβλημα στην εγκατάσταση; </a:t>
            </a:r>
            <a:r>
              <a:rPr lang="en-US" sz="1300" dirty="0">
                <a:solidFill>
                  <a:srgbClr val="12233A"/>
                </a:solidFill>
                <a:latin typeface="Calibri" pitchFamily="34" charset="0"/>
                <a:ea typeface="Calibri" pitchFamily="34" charset="-122"/>
                <a:cs typeface="Calibri" pitchFamily="34" charset="-120"/>
              </a:rPr>
              <a:t>Μπορείτε να δουλεύετε στους υπολογιστές του εργαστηρίου — ενημερώστε με από σήμερα.</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flipV="1">
            <a:off x="6422746" y="1302106"/>
            <a:ext cx="510235" cy="226771"/>
          </a:xfrm>
          <a:prstGeom prst="line">
            <a:avLst/>
          </a:prstGeom>
          <a:noFill/>
          <a:ln w="12700">
            <a:solidFill>
              <a:srgbClr val="2EC4B6">
                <a:alpha val="22500"/>
              </a:srgbClr>
            </a:solidFill>
            <a:prstDash val="solid"/>
          </a:ln>
        </p:spPr>
        <p:txBody>
          <a:bodyPr/>
          <a:lstStyle/>
          <a:p>
            <a:endParaRPr lang="el-GR"/>
          </a:p>
        </p:txBody>
      </p:sp>
      <p:sp>
        <p:nvSpPr>
          <p:cNvPr id="3" name="Shape 1"/>
          <p:cNvSpPr/>
          <p:nvPr/>
        </p:nvSpPr>
        <p:spPr>
          <a:xfrm>
            <a:off x="6932981" y="1302106"/>
            <a:ext cx="510235" cy="396850"/>
          </a:xfrm>
          <a:prstGeom prst="line">
            <a:avLst/>
          </a:prstGeom>
          <a:noFill/>
          <a:ln w="12700">
            <a:solidFill>
              <a:srgbClr val="2EC4B6">
                <a:alpha val="22500"/>
              </a:srgbClr>
            </a:solidFill>
            <a:prstDash val="solid"/>
          </a:ln>
        </p:spPr>
        <p:txBody>
          <a:bodyPr/>
          <a:lstStyle/>
          <a:p>
            <a:endParaRPr lang="el-GR"/>
          </a:p>
        </p:txBody>
      </p:sp>
      <p:sp>
        <p:nvSpPr>
          <p:cNvPr id="4" name="Shape 2"/>
          <p:cNvSpPr/>
          <p:nvPr/>
        </p:nvSpPr>
        <p:spPr>
          <a:xfrm flipV="1">
            <a:off x="7443216" y="1415491"/>
            <a:ext cx="623621" cy="283464"/>
          </a:xfrm>
          <a:prstGeom prst="line">
            <a:avLst/>
          </a:prstGeom>
          <a:noFill/>
          <a:ln w="12700">
            <a:solidFill>
              <a:srgbClr val="2EC4B6">
                <a:alpha val="22500"/>
              </a:srgbClr>
            </a:solidFill>
            <a:prstDash val="solid"/>
          </a:ln>
        </p:spPr>
        <p:txBody>
          <a:bodyPr/>
          <a:lstStyle/>
          <a:p>
            <a:endParaRPr lang="el-GR"/>
          </a:p>
        </p:txBody>
      </p:sp>
      <p:sp>
        <p:nvSpPr>
          <p:cNvPr id="5" name="Shape 3"/>
          <p:cNvSpPr/>
          <p:nvPr/>
        </p:nvSpPr>
        <p:spPr>
          <a:xfrm>
            <a:off x="8066837" y="1415491"/>
            <a:ext cx="453542" cy="510235"/>
          </a:xfrm>
          <a:prstGeom prst="line">
            <a:avLst/>
          </a:prstGeom>
          <a:noFill/>
          <a:ln w="12700">
            <a:solidFill>
              <a:srgbClr val="2EC4B6">
                <a:alpha val="22500"/>
              </a:srgbClr>
            </a:solidFill>
            <a:prstDash val="solid"/>
          </a:ln>
        </p:spPr>
        <p:txBody>
          <a:bodyPr/>
          <a:lstStyle/>
          <a:p>
            <a:endParaRPr lang="el-GR"/>
          </a:p>
        </p:txBody>
      </p:sp>
      <p:sp>
        <p:nvSpPr>
          <p:cNvPr id="6" name="Shape 4"/>
          <p:cNvSpPr/>
          <p:nvPr/>
        </p:nvSpPr>
        <p:spPr>
          <a:xfrm>
            <a:off x="6422746" y="1528877"/>
            <a:ext cx="283464" cy="566928"/>
          </a:xfrm>
          <a:prstGeom prst="line">
            <a:avLst/>
          </a:prstGeom>
          <a:noFill/>
          <a:ln w="12700">
            <a:solidFill>
              <a:srgbClr val="2EC4B6">
                <a:alpha val="22500"/>
              </a:srgbClr>
            </a:solidFill>
            <a:prstDash val="solid"/>
          </a:ln>
        </p:spPr>
        <p:txBody>
          <a:bodyPr/>
          <a:lstStyle/>
          <a:p>
            <a:endParaRPr lang="el-GR"/>
          </a:p>
        </p:txBody>
      </p:sp>
      <p:sp>
        <p:nvSpPr>
          <p:cNvPr id="7" name="Shape 5"/>
          <p:cNvSpPr/>
          <p:nvPr/>
        </p:nvSpPr>
        <p:spPr>
          <a:xfrm>
            <a:off x="6706210" y="2095805"/>
            <a:ext cx="566928" cy="283464"/>
          </a:xfrm>
          <a:prstGeom prst="line">
            <a:avLst/>
          </a:prstGeom>
          <a:noFill/>
          <a:ln w="12700">
            <a:solidFill>
              <a:srgbClr val="2EC4B6">
                <a:alpha val="22500"/>
              </a:srgbClr>
            </a:solidFill>
            <a:prstDash val="solid"/>
          </a:ln>
        </p:spPr>
        <p:txBody>
          <a:bodyPr/>
          <a:lstStyle/>
          <a:p>
            <a:endParaRPr lang="el-GR"/>
          </a:p>
        </p:txBody>
      </p:sp>
      <p:sp>
        <p:nvSpPr>
          <p:cNvPr id="8" name="Shape 6"/>
          <p:cNvSpPr/>
          <p:nvPr/>
        </p:nvSpPr>
        <p:spPr>
          <a:xfrm>
            <a:off x="6932981" y="1302106"/>
            <a:ext cx="340157" cy="1077163"/>
          </a:xfrm>
          <a:prstGeom prst="line">
            <a:avLst/>
          </a:prstGeom>
          <a:noFill/>
          <a:ln w="12700">
            <a:solidFill>
              <a:srgbClr val="2EC4B6">
                <a:alpha val="22500"/>
              </a:srgbClr>
            </a:solidFill>
            <a:prstDash val="solid"/>
          </a:ln>
        </p:spPr>
        <p:txBody>
          <a:bodyPr/>
          <a:lstStyle/>
          <a:p>
            <a:endParaRPr lang="el-GR"/>
          </a:p>
        </p:txBody>
      </p:sp>
      <p:sp>
        <p:nvSpPr>
          <p:cNvPr id="9" name="Shape 7"/>
          <p:cNvSpPr/>
          <p:nvPr/>
        </p:nvSpPr>
        <p:spPr>
          <a:xfrm>
            <a:off x="7443216" y="1698955"/>
            <a:ext cx="453542" cy="510235"/>
          </a:xfrm>
          <a:prstGeom prst="line">
            <a:avLst/>
          </a:prstGeom>
          <a:noFill/>
          <a:ln w="12700">
            <a:solidFill>
              <a:srgbClr val="2EC4B6">
                <a:alpha val="22500"/>
              </a:srgbClr>
            </a:solidFill>
            <a:prstDash val="solid"/>
          </a:ln>
        </p:spPr>
        <p:txBody>
          <a:bodyPr/>
          <a:lstStyle/>
          <a:p>
            <a:endParaRPr lang="el-GR"/>
          </a:p>
        </p:txBody>
      </p:sp>
      <p:sp>
        <p:nvSpPr>
          <p:cNvPr id="10" name="Shape 8"/>
          <p:cNvSpPr/>
          <p:nvPr/>
        </p:nvSpPr>
        <p:spPr>
          <a:xfrm flipV="1">
            <a:off x="7273138" y="2209190"/>
            <a:ext cx="623621" cy="170078"/>
          </a:xfrm>
          <a:prstGeom prst="line">
            <a:avLst/>
          </a:prstGeom>
          <a:noFill/>
          <a:ln w="12700">
            <a:solidFill>
              <a:srgbClr val="2EC4B6">
                <a:alpha val="22500"/>
              </a:srgbClr>
            </a:solidFill>
            <a:prstDash val="solid"/>
          </a:ln>
        </p:spPr>
        <p:txBody>
          <a:bodyPr/>
          <a:lstStyle/>
          <a:p>
            <a:endParaRPr lang="el-GR"/>
          </a:p>
        </p:txBody>
      </p:sp>
      <p:sp>
        <p:nvSpPr>
          <p:cNvPr id="11" name="Shape 9"/>
          <p:cNvSpPr/>
          <p:nvPr/>
        </p:nvSpPr>
        <p:spPr>
          <a:xfrm flipV="1">
            <a:off x="7896758" y="1925726"/>
            <a:ext cx="623621" cy="283464"/>
          </a:xfrm>
          <a:prstGeom prst="line">
            <a:avLst/>
          </a:prstGeom>
          <a:noFill/>
          <a:ln w="12700">
            <a:solidFill>
              <a:srgbClr val="2EC4B6">
                <a:alpha val="22500"/>
              </a:srgbClr>
            </a:solidFill>
            <a:prstDash val="solid"/>
          </a:ln>
        </p:spPr>
        <p:txBody>
          <a:bodyPr/>
          <a:lstStyle/>
          <a:p>
            <a:endParaRPr lang="el-GR"/>
          </a:p>
        </p:txBody>
      </p:sp>
      <p:sp>
        <p:nvSpPr>
          <p:cNvPr id="12" name="Shape 10"/>
          <p:cNvSpPr/>
          <p:nvPr/>
        </p:nvSpPr>
        <p:spPr>
          <a:xfrm>
            <a:off x="7896758" y="2209190"/>
            <a:ext cx="453542" cy="453542"/>
          </a:xfrm>
          <a:prstGeom prst="line">
            <a:avLst/>
          </a:prstGeom>
          <a:noFill/>
          <a:ln w="12700">
            <a:solidFill>
              <a:srgbClr val="2EC4B6">
                <a:alpha val="22500"/>
              </a:srgbClr>
            </a:solidFill>
            <a:prstDash val="solid"/>
          </a:ln>
        </p:spPr>
        <p:txBody>
          <a:bodyPr/>
          <a:lstStyle/>
          <a:p>
            <a:endParaRPr lang="el-GR"/>
          </a:p>
        </p:txBody>
      </p:sp>
      <p:sp>
        <p:nvSpPr>
          <p:cNvPr id="13" name="Shape 11"/>
          <p:cNvSpPr/>
          <p:nvPr/>
        </p:nvSpPr>
        <p:spPr>
          <a:xfrm flipV="1">
            <a:off x="8350301" y="1925726"/>
            <a:ext cx="170078" cy="737006"/>
          </a:xfrm>
          <a:prstGeom prst="line">
            <a:avLst/>
          </a:prstGeom>
          <a:noFill/>
          <a:ln w="12700">
            <a:solidFill>
              <a:srgbClr val="2EC4B6">
                <a:alpha val="22500"/>
              </a:srgbClr>
            </a:solidFill>
            <a:prstDash val="solid"/>
          </a:ln>
        </p:spPr>
        <p:txBody>
          <a:bodyPr/>
          <a:lstStyle/>
          <a:p>
            <a:endParaRPr lang="el-GR"/>
          </a:p>
        </p:txBody>
      </p:sp>
      <p:sp>
        <p:nvSpPr>
          <p:cNvPr id="14" name="Shape 12"/>
          <p:cNvSpPr/>
          <p:nvPr/>
        </p:nvSpPr>
        <p:spPr>
          <a:xfrm flipV="1">
            <a:off x="6536131" y="2095805"/>
            <a:ext cx="170078" cy="737006"/>
          </a:xfrm>
          <a:prstGeom prst="line">
            <a:avLst/>
          </a:prstGeom>
          <a:noFill/>
          <a:ln w="12700">
            <a:solidFill>
              <a:srgbClr val="2EC4B6">
                <a:alpha val="22500"/>
              </a:srgbClr>
            </a:solidFill>
            <a:prstDash val="solid"/>
          </a:ln>
        </p:spPr>
        <p:txBody>
          <a:bodyPr/>
          <a:lstStyle/>
          <a:p>
            <a:endParaRPr lang="el-GR"/>
          </a:p>
        </p:txBody>
      </p:sp>
      <p:sp>
        <p:nvSpPr>
          <p:cNvPr id="15" name="Shape 13"/>
          <p:cNvSpPr/>
          <p:nvPr/>
        </p:nvSpPr>
        <p:spPr>
          <a:xfrm>
            <a:off x="6536131" y="2832811"/>
            <a:ext cx="566928" cy="226771"/>
          </a:xfrm>
          <a:prstGeom prst="line">
            <a:avLst/>
          </a:prstGeom>
          <a:noFill/>
          <a:ln w="12700">
            <a:solidFill>
              <a:srgbClr val="2EC4B6">
                <a:alpha val="22500"/>
              </a:srgbClr>
            </a:solidFill>
            <a:prstDash val="solid"/>
          </a:ln>
        </p:spPr>
        <p:txBody>
          <a:bodyPr/>
          <a:lstStyle/>
          <a:p>
            <a:endParaRPr lang="el-GR"/>
          </a:p>
        </p:txBody>
      </p:sp>
      <p:sp>
        <p:nvSpPr>
          <p:cNvPr id="16" name="Shape 14"/>
          <p:cNvSpPr/>
          <p:nvPr/>
        </p:nvSpPr>
        <p:spPr>
          <a:xfrm flipV="1">
            <a:off x="7103059" y="2379269"/>
            <a:ext cx="170078" cy="680314"/>
          </a:xfrm>
          <a:prstGeom prst="line">
            <a:avLst/>
          </a:prstGeom>
          <a:noFill/>
          <a:ln w="12700">
            <a:solidFill>
              <a:srgbClr val="2EC4B6">
                <a:alpha val="22500"/>
              </a:srgbClr>
            </a:solidFill>
            <a:prstDash val="solid"/>
          </a:ln>
        </p:spPr>
        <p:txBody>
          <a:bodyPr/>
          <a:lstStyle/>
          <a:p>
            <a:endParaRPr lang="el-GR"/>
          </a:p>
        </p:txBody>
      </p:sp>
      <p:sp>
        <p:nvSpPr>
          <p:cNvPr id="17" name="Shape 15"/>
          <p:cNvSpPr/>
          <p:nvPr/>
        </p:nvSpPr>
        <p:spPr>
          <a:xfrm flipV="1">
            <a:off x="7103059" y="2889504"/>
            <a:ext cx="623621" cy="170078"/>
          </a:xfrm>
          <a:prstGeom prst="line">
            <a:avLst/>
          </a:prstGeom>
          <a:noFill/>
          <a:ln w="12700">
            <a:solidFill>
              <a:srgbClr val="2EC4B6">
                <a:alpha val="22500"/>
              </a:srgbClr>
            </a:solidFill>
            <a:prstDash val="solid"/>
          </a:ln>
        </p:spPr>
        <p:txBody>
          <a:bodyPr/>
          <a:lstStyle/>
          <a:p>
            <a:endParaRPr lang="el-GR"/>
          </a:p>
        </p:txBody>
      </p:sp>
      <p:sp>
        <p:nvSpPr>
          <p:cNvPr id="18" name="Shape 16"/>
          <p:cNvSpPr/>
          <p:nvPr/>
        </p:nvSpPr>
        <p:spPr>
          <a:xfrm flipV="1">
            <a:off x="7726680" y="2209190"/>
            <a:ext cx="170078" cy="680314"/>
          </a:xfrm>
          <a:prstGeom prst="line">
            <a:avLst/>
          </a:prstGeom>
          <a:noFill/>
          <a:ln w="12700">
            <a:solidFill>
              <a:srgbClr val="2EC4B6">
                <a:alpha val="22500"/>
              </a:srgbClr>
            </a:solidFill>
            <a:prstDash val="solid"/>
          </a:ln>
        </p:spPr>
        <p:txBody>
          <a:bodyPr/>
          <a:lstStyle/>
          <a:p>
            <a:endParaRPr lang="el-GR"/>
          </a:p>
        </p:txBody>
      </p:sp>
      <p:sp>
        <p:nvSpPr>
          <p:cNvPr id="19" name="Shape 17"/>
          <p:cNvSpPr/>
          <p:nvPr/>
        </p:nvSpPr>
        <p:spPr>
          <a:xfrm flipV="1">
            <a:off x="7726680" y="2662733"/>
            <a:ext cx="623621" cy="226771"/>
          </a:xfrm>
          <a:prstGeom prst="line">
            <a:avLst/>
          </a:prstGeom>
          <a:noFill/>
          <a:ln w="12700">
            <a:solidFill>
              <a:srgbClr val="2EC4B6">
                <a:alpha val="22500"/>
              </a:srgbClr>
            </a:solidFill>
            <a:prstDash val="solid"/>
          </a:ln>
        </p:spPr>
        <p:txBody>
          <a:bodyPr/>
          <a:lstStyle/>
          <a:p>
            <a:endParaRPr lang="el-GR"/>
          </a:p>
        </p:txBody>
      </p:sp>
      <p:sp>
        <p:nvSpPr>
          <p:cNvPr id="20" name="Shape 18"/>
          <p:cNvSpPr/>
          <p:nvPr/>
        </p:nvSpPr>
        <p:spPr>
          <a:xfrm>
            <a:off x="7726680" y="2889504"/>
            <a:ext cx="453542" cy="396850"/>
          </a:xfrm>
          <a:prstGeom prst="line">
            <a:avLst/>
          </a:prstGeom>
          <a:noFill/>
          <a:ln w="12700">
            <a:solidFill>
              <a:srgbClr val="2EC4B6">
                <a:alpha val="22500"/>
              </a:srgbClr>
            </a:solidFill>
            <a:prstDash val="solid"/>
          </a:ln>
        </p:spPr>
        <p:txBody>
          <a:bodyPr/>
          <a:lstStyle/>
          <a:p>
            <a:endParaRPr lang="el-GR"/>
          </a:p>
        </p:txBody>
      </p:sp>
      <p:sp>
        <p:nvSpPr>
          <p:cNvPr id="21" name="Shape 19"/>
          <p:cNvSpPr/>
          <p:nvPr/>
        </p:nvSpPr>
        <p:spPr>
          <a:xfrm flipV="1">
            <a:off x="8180222" y="2662733"/>
            <a:ext cx="170078" cy="623621"/>
          </a:xfrm>
          <a:prstGeom prst="line">
            <a:avLst/>
          </a:prstGeom>
          <a:noFill/>
          <a:ln w="12700">
            <a:solidFill>
              <a:srgbClr val="2EC4B6">
                <a:alpha val="22500"/>
              </a:srgbClr>
            </a:solidFill>
            <a:prstDash val="solid"/>
          </a:ln>
        </p:spPr>
        <p:txBody>
          <a:bodyPr/>
          <a:lstStyle/>
          <a:p>
            <a:endParaRPr lang="el-GR"/>
          </a:p>
        </p:txBody>
      </p:sp>
      <p:sp>
        <p:nvSpPr>
          <p:cNvPr id="22" name="Shape 20"/>
          <p:cNvSpPr/>
          <p:nvPr/>
        </p:nvSpPr>
        <p:spPr>
          <a:xfrm>
            <a:off x="7103059" y="3059582"/>
            <a:ext cx="340157" cy="396850"/>
          </a:xfrm>
          <a:prstGeom prst="line">
            <a:avLst/>
          </a:prstGeom>
          <a:noFill/>
          <a:ln w="12700">
            <a:solidFill>
              <a:srgbClr val="2EC4B6">
                <a:alpha val="22500"/>
              </a:srgbClr>
            </a:solidFill>
            <a:prstDash val="solid"/>
          </a:ln>
        </p:spPr>
        <p:txBody>
          <a:bodyPr/>
          <a:lstStyle/>
          <a:p>
            <a:endParaRPr lang="el-GR"/>
          </a:p>
        </p:txBody>
      </p:sp>
      <p:sp>
        <p:nvSpPr>
          <p:cNvPr id="23" name="Shape 21"/>
          <p:cNvSpPr/>
          <p:nvPr/>
        </p:nvSpPr>
        <p:spPr>
          <a:xfrm flipV="1">
            <a:off x="7443216" y="3286354"/>
            <a:ext cx="737006" cy="170078"/>
          </a:xfrm>
          <a:prstGeom prst="line">
            <a:avLst/>
          </a:prstGeom>
          <a:noFill/>
          <a:ln w="12700">
            <a:solidFill>
              <a:srgbClr val="2EC4B6">
                <a:alpha val="22500"/>
              </a:srgbClr>
            </a:solidFill>
            <a:prstDash val="solid"/>
          </a:ln>
        </p:spPr>
        <p:txBody>
          <a:bodyPr/>
          <a:lstStyle/>
          <a:p>
            <a:endParaRPr lang="el-GR"/>
          </a:p>
        </p:txBody>
      </p:sp>
      <p:sp>
        <p:nvSpPr>
          <p:cNvPr id="24" name="Shape 22"/>
          <p:cNvSpPr/>
          <p:nvPr/>
        </p:nvSpPr>
        <p:spPr>
          <a:xfrm flipV="1">
            <a:off x="8180222" y="3116275"/>
            <a:ext cx="396850" cy="170078"/>
          </a:xfrm>
          <a:prstGeom prst="line">
            <a:avLst/>
          </a:prstGeom>
          <a:noFill/>
          <a:ln w="12700">
            <a:solidFill>
              <a:srgbClr val="2EC4B6">
                <a:alpha val="22500"/>
              </a:srgbClr>
            </a:solidFill>
            <a:prstDash val="solid"/>
          </a:ln>
        </p:spPr>
        <p:txBody>
          <a:bodyPr/>
          <a:lstStyle/>
          <a:p>
            <a:endParaRPr lang="el-GR"/>
          </a:p>
        </p:txBody>
      </p:sp>
      <p:sp>
        <p:nvSpPr>
          <p:cNvPr id="25" name="Shape 23"/>
          <p:cNvSpPr/>
          <p:nvPr/>
        </p:nvSpPr>
        <p:spPr>
          <a:xfrm>
            <a:off x="8350301" y="2662733"/>
            <a:ext cx="226771" cy="453542"/>
          </a:xfrm>
          <a:prstGeom prst="line">
            <a:avLst/>
          </a:prstGeom>
          <a:noFill/>
          <a:ln w="12700">
            <a:solidFill>
              <a:srgbClr val="2EC4B6">
                <a:alpha val="22500"/>
              </a:srgbClr>
            </a:solidFill>
            <a:prstDash val="solid"/>
          </a:ln>
        </p:spPr>
        <p:txBody>
          <a:bodyPr/>
          <a:lstStyle/>
          <a:p>
            <a:endParaRPr lang="el-GR"/>
          </a:p>
        </p:txBody>
      </p:sp>
      <p:sp>
        <p:nvSpPr>
          <p:cNvPr id="26" name="Shape 24"/>
          <p:cNvSpPr/>
          <p:nvPr/>
        </p:nvSpPr>
        <p:spPr>
          <a:xfrm flipV="1">
            <a:off x="7273138" y="1698955"/>
            <a:ext cx="170078" cy="680314"/>
          </a:xfrm>
          <a:prstGeom prst="line">
            <a:avLst/>
          </a:prstGeom>
          <a:noFill/>
          <a:ln w="12700">
            <a:solidFill>
              <a:srgbClr val="2EC4B6">
                <a:alpha val="22500"/>
              </a:srgbClr>
            </a:solidFill>
            <a:prstDash val="solid"/>
          </a:ln>
        </p:spPr>
        <p:txBody>
          <a:bodyPr/>
          <a:lstStyle/>
          <a:p>
            <a:endParaRPr lang="el-GR"/>
          </a:p>
        </p:txBody>
      </p:sp>
      <p:sp>
        <p:nvSpPr>
          <p:cNvPr id="27" name="Shape 25"/>
          <p:cNvSpPr/>
          <p:nvPr/>
        </p:nvSpPr>
        <p:spPr>
          <a:xfrm>
            <a:off x="6388730" y="1494861"/>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28" name="Shape 26"/>
          <p:cNvSpPr/>
          <p:nvPr/>
        </p:nvSpPr>
        <p:spPr>
          <a:xfrm>
            <a:off x="6898965" y="1268090"/>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29" name="Shape 27"/>
          <p:cNvSpPr/>
          <p:nvPr/>
        </p:nvSpPr>
        <p:spPr>
          <a:xfrm>
            <a:off x="7380854" y="1636593"/>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0" name="Shape 28"/>
          <p:cNvSpPr/>
          <p:nvPr/>
        </p:nvSpPr>
        <p:spPr>
          <a:xfrm>
            <a:off x="8032821" y="1381476"/>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1" name="Shape 29"/>
          <p:cNvSpPr/>
          <p:nvPr/>
        </p:nvSpPr>
        <p:spPr>
          <a:xfrm>
            <a:off x="8486364" y="1891711"/>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2" name="Shape 30"/>
          <p:cNvSpPr/>
          <p:nvPr/>
        </p:nvSpPr>
        <p:spPr>
          <a:xfrm>
            <a:off x="6672194" y="2061789"/>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3" name="Shape 31"/>
          <p:cNvSpPr/>
          <p:nvPr/>
        </p:nvSpPr>
        <p:spPr>
          <a:xfrm>
            <a:off x="7239122" y="2345253"/>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4" name="Shape 32"/>
          <p:cNvSpPr/>
          <p:nvPr/>
        </p:nvSpPr>
        <p:spPr>
          <a:xfrm>
            <a:off x="7834396" y="2146828"/>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5" name="Shape 33"/>
          <p:cNvSpPr/>
          <p:nvPr/>
        </p:nvSpPr>
        <p:spPr>
          <a:xfrm>
            <a:off x="8316285" y="2628717"/>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6" name="Shape 34"/>
          <p:cNvSpPr/>
          <p:nvPr/>
        </p:nvSpPr>
        <p:spPr>
          <a:xfrm>
            <a:off x="6502116" y="2798796"/>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7" name="Shape 35"/>
          <p:cNvSpPr/>
          <p:nvPr/>
        </p:nvSpPr>
        <p:spPr>
          <a:xfrm>
            <a:off x="7069044" y="3025567"/>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8" name="Shape 36"/>
          <p:cNvSpPr/>
          <p:nvPr/>
        </p:nvSpPr>
        <p:spPr>
          <a:xfrm>
            <a:off x="7664318" y="2827142"/>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9" name="Shape 37"/>
          <p:cNvSpPr/>
          <p:nvPr/>
        </p:nvSpPr>
        <p:spPr>
          <a:xfrm>
            <a:off x="8146207" y="3252338"/>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40" name="Shape 38"/>
          <p:cNvSpPr/>
          <p:nvPr/>
        </p:nvSpPr>
        <p:spPr>
          <a:xfrm>
            <a:off x="7409200" y="3422416"/>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41" name="Shape 39"/>
          <p:cNvSpPr/>
          <p:nvPr/>
        </p:nvSpPr>
        <p:spPr>
          <a:xfrm>
            <a:off x="8543056" y="3082260"/>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42" name="Text 40"/>
          <p:cNvSpPr txBox="1"/>
          <p:nvPr/>
        </p:nvSpPr>
        <p:spPr>
          <a:xfrm>
            <a:off x="548640" y="1280160"/>
            <a:ext cx="2286000" cy="1005840"/>
          </a:xfrm>
          <a:prstGeom prst="rect">
            <a:avLst/>
          </a:prstGeom>
          <a:noFill/>
          <a:ln/>
        </p:spPr>
        <p:txBody>
          <a:bodyPr wrap="square" lIns="0" tIns="0" rIns="0" bIns="0" rtlCol="0" anchor="ctr"/>
          <a:lstStyle/>
          <a:p>
            <a:pPr marL="0" indent="0">
              <a:buNone/>
            </a:pPr>
            <a:r>
              <a:rPr lang="en-US" sz="6600" b="1" dirty="0">
                <a:solidFill>
                  <a:srgbClr val="2EC4B6"/>
                </a:solidFill>
                <a:latin typeface="Arial" pitchFamily="34" charset="0"/>
                <a:ea typeface="Arial" pitchFamily="34" charset="-122"/>
                <a:cs typeface="Arial" pitchFamily="34" charset="-120"/>
              </a:rPr>
              <a:t>02</a:t>
            </a:r>
            <a:endParaRPr lang="en-US" sz="6600" dirty="0"/>
          </a:p>
        </p:txBody>
      </p:sp>
      <p:sp>
        <p:nvSpPr>
          <p:cNvPr id="43" name="Text 41"/>
          <p:cNvSpPr txBox="1"/>
          <p:nvPr/>
        </p:nvSpPr>
        <p:spPr>
          <a:xfrm>
            <a:off x="548640" y="2240280"/>
            <a:ext cx="5669280" cy="960120"/>
          </a:xfrm>
          <a:prstGeom prst="rect">
            <a:avLst/>
          </a:prstGeom>
          <a:noFill/>
          <a:ln/>
        </p:spPr>
        <p:txBody>
          <a:bodyPr wrap="square" lIns="0" tIns="0" rIns="0" bIns="0" rtlCol="0" anchor="b"/>
          <a:lstStyle/>
          <a:p>
            <a:pPr marL="0" indent="0">
              <a:buNone/>
            </a:pPr>
            <a:r>
              <a:rPr lang="en-US" sz="2800" b="1" dirty="0">
                <a:solidFill>
                  <a:srgbClr val="FFFFFF"/>
                </a:solidFill>
                <a:latin typeface="Arial" pitchFamily="34" charset="0"/>
                <a:ea typeface="Arial" pitchFamily="34" charset="-122"/>
                <a:cs typeface="Arial" pitchFamily="34" charset="-120"/>
              </a:rPr>
              <a:t>Γιατί βάσεις δεδομένων;</a:t>
            </a:r>
            <a:endParaRPr lang="en-US" sz="2800" dirty="0"/>
          </a:p>
        </p:txBody>
      </p:sp>
      <p:sp>
        <p:nvSpPr>
          <p:cNvPr id="44" name="Text 42"/>
          <p:cNvSpPr txBox="1"/>
          <p:nvPr/>
        </p:nvSpPr>
        <p:spPr>
          <a:xfrm>
            <a:off x="548640" y="3291840"/>
            <a:ext cx="5486400" cy="548640"/>
          </a:xfrm>
          <a:prstGeom prst="rect">
            <a:avLst/>
          </a:prstGeom>
          <a:noFill/>
          <a:ln/>
        </p:spPr>
        <p:txBody>
          <a:bodyPr wrap="square" lIns="0" tIns="0" rIns="0" bIns="0" rtlCol="0" anchor="t"/>
          <a:lstStyle/>
          <a:p>
            <a:pPr marL="0" indent="0">
              <a:buNone/>
            </a:pPr>
            <a:r>
              <a:rPr lang="en-US" sz="1500" dirty="0">
                <a:solidFill>
                  <a:srgbClr val="A9B8CC"/>
                </a:solidFill>
                <a:latin typeface="Calibri" pitchFamily="34" charset="0"/>
                <a:ea typeface="Calibri" pitchFamily="34" charset="-122"/>
                <a:cs typeface="Calibri" pitchFamily="34" charset="-120"/>
              </a:rPr>
              <a:t>Από το υπολογιστικό φύλλο στο σύστημα διαχείρισης βάσεων δεδομένων</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Excel ή βάση δεδομένων;</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Το Excel είναι εξαιρετικό εργαλείο — μέχρι ένα σημείο</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420624">
                <a:tc>
                  <a:txBody>
                    <a:bodyPr/>
                    <a:lstStyle/>
                    <a:p>
                      <a:pPr marL="0" indent="0">
                        <a:buNone/>
                      </a:pP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Υπολογιστικό φύλλο (Excel)</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Βάση δεδομένων (SQL Server)</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420624">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Όγκος</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Έως ~1 εκατ. γραμμές ανά φύλλο</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Δισεκατομμύρια γραμμές</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Ακεραιότητα</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Οποιαδήποτε τιμή σε οποιοδήποτε κελί</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Τύποι δεδομένων &amp; κανόνες (constraints)</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420624">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Πολλοί χρήστες</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Συγκρούσεις, «τελικό_v3_ΤΕΛΙΚΟ.xlsx»</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Ταυτόχρονη, ελεγχόμενη πρόσβαση</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Σχέσεις</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Αντιγραφή δεδομένων σε πολλά φύλλα</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Κάθε πληροφορία μία φορά, σύνδεση με κλειδιά</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420624">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Ερωτήματα</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Χειροκίνητα φίλτρα &amp; τύποι</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300" dirty="0">
                          <a:solidFill>
                            <a:srgbClr val="12233A"/>
                          </a:solidFill>
                          <a:latin typeface="Calibri" pitchFamily="34" charset="0"/>
                          <a:ea typeface="Calibri" pitchFamily="34" charset="-122"/>
                          <a:cs typeface="Calibri" pitchFamily="34" charset="-120"/>
                        </a:rPr>
                        <a:t>SQL: επαναλήψιμα, αυτοματοποιημένα</a:t>
                      </a:r>
                      <a:endParaRPr lang="en-US" sz="13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457200" y="4023360"/>
            <a:ext cx="8229600" cy="502920"/>
          </a:xfrm>
          <a:prstGeom prst="roundRect">
            <a:avLst>
              <a:gd name="adj" fmla="val 14545"/>
            </a:avLst>
          </a:prstGeom>
          <a:solidFill>
            <a:srgbClr val="F2B134"/>
          </a:solidFill>
          <a:ln w="12700">
            <a:solidFill>
              <a:srgbClr val="F2B134"/>
            </a:solidFill>
            <a:prstDash val="solid"/>
          </a:ln>
        </p:spPr>
        <p:txBody>
          <a:bodyPr/>
          <a:lstStyle/>
          <a:p>
            <a:endParaRPr lang="el-GR"/>
          </a:p>
        </p:txBody>
      </p:sp>
      <p:pic>
        <p:nvPicPr>
          <p:cNvPr id="6" name="Image 0" descr="preencoded.png"/>
          <p:cNvPicPr>
            <a:picLocks noChangeAspect="1"/>
          </p:cNvPicPr>
          <p:nvPr/>
        </p:nvPicPr>
        <p:blipFill>
          <a:blip r:embed="rId3"/>
          <a:stretch>
            <a:fillRect/>
          </a:stretch>
        </p:blipFill>
        <p:spPr>
          <a:xfrm>
            <a:off x="640080" y="4119372"/>
            <a:ext cx="310896" cy="310896"/>
          </a:xfrm>
          <a:prstGeom prst="rect">
            <a:avLst/>
          </a:prstGeom>
        </p:spPr>
      </p:pic>
      <p:sp>
        <p:nvSpPr>
          <p:cNvPr id="9" name="Text 5"/>
          <p:cNvSpPr txBox="1"/>
          <p:nvPr/>
        </p:nvSpPr>
        <p:spPr>
          <a:xfrm>
            <a:off x="1097280" y="4023360"/>
            <a:ext cx="7452360" cy="502920"/>
          </a:xfrm>
          <a:prstGeom prst="rect">
            <a:avLst/>
          </a:prstGeom>
          <a:noFill/>
          <a:ln/>
        </p:spPr>
        <p:txBody>
          <a:bodyPr wrap="square" lIns="0" tIns="0" rIns="0" bIns="0" rtlCol="0" anchor="ctr"/>
          <a:lstStyle/>
          <a:p>
            <a:pPr marL="0" indent="0">
              <a:buNone/>
            </a:pPr>
            <a:r>
              <a:rPr lang="en-US" sz="1300" b="1" dirty="0">
                <a:solidFill>
                  <a:srgbClr val="12233A"/>
                </a:solidFill>
                <a:latin typeface="Calibri" pitchFamily="34" charset="0"/>
                <a:ea typeface="Calibri" pitchFamily="34" charset="-122"/>
                <a:cs typeface="Calibri" pitchFamily="34" charset="-120"/>
              </a:rPr>
              <a:t>Στην πράξη: </a:t>
            </a:r>
            <a:r>
              <a:rPr lang="en-US" sz="1300" dirty="0">
                <a:solidFill>
                  <a:srgbClr val="12233A"/>
                </a:solidFill>
                <a:latin typeface="Calibri" pitchFamily="34" charset="0"/>
                <a:ea typeface="Calibri" pitchFamily="34" charset="-122"/>
                <a:cs typeface="Calibri" pitchFamily="34" charset="-120"/>
              </a:rPr>
              <a:t>τα δεδομένα ζουν στη βάση · το Excel, η R και το Power BI «διαβάζουν» από αυτή.</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Τι είναι ένα ΣΔΒΔ (DBMS);</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Σύστημα Διαχείρισης Βάσεων Δεδομένων: αποθηκεύει, προστατεύει και «σερβίρει» τα δεδομένα</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371600"/>
            <a:ext cx="1828800" cy="1737360"/>
          </a:xfrm>
          <a:prstGeom prst="roundRect">
            <a:avLst>
              <a:gd name="adj" fmla="val 4211"/>
            </a:avLst>
          </a:prstGeom>
          <a:solidFill>
            <a:srgbClr val="EEF3F8"/>
          </a:solidFill>
          <a:ln w="12700">
            <a:solidFill>
              <a:srgbClr val="EEF3F8"/>
            </a:solidFill>
            <a:prstDash val="solid"/>
          </a:ln>
        </p:spPr>
        <p:txBody>
          <a:bodyPr/>
          <a:lstStyle/>
          <a:p>
            <a:endParaRPr lang="el-GR"/>
          </a:p>
        </p:txBody>
      </p:sp>
      <p:sp>
        <p:nvSpPr>
          <p:cNvPr id="7" name="Shape 5"/>
          <p:cNvSpPr/>
          <p:nvPr/>
        </p:nvSpPr>
        <p:spPr>
          <a:xfrm>
            <a:off x="1097280" y="1536192"/>
            <a:ext cx="548640" cy="548640"/>
          </a:xfrm>
          <a:prstGeom prst="ellipse">
            <a:avLst/>
          </a:prstGeom>
          <a:solidFill>
            <a:srgbClr val="12233A"/>
          </a:solidFill>
          <a:ln w="12700">
            <a:solidFill>
              <a:srgbClr val="12233A"/>
            </a:solidFill>
            <a:prstDash val="solid"/>
          </a:ln>
        </p:spPr>
        <p:txBody>
          <a:bodyPr/>
          <a:lstStyle/>
          <a:p>
            <a:endParaRPr lang="el-GR"/>
          </a:p>
        </p:txBody>
      </p:sp>
      <p:pic>
        <p:nvPicPr>
          <p:cNvPr id="8" name="Image 0" descr="preencoded.png"/>
          <p:cNvPicPr>
            <a:picLocks noChangeAspect="1"/>
          </p:cNvPicPr>
          <p:nvPr/>
        </p:nvPicPr>
        <p:blipFill>
          <a:blip r:embed="rId3"/>
          <a:stretch>
            <a:fillRect/>
          </a:stretch>
        </p:blipFill>
        <p:spPr>
          <a:xfrm>
            <a:off x="1234440" y="1673352"/>
            <a:ext cx="274320" cy="274320"/>
          </a:xfrm>
          <a:prstGeom prst="rect">
            <a:avLst/>
          </a:prstGeom>
        </p:spPr>
      </p:pic>
      <p:sp>
        <p:nvSpPr>
          <p:cNvPr id="9" name="Text 6"/>
          <p:cNvSpPr txBox="1"/>
          <p:nvPr/>
        </p:nvSpPr>
        <p:spPr>
          <a:xfrm>
            <a:off x="548640" y="2176272"/>
            <a:ext cx="1645920" cy="320040"/>
          </a:xfrm>
          <a:prstGeom prst="rect">
            <a:avLst/>
          </a:prstGeom>
          <a:noFill/>
          <a:ln/>
        </p:spPr>
        <p:txBody>
          <a:bodyPr wrap="square" lIns="0" tIns="0" rIns="0" bIns="0" rtlCol="0" anchor="t"/>
          <a:lstStyle/>
          <a:p>
            <a:pPr marL="0" indent="0" algn="ctr">
              <a:buNone/>
            </a:pPr>
            <a:r>
              <a:rPr lang="en-US" sz="1400" b="1" dirty="0">
                <a:solidFill>
                  <a:srgbClr val="12233A"/>
                </a:solidFill>
                <a:latin typeface="Calibri" pitchFamily="34" charset="0"/>
                <a:ea typeface="Calibri" pitchFamily="34" charset="-122"/>
                <a:cs typeface="Calibri" pitchFamily="34" charset="-120"/>
              </a:rPr>
              <a:t>Εφαρμογές &amp; χρήστες</a:t>
            </a:r>
            <a:endParaRPr lang="en-US" sz="1400" dirty="0"/>
          </a:p>
        </p:txBody>
      </p:sp>
      <p:sp>
        <p:nvSpPr>
          <p:cNvPr id="10" name="Text 7"/>
          <p:cNvSpPr txBox="1"/>
          <p:nvPr/>
        </p:nvSpPr>
        <p:spPr>
          <a:xfrm>
            <a:off x="566928" y="2514600"/>
            <a:ext cx="1609344" cy="548640"/>
          </a:xfrm>
          <a:prstGeom prst="rect">
            <a:avLst/>
          </a:prstGeom>
          <a:noFill/>
          <a:ln/>
        </p:spPr>
        <p:txBody>
          <a:bodyPr wrap="square" lIns="0" tIns="0" rIns="0" bIns="0" rtlCol="0" anchor="t"/>
          <a:lstStyle/>
          <a:p>
            <a:pPr marL="0" indent="0" algn="ctr">
              <a:buNone/>
            </a:pPr>
            <a:r>
              <a:rPr lang="en-US" sz="1100" dirty="0">
                <a:solidFill>
                  <a:srgbClr val="5B6B7F"/>
                </a:solidFill>
                <a:latin typeface="Calibri" pitchFamily="34" charset="0"/>
                <a:ea typeface="Calibri" pitchFamily="34" charset="-122"/>
                <a:cs typeface="Calibri" pitchFamily="34" charset="-120"/>
              </a:rPr>
              <a:t>Excel · R · Power BI · web apps</a:t>
            </a:r>
            <a:endParaRPr lang="en-US" sz="1100" dirty="0"/>
          </a:p>
        </p:txBody>
      </p:sp>
      <p:pic>
        <p:nvPicPr>
          <p:cNvPr id="11" name="Image 1" descr="preencoded.png"/>
          <p:cNvPicPr>
            <a:picLocks noChangeAspect="1"/>
          </p:cNvPicPr>
          <p:nvPr/>
        </p:nvPicPr>
        <p:blipFill>
          <a:blip r:embed="rId4"/>
          <a:stretch>
            <a:fillRect/>
          </a:stretch>
        </p:blipFill>
        <p:spPr>
          <a:xfrm>
            <a:off x="2331720" y="2103120"/>
            <a:ext cx="228600" cy="228600"/>
          </a:xfrm>
          <a:prstGeom prst="rect">
            <a:avLst/>
          </a:prstGeom>
        </p:spPr>
      </p:pic>
      <p:sp>
        <p:nvSpPr>
          <p:cNvPr id="12" name="Shape 8"/>
          <p:cNvSpPr/>
          <p:nvPr/>
        </p:nvSpPr>
        <p:spPr>
          <a:xfrm>
            <a:off x="2606040" y="1371600"/>
            <a:ext cx="1828800" cy="1737360"/>
          </a:xfrm>
          <a:prstGeom prst="roundRect">
            <a:avLst>
              <a:gd name="adj" fmla="val 4211"/>
            </a:avLst>
          </a:prstGeom>
          <a:solidFill>
            <a:srgbClr val="EEF3F8"/>
          </a:solidFill>
          <a:ln w="12700">
            <a:solidFill>
              <a:srgbClr val="EEF3F8"/>
            </a:solidFill>
            <a:prstDash val="solid"/>
          </a:ln>
        </p:spPr>
        <p:txBody>
          <a:bodyPr/>
          <a:lstStyle/>
          <a:p>
            <a:endParaRPr lang="el-GR"/>
          </a:p>
        </p:txBody>
      </p:sp>
      <p:sp>
        <p:nvSpPr>
          <p:cNvPr id="13" name="Shape 9"/>
          <p:cNvSpPr/>
          <p:nvPr/>
        </p:nvSpPr>
        <p:spPr>
          <a:xfrm>
            <a:off x="3246120" y="1536192"/>
            <a:ext cx="548640" cy="548640"/>
          </a:xfrm>
          <a:prstGeom prst="ellipse">
            <a:avLst/>
          </a:prstGeom>
          <a:solidFill>
            <a:srgbClr val="1A9E92"/>
          </a:solidFill>
          <a:ln w="12700">
            <a:solidFill>
              <a:srgbClr val="1A9E92"/>
            </a:solidFill>
            <a:prstDash val="solid"/>
          </a:ln>
        </p:spPr>
        <p:txBody>
          <a:bodyPr/>
          <a:lstStyle/>
          <a:p>
            <a:endParaRPr lang="el-GR"/>
          </a:p>
        </p:txBody>
      </p:sp>
      <p:pic>
        <p:nvPicPr>
          <p:cNvPr id="14" name="Image 2" descr="preencoded.png"/>
          <p:cNvPicPr>
            <a:picLocks noChangeAspect="1"/>
          </p:cNvPicPr>
          <p:nvPr/>
        </p:nvPicPr>
        <p:blipFill>
          <a:blip r:embed="rId5"/>
          <a:stretch>
            <a:fillRect/>
          </a:stretch>
        </p:blipFill>
        <p:spPr>
          <a:xfrm>
            <a:off x="3383280" y="1673352"/>
            <a:ext cx="274320" cy="274320"/>
          </a:xfrm>
          <a:prstGeom prst="rect">
            <a:avLst/>
          </a:prstGeom>
        </p:spPr>
      </p:pic>
      <p:sp>
        <p:nvSpPr>
          <p:cNvPr id="15" name="Text 10"/>
          <p:cNvSpPr txBox="1"/>
          <p:nvPr/>
        </p:nvSpPr>
        <p:spPr>
          <a:xfrm>
            <a:off x="2697480" y="2176272"/>
            <a:ext cx="1645920" cy="320040"/>
          </a:xfrm>
          <a:prstGeom prst="rect">
            <a:avLst/>
          </a:prstGeom>
          <a:noFill/>
          <a:ln/>
        </p:spPr>
        <p:txBody>
          <a:bodyPr wrap="square" lIns="0" tIns="0" rIns="0" bIns="0" rtlCol="0" anchor="t"/>
          <a:lstStyle/>
          <a:p>
            <a:pPr marL="0" indent="0" algn="ctr">
              <a:buNone/>
            </a:pPr>
            <a:r>
              <a:rPr lang="en-US" sz="1400" b="1" dirty="0">
                <a:solidFill>
                  <a:srgbClr val="12233A"/>
                </a:solidFill>
                <a:latin typeface="Calibri" pitchFamily="34" charset="0"/>
                <a:ea typeface="Calibri" pitchFamily="34" charset="-122"/>
                <a:cs typeface="Calibri" pitchFamily="34" charset="-120"/>
              </a:rPr>
              <a:t>SQL</a:t>
            </a:r>
            <a:endParaRPr lang="en-US" sz="1400" dirty="0"/>
          </a:p>
        </p:txBody>
      </p:sp>
      <p:sp>
        <p:nvSpPr>
          <p:cNvPr id="16" name="Text 11"/>
          <p:cNvSpPr txBox="1"/>
          <p:nvPr/>
        </p:nvSpPr>
        <p:spPr>
          <a:xfrm>
            <a:off x="2715768" y="2514600"/>
            <a:ext cx="1609344" cy="548640"/>
          </a:xfrm>
          <a:prstGeom prst="rect">
            <a:avLst/>
          </a:prstGeom>
          <a:noFill/>
          <a:ln/>
        </p:spPr>
        <p:txBody>
          <a:bodyPr wrap="square" lIns="0" tIns="0" rIns="0" bIns="0" rtlCol="0" anchor="t"/>
          <a:lstStyle/>
          <a:p>
            <a:pPr marL="0" indent="0" algn="ctr">
              <a:buNone/>
            </a:pPr>
            <a:r>
              <a:rPr lang="en-US" sz="1100" dirty="0">
                <a:solidFill>
                  <a:srgbClr val="5B6B7F"/>
                </a:solidFill>
                <a:latin typeface="Calibri" pitchFamily="34" charset="0"/>
                <a:ea typeface="Calibri" pitchFamily="34" charset="-122"/>
                <a:cs typeface="Calibri" pitchFamily="34" charset="-120"/>
              </a:rPr>
              <a:t>Η κοινή «γλώσσα» επικοινωνίας</a:t>
            </a:r>
            <a:endParaRPr lang="en-US" sz="1100" dirty="0"/>
          </a:p>
        </p:txBody>
      </p:sp>
      <p:pic>
        <p:nvPicPr>
          <p:cNvPr id="17" name="Image 3" descr="preencoded.png"/>
          <p:cNvPicPr>
            <a:picLocks noChangeAspect="1"/>
          </p:cNvPicPr>
          <p:nvPr/>
        </p:nvPicPr>
        <p:blipFill>
          <a:blip r:embed="rId4"/>
          <a:stretch>
            <a:fillRect/>
          </a:stretch>
        </p:blipFill>
        <p:spPr>
          <a:xfrm>
            <a:off x="4480560" y="2103120"/>
            <a:ext cx="228600" cy="228600"/>
          </a:xfrm>
          <a:prstGeom prst="rect">
            <a:avLst/>
          </a:prstGeom>
        </p:spPr>
      </p:pic>
      <p:sp>
        <p:nvSpPr>
          <p:cNvPr id="18" name="Shape 12"/>
          <p:cNvSpPr/>
          <p:nvPr/>
        </p:nvSpPr>
        <p:spPr>
          <a:xfrm>
            <a:off x="4754880" y="1371600"/>
            <a:ext cx="1828800" cy="1737360"/>
          </a:xfrm>
          <a:prstGeom prst="roundRect">
            <a:avLst>
              <a:gd name="adj" fmla="val 4211"/>
            </a:avLst>
          </a:prstGeom>
          <a:solidFill>
            <a:srgbClr val="EEF3F8"/>
          </a:solidFill>
          <a:ln w="12700">
            <a:solidFill>
              <a:srgbClr val="EEF3F8"/>
            </a:solidFill>
            <a:prstDash val="solid"/>
          </a:ln>
        </p:spPr>
        <p:txBody>
          <a:bodyPr/>
          <a:lstStyle/>
          <a:p>
            <a:endParaRPr lang="el-GR"/>
          </a:p>
        </p:txBody>
      </p:sp>
      <p:sp>
        <p:nvSpPr>
          <p:cNvPr id="19" name="Shape 13"/>
          <p:cNvSpPr/>
          <p:nvPr/>
        </p:nvSpPr>
        <p:spPr>
          <a:xfrm>
            <a:off x="5394960" y="1536192"/>
            <a:ext cx="548640" cy="548640"/>
          </a:xfrm>
          <a:prstGeom prst="ellipse">
            <a:avLst/>
          </a:prstGeom>
          <a:solidFill>
            <a:srgbClr val="C0304A"/>
          </a:solidFill>
          <a:ln w="12700">
            <a:solidFill>
              <a:srgbClr val="C0304A"/>
            </a:solidFill>
            <a:prstDash val="solid"/>
          </a:ln>
        </p:spPr>
        <p:txBody>
          <a:bodyPr/>
          <a:lstStyle/>
          <a:p>
            <a:endParaRPr lang="el-GR"/>
          </a:p>
        </p:txBody>
      </p:sp>
      <p:pic>
        <p:nvPicPr>
          <p:cNvPr id="20" name="Image 4" descr="preencoded.png"/>
          <p:cNvPicPr>
            <a:picLocks noChangeAspect="1"/>
          </p:cNvPicPr>
          <p:nvPr/>
        </p:nvPicPr>
        <p:blipFill>
          <a:blip r:embed="rId6"/>
          <a:stretch>
            <a:fillRect/>
          </a:stretch>
        </p:blipFill>
        <p:spPr>
          <a:xfrm>
            <a:off x="5532120" y="1673352"/>
            <a:ext cx="274320" cy="274320"/>
          </a:xfrm>
          <a:prstGeom prst="rect">
            <a:avLst/>
          </a:prstGeom>
        </p:spPr>
      </p:pic>
      <p:sp>
        <p:nvSpPr>
          <p:cNvPr id="21" name="Text 14"/>
          <p:cNvSpPr txBox="1"/>
          <p:nvPr/>
        </p:nvSpPr>
        <p:spPr>
          <a:xfrm>
            <a:off x="4846320" y="2176272"/>
            <a:ext cx="1645920" cy="320040"/>
          </a:xfrm>
          <a:prstGeom prst="rect">
            <a:avLst/>
          </a:prstGeom>
          <a:noFill/>
          <a:ln/>
        </p:spPr>
        <p:txBody>
          <a:bodyPr wrap="square" lIns="0" tIns="0" rIns="0" bIns="0" rtlCol="0" anchor="t"/>
          <a:lstStyle/>
          <a:p>
            <a:pPr marL="0" indent="0" algn="ctr">
              <a:buNone/>
            </a:pPr>
            <a:r>
              <a:rPr lang="en-US" sz="1400" b="1" dirty="0">
                <a:solidFill>
                  <a:srgbClr val="12233A"/>
                </a:solidFill>
                <a:latin typeface="Calibri" pitchFamily="34" charset="0"/>
                <a:ea typeface="Calibri" pitchFamily="34" charset="-122"/>
                <a:cs typeface="Calibri" pitchFamily="34" charset="-120"/>
              </a:rPr>
              <a:t>ΣΔΒΔ</a:t>
            </a:r>
            <a:endParaRPr lang="en-US" sz="1400" dirty="0"/>
          </a:p>
        </p:txBody>
      </p:sp>
      <p:sp>
        <p:nvSpPr>
          <p:cNvPr id="22" name="Text 15"/>
          <p:cNvSpPr txBox="1"/>
          <p:nvPr/>
        </p:nvSpPr>
        <p:spPr>
          <a:xfrm>
            <a:off x="4864608" y="2514600"/>
            <a:ext cx="1609344" cy="548640"/>
          </a:xfrm>
          <a:prstGeom prst="rect">
            <a:avLst/>
          </a:prstGeom>
          <a:noFill/>
          <a:ln/>
        </p:spPr>
        <p:txBody>
          <a:bodyPr wrap="square" lIns="0" tIns="0" rIns="0" bIns="0" rtlCol="0" anchor="t"/>
          <a:lstStyle/>
          <a:p>
            <a:pPr marL="0" indent="0" algn="ctr">
              <a:buNone/>
            </a:pPr>
            <a:r>
              <a:rPr lang="en-US" sz="1100" dirty="0">
                <a:solidFill>
                  <a:srgbClr val="5B6B7F"/>
                </a:solidFill>
                <a:latin typeface="Calibri" pitchFamily="34" charset="0"/>
                <a:ea typeface="Calibri" pitchFamily="34" charset="-122"/>
                <a:cs typeface="Calibri" pitchFamily="34" charset="-120"/>
              </a:rPr>
              <a:t>π.χ. SQL Server: έλεγχος, ασφάλεια, ταχύτητα</a:t>
            </a:r>
            <a:endParaRPr lang="en-US" sz="1100" dirty="0"/>
          </a:p>
        </p:txBody>
      </p:sp>
      <p:pic>
        <p:nvPicPr>
          <p:cNvPr id="23" name="Image 5" descr="preencoded.png"/>
          <p:cNvPicPr>
            <a:picLocks noChangeAspect="1"/>
          </p:cNvPicPr>
          <p:nvPr/>
        </p:nvPicPr>
        <p:blipFill>
          <a:blip r:embed="rId4"/>
          <a:stretch>
            <a:fillRect/>
          </a:stretch>
        </p:blipFill>
        <p:spPr>
          <a:xfrm>
            <a:off x="6629400" y="2103120"/>
            <a:ext cx="228600" cy="228600"/>
          </a:xfrm>
          <a:prstGeom prst="rect">
            <a:avLst/>
          </a:prstGeom>
        </p:spPr>
      </p:pic>
      <p:sp>
        <p:nvSpPr>
          <p:cNvPr id="24" name="Shape 16"/>
          <p:cNvSpPr/>
          <p:nvPr/>
        </p:nvSpPr>
        <p:spPr>
          <a:xfrm>
            <a:off x="6903720" y="1371600"/>
            <a:ext cx="1828800" cy="1737360"/>
          </a:xfrm>
          <a:prstGeom prst="roundRect">
            <a:avLst>
              <a:gd name="adj" fmla="val 4211"/>
            </a:avLst>
          </a:prstGeom>
          <a:solidFill>
            <a:srgbClr val="EEF3F8"/>
          </a:solidFill>
          <a:ln w="12700">
            <a:solidFill>
              <a:srgbClr val="EEF3F8"/>
            </a:solidFill>
            <a:prstDash val="solid"/>
          </a:ln>
        </p:spPr>
        <p:txBody>
          <a:bodyPr/>
          <a:lstStyle/>
          <a:p>
            <a:endParaRPr lang="el-GR"/>
          </a:p>
        </p:txBody>
      </p:sp>
      <p:sp>
        <p:nvSpPr>
          <p:cNvPr id="25" name="Shape 17"/>
          <p:cNvSpPr/>
          <p:nvPr/>
        </p:nvSpPr>
        <p:spPr>
          <a:xfrm>
            <a:off x="7543800" y="1536192"/>
            <a:ext cx="548640" cy="548640"/>
          </a:xfrm>
          <a:prstGeom prst="ellipse">
            <a:avLst/>
          </a:prstGeom>
          <a:solidFill>
            <a:srgbClr val="12233A"/>
          </a:solidFill>
          <a:ln w="12700">
            <a:solidFill>
              <a:srgbClr val="12233A"/>
            </a:solidFill>
            <a:prstDash val="solid"/>
          </a:ln>
        </p:spPr>
        <p:txBody>
          <a:bodyPr/>
          <a:lstStyle/>
          <a:p>
            <a:endParaRPr lang="el-GR"/>
          </a:p>
        </p:txBody>
      </p:sp>
      <p:pic>
        <p:nvPicPr>
          <p:cNvPr id="26" name="Image 6" descr="preencoded.png"/>
          <p:cNvPicPr>
            <a:picLocks noChangeAspect="1"/>
          </p:cNvPicPr>
          <p:nvPr/>
        </p:nvPicPr>
        <p:blipFill>
          <a:blip r:embed="rId7"/>
          <a:stretch>
            <a:fillRect/>
          </a:stretch>
        </p:blipFill>
        <p:spPr>
          <a:xfrm>
            <a:off x="7680960" y="1673352"/>
            <a:ext cx="274320" cy="274320"/>
          </a:xfrm>
          <a:prstGeom prst="rect">
            <a:avLst/>
          </a:prstGeom>
        </p:spPr>
      </p:pic>
      <p:sp>
        <p:nvSpPr>
          <p:cNvPr id="27" name="Text 18"/>
          <p:cNvSpPr txBox="1"/>
          <p:nvPr/>
        </p:nvSpPr>
        <p:spPr>
          <a:xfrm>
            <a:off x="6995160" y="2176272"/>
            <a:ext cx="1645920" cy="320040"/>
          </a:xfrm>
          <a:prstGeom prst="rect">
            <a:avLst/>
          </a:prstGeom>
          <a:noFill/>
          <a:ln/>
        </p:spPr>
        <p:txBody>
          <a:bodyPr wrap="square" lIns="0" tIns="0" rIns="0" bIns="0" rtlCol="0" anchor="t"/>
          <a:lstStyle/>
          <a:p>
            <a:pPr marL="0" indent="0" algn="ctr">
              <a:buNone/>
            </a:pPr>
            <a:r>
              <a:rPr lang="en-US" sz="1400" b="1" dirty="0">
                <a:solidFill>
                  <a:srgbClr val="12233A"/>
                </a:solidFill>
                <a:latin typeface="Calibri" pitchFamily="34" charset="0"/>
                <a:ea typeface="Calibri" pitchFamily="34" charset="-122"/>
                <a:cs typeface="Calibri" pitchFamily="34" charset="-120"/>
              </a:rPr>
              <a:t>Βάση δεδομένων</a:t>
            </a:r>
            <a:endParaRPr lang="en-US" sz="1400" dirty="0"/>
          </a:p>
        </p:txBody>
      </p:sp>
      <p:sp>
        <p:nvSpPr>
          <p:cNvPr id="28" name="Text 19"/>
          <p:cNvSpPr txBox="1"/>
          <p:nvPr/>
        </p:nvSpPr>
        <p:spPr>
          <a:xfrm>
            <a:off x="7013448" y="2514600"/>
            <a:ext cx="1609344" cy="548640"/>
          </a:xfrm>
          <a:prstGeom prst="rect">
            <a:avLst/>
          </a:prstGeom>
          <a:noFill/>
          <a:ln/>
        </p:spPr>
        <p:txBody>
          <a:bodyPr wrap="square" lIns="0" tIns="0" rIns="0" bIns="0" rtlCol="0" anchor="t"/>
          <a:lstStyle/>
          <a:p>
            <a:pPr marL="0" indent="0" algn="ctr">
              <a:buNone/>
            </a:pPr>
            <a:r>
              <a:rPr lang="en-US" sz="1100" dirty="0">
                <a:solidFill>
                  <a:srgbClr val="5B6B7F"/>
                </a:solidFill>
                <a:latin typeface="Calibri" pitchFamily="34" charset="0"/>
                <a:ea typeface="Calibri" pitchFamily="34" charset="-122"/>
                <a:cs typeface="Calibri" pitchFamily="34" charset="-120"/>
              </a:rPr>
              <a:t>Πίνακες με τα δεδομένα</a:t>
            </a:r>
            <a:endParaRPr lang="en-US" sz="1100" dirty="0"/>
          </a:p>
        </p:txBody>
      </p:sp>
      <p:sp>
        <p:nvSpPr>
          <p:cNvPr id="29" name="Text 20"/>
          <p:cNvSpPr txBox="1"/>
          <p:nvPr/>
        </p:nvSpPr>
        <p:spPr>
          <a:xfrm>
            <a:off x="457200" y="3429000"/>
            <a:ext cx="8229600" cy="274320"/>
          </a:xfrm>
          <a:prstGeom prst="rect">
            <a:avLst/>
          </a:prstGeom>
          <a:noFill/>
          <a:ln/>
        </p:spPr>
        <p:txBody>
          <a:bodyPr wrap="square" lIns="0" tIns="0" rIns="0" bIns="0" rtlCol="0" anchor="t"/>
          <a:lstStyle/>
          <a:p>
            <a:pPr marL="0" indent="0">
              <a:buNone/>
            </a:pPr>
            <a:r>
              <a:rPr lang="en-US" sz="1300" b="1" dirty="0">
                <a:solidFill>
                  <a:srgbClr val="12233A"/>
                </a:solidFill>
                <a:latin typeface="Calibri" pitchFamily="34" charset="0"/>
                <a:ea typeface="Calibri" pitchFamily="34" charset="-122"/>
                <a:cs typeface="Calibri" pitchFamily="34" charset="-120"/>
              </a:rPr>
              <a:t>Γνωστά σχεσιακά ΣΔΒΔ</a:t>
            </a:r>
            <a:endParaRPr lang="en-US" sz="1300" dirty="0"/>
          </a:p>
        </p:txBody>
      </p:sp>
      <p:sp>
        <p:nvSpPr>
          <p:cNvPr id="30" name="Shape 21"/>
          <p:cNvSpPr/>
          <p:nvPr/>
        </p:nvSpPr>
        <p:spPr>
          <a:xfrm>
            <a:off x="457200" y="3794760"/>
            <a:ext cx="1234440" cy="274320"/>
          </a:xfrm>
          <a:prstGeom prst="roundRect">
            <a:avLst>
              <a:gd name="adj" fmla="val 50000"/>
            </a:avLst>
          </a:prstGeom>
          <a:solidFill>
            <a:srgbClr val="C0304A"/>
          </a:solidFill>
          <a:ln w="12700">
            <a:solidFill>
              <a:srgbClr val="C0304A"/>
            </a:solidFill>
            <a:prstDash val="solid"/>
          </a:ln>
        </p:spPr>
        <p:txBody>
          <a:bodyPr/>
          <a:lstStyle/>
          <a:p>
            <a:endParaRPr lang="el-GR"/>
          </a:p>
        </p:txBody>
      </p:sp>
      <p:sp>
        <p:nvSpPr>
          <p:cNvPr id="31" name="Text 22"/>
          <p:cNvSpPr txBox="1"/>
          <p:nvPr/>
        </p:nvSpPr>
        <p:spPr>
          <a:xfrm>
            <a:off x="457200" y="3794760"/>
            <a:ext cx="123444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SQL Server</a:t>
            </a:r>
            <a:endParaRPr lang="en-US" sz="1000" dirty="0"/>
          </a:p>
        </p:txBody>
      </p:sp>
      <p:sp>
        <p:nvSpPr>
          <p:cNvPr id="32" name="Shape 23"/>
          <p:cNvSpPr/>
          <p:nvPr/>
        </p:nvSpPr>
        <p:spPr>
          <a:xfrm>
            <a:off x="1828800" y="3794760"/>
            <a:ext cx="1234440" cy="274320"/>
          </a:xfrm>
          <a:prstGeom prst="roundRect">
            <a:avLst>
              <a:gd name="adj" fmla="val 50000"/>
            </a:avLst>
          </a:prstGeom>
          <a:solidFill>
            <a:srgbClr val="E2EAF3"/>
          </a:solidFill>
          <a:ln w="12700">
            <a:solidFill>
              <a:srgbClr val="E2EAF3"/>
            </a:solidFill>
            <a:prstDash val="solid"/>
          </a:ln>
        </p:spPr>
        <p:txBody>
          <a:bodyPr/>
          <a:lstStyle/>
          <a:p>
            <a:endParaRPr lang="el-GR"/>
          </a:p>
        </p:txBody>
      </p:sp>
      <p:sp>
        <p:nvSpPr>
          <p:cNvPr id="33" name="Text 24"/>
          <p:cNvSpPr txBox="1"/>
          <p:nvPr/>
        </p:nvSpPr>
        <p:spPr>
          <a:xfrm>
            <a:off x="1828800" y="3794760"/>
            <a:ext cx="1234440" cy="274320"/>
          </a:xfrm>
          <a:prstGeom prst="rect">
            <a:avLst/>
          </a:prstGeom>
          <a:noFill/>
          <a:ln/>
        </p:spPr>
        <p:txBody>
          <a:bodyPr wrap="square" lIns="0" tIns="0" rIns="0" bIns="0" rtlCol="0" anchor="ctr"/>
          <a:lstStyle/>
          <a:p>
            <a:pPr marL="0" indent="0" algn="ctr">
              <a:buNone/>
            </a:pPr>
            <a:r>
              <a:rPr lang="en-US" sz="1000" b="1" dirty="0">
                <a:solidFill>
                  <a:srgbClr val="12233A"/>
                </a:solidFill>
                <a:latin typeface="Calibri" pitchFamily="34" charset="0"/>
                <a:ea typeface="Calibri" pitchFamily="34" charset="-122"/>
                <a:cs typeface="Calibri" pitchFamily="34" charset="-120"/>
              </a:rPr>
              <a:t>PostgreSQL</a:t>
            </a:r>
            <a:endParaRPr lang="en-US" sz="1000" dirty="0"/>
          </a:p>
        </p:txBody>
      </p:sp>
      <p:sp>
        <p:nvSpPr>
          <p:cNvPr id="34" name="Shape 25"/>
          <p:cNvSpPr/>
          <p:nvPr/>
        </p:nvSpPr>
        <p:spPr>
          <a:xfrm>
            <a:off x="3200400" y="3794760"/>
            <a:ext cx="1234440" cy="274320"/>
          </a:xfrm>
          <a:prstGeom prst="roundRect">
            <a:avLst>
              <a:gd name="adj" fmla="val 50000"/>
            </a:avLst>
          </a:prstGeom>
          <a:solidFill>
            <a:srgbClr val="E2EAF3"/>
          </a:solidFill>
          <a:ln w="12700">
            <a:solidFill>
              <a:srgbClr val="E2EAF3"/>
            </a:solidFill>
            <a:prstDash val="solid"/>
          </a:ln>
        </p:spPr>
        <p:txBody>
          <a:bodyPr/>
          <a:lstStyle/>
          <a:p>
            <a:endParaRPr lang="el-GR"/>
          </a:p>
        </p:txBody>
      </p:sp>
      <p:sp>
        <p:nvSpPr>
          <p:cNvPr id="35" name="Text 26"/>
          <p:cNvSpPr txBox="1"/>
          <p:nvPr/>
        </p:nvSpPr>
        <p:spPr>
          <a:xfrm>
            <a:off x="3200400" y="3794760"/>
            <a:ext cx="1234440" cy="274320"/>
          </a:xfrm>
          <a:prstGeom prst="rect">
            <a:avLst/>
          </a:prstGeom>
          <a:noFill/>
          <a:ln/>
        </p:spPr>
        <p:txBody>
          <a:bodyPr wrap="square" lIns="0" tIns="0" rIns="0" bIns="0" rtlCol="0" anchor="ctr"/>
          <a:lstStyle/>
          <a:p>
            <a:pPr marL="0" indent="0" algn="ctr">
              <a:buNone/>
            </a:pPr>
            <a:r>
              <a:rPr lang="en-US" sz="1000" b="1" dirty="0">
                <a:solidFill>
                  <a:srgbClr val="12233A"/>
                </a:solidFill>
                <a:latin typeface="Calibri" pitchFamily="34" charset="0"/>
                <a:ea typeface="Calibri" pitchFamily="34" charset="-122"/>
                <a:cs typeface="Calibri" pitchFamily="34" charset="-120"/>
              </a:rPr>
              <a:t>MySQL</a:t>
            </a:r>
            <a:endParaRPr lang="en-US" sz="1000" dirty="0"/>
          </a:p>
        </p:txBody>
      </p:sp>
      <p:sp>
        <p:nvSpPr>
          <p:cNvPr id="36" name="Shape 27"/>
          <p:cNvSpPr/>
          <p:nvPr/>
        </p:nvSpPr>
        <p:spPr>
          <a:xfrm>
            <a:off x="4572000" y="3794760"/>
            <a:ext cx="1234440" cy="274320"/>
          </a:xfrm>
          <a:prstGeom prst="roundRect">
            <a:avLst>
              <a:gd name="adj" fmla="val 50000"/>
            </a:avLst>
          </a:prstGeom>
          <a:solidFill>
            <a:srgbClr val="E2EAF3"/>
          </a:solidFill>
          <a:ln w="12700">
            <a:solidFill>
              <a:srgbClr val="E2EAF3"/>
            </a:solidFill>
            <a:prstDash val="solid"/>
          </a:ln>
        </p:spPr>
        <p:txBody>
          <a:bodyPr/>
          <a:lstStyle/>
          <a:p>
            <a:endParaRPr lang="el-GR"/>
          </a:p>
        </p:txBody>
      </p:sp>
      <p:sp>
        <p:nvSpPr>
          <p:cNvPr id="37" name="Text 28"/>
          <p:cNvSpPr txBox="1"/>
          <p:nvPr/>
        </p:nvSpPr>
        <p:spPr>
          <a:xfrm>
            <a:off x="4572000" y="3794760"/>
            <a:ext cx="1234440" cy="274320"/>
          </a:xfrm>
          <a:prstGeom prst="rect">
            <a:avLst/>
          </a:prstGeom>
          <a:noFill/>
          <a:ln/>
        </p:spPr>
        <p:txBody>
          <a:bodyPr wrap="square" lIns="0" tIns="0" rIns="0" bIns="0" rtlCol="0" anchor="ctr"/>
          <a:lstStyle/>
          <a:p>
            <a:pPr marL="0" indent="0" algn="ctr">
              <a:buNone/>
            </a:pPr>
            <a:r>
              <a:rPr lang="en-US" sz="1000" b="1" dirty="0">
                <a:solidFill>
                  <a:srgbClr val="12233A"/>
                </a:solidFill>
                <a:latin typeface="Calibri" pitchFamily="34" charset="0"/>
                <a:ea typeface="Calibri" pitchFamily="34" charset="-122"/>
                <a:cs typeface="Calibri" pitchFamily="34" charset="-120"/>
              </a:rPr>
              <a:t>Oracle</a:t>
            </a:r>
            <a:endParaRPr lang="en-US" sz="1000" dirty="0"/>
          </a:p>
        </p:txBody>
      </p:sp>
      <p:sp>
        <p:nvSpPr>
          <p:cNvPr id="38" name="Shape 29"/>
          <p:cNvSpPr/>
          <p:nvPr/>
        </p:nvSpPr>
        <p:spPr>
          <a:xfrm>
            <a:off x="5943600" y="3794760"/>
            <a:ext cx="1234440" cy="274320"/>
          </a:xfrm>
          <a:prstGeom prst="roundRect">
            <a:avLst>
              <a:gd name="adj" fmla="val 50000"/>
            </a:avLst>
          </a:prstGeom>
          <a:solidFill>
            <a:srgbClr val="E2EAF3"/>
          </a:solidFill>
          <a:ln w="12700">
            <a:solidFill>
              <a:srgbClr val="E2EAF3"/>
            </a:solidFill>
            <a:prstDash val="solid"/>
          </a:ln>
        </p:spPr>
        <p:txBody>
          <a:bodyPr/>
          <a:lstStyle/>
          <a:p>
            <a:endParaRPr lang="el-GR"/>
          </a:p>
        </p:txBody>
      </p:sp>
      <p:sp>
        <p:nvSpPr>
          <p:cNvPr id="39" name="Text 30"/>
          <p:cNvSpPr txBox="1"/>
          <p:nvPr/>
        </p:nvSpPr>
        <p:spPr>
          <a:xfrm>
            <a:off x="5943600" y="3794760"/>
            <a:ext cx="1234440" cy="274320"/>
          </a:xfrm>
          <a:prstGeom prst="rect">
            <a:avLst/>
          </a:prstGeom>
          <a:noFill/>
          <a:ln/>
        </p:spPr>
        <p:txBody>
          <a:bodyPr wrap="square" lIns="0" tIns="0" rIns="0" bIns="0" rtlCol="0" anchor="ctr"/>
          <a:lstStyle/>
          <a:p>
            <a:pPr marL="0" indent="0" algn="ctr">
              <a:buNone/>
            </a:pPr>
            <a:r>
              <a:rPr lang="en-US" sz="1000" b="1" dirty="0">
                <a:solidFill>
                  <a:srgbClr val="12233A"/>
                </a:solidFill>
                <a:latin typeface="Calibri" pitchFamily="34" charset="0"/>
                <a:ea typeface="Calibri" pitchFamily="34" charset="-122"/>
                <a:cs typeface="Calibri" pitchFamily="34" charset="-120"/>
              </a:rPr>
              <a:t>SQLite</a:t>
            </a:r>
            <a:endParaRPr lang="en-US" sz="1000" dirty="0"/>
          </a:p>
        </p:txBody>
      </p:sp>
      <p:sp>
        <p:nvSpPr>
          <p:cNvPr id="40" name="Text 31"/>
          <p:cNvSpPr txBox="1"/>
          <p:nvPr/>
        </p:nvSpPr>
        <p:spPr>
          <a:xfrm>
            <a:off x="7315200" y="3794760"/>
            <a:ext cx="1371600" cy="274320"/>
          </a:xfrm>
          <a:prstGeom prst="rect">
            <a:avLst/>
          </a:prstGeom>
          <a:noFill/>
          <a:ln/>
        </p:spPr>
        <p:txBody>
          <a:bodyPr wrap="square" lIns="0" tIns="0" rIns="0" bIns="0" rtlCol="0" anchor="ctr"/>
          <a:lstStyle/>
          <a:p>
            <a:pPr marL="0" indent="0">
              <a:buNone/>
            </a:pPr>
            <a:r>
              <a:rPr lang="en-US" sz="1000" i="1" dirty="0">
                <a:solidFill>
                  <a:srgbClr val="5B6B7F"/>
                </a:solidFill>
                <a:latin typeface="Calibri" pitchFamily="34" charset="0"/>
                <a:ea typeface="Calibri" pitchFamily="34" charset="-122"/>
                <a:cs typeface="Calibri" pitchFamily="34" charset="-120"/>
              </a:rPr>
              <a:t>← σε αυτό το μάθημα</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Το σχεσιακό μοντέλο</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Τα δεδομένα οργανώνονται σε πίνακες (σχέσεις) που συνδέονται μεταξύ τους</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486400" cy="914400"/>
        </p:xfrm>
        <a:graphic>
          <a:graphicData uri="http://schemas.openxmlformats.org/drawingml/2006/table">
            <a:tbl>
              <a:tblPr/>
              <a:tblGrid>
                <a:gridCol w="10058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CompanyID</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Ticker</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CompanyName</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SectorID</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Country</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ATLB</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Atlas Bank</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Ελλάδα</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KRNB</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Kronos Bancorp</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Κύπρος</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PGSF</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Pegasus Financial</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Ελλάδα</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OLYE</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Olympus Energy</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Ελλάδα</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HLSP</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Helios Power</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200" dirty="0">
                          <a:solidFill>
                            <a:srgbClr val="12233A"/>
                          </a:solidFill>
                          <a:latin typeface="Calibri" pitchFamily="34" charset="0"/>
                          <a:ea typeface="Calibri" pitchFamily="34" charset="-122"/>
                          <a:cs typeface="Calibri" pitchFamily="34" charset="-120"/>
                        </a:rPr>
                        <a:t>Ελλάδα</a:t>
                      </a:r>
                      <a:endParaRPr lang="en-US" sz="12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457200" y="2514600"/>
            <a:ext cx="5486400" cy="365760"/>
          </a:xfrm>
          <a:prstGeom prst="rect">
            <a:avLst/>
          </a:prstGeom>
          <a:solidFill>
            <a:srgbClr val="2EC4B6">
              <a:alpha val="28000"/>
            </a:srgbClr>
          </a:solidFill>
          <a:ln w="19050">
            <a:solidFill>
              <a:srgbClr val="1A9E92"/>
            </a:solidFill>
            <a:prstDash val="solid"/>
          </a:ln>
        </p:spPr>
        <p:txBody>
          <a:bodyPr/>
          <a:lstStyle/>
          <a:p>
            <a:endParaRPr lang="el-GR"/>
          </a:p>
        </p:txBody>
      </p:sp>
      <p:sp>
        <p:nvSpPr>
          <p:cNvPr id="8" name="Shape 5"/>
          <p:cNvSpPr/>
          <p:nvPr/>
        </p:nvSpPr>
        <p:spPr>
          <a:xfrm>
            <a:off x="2286000" y="1417320"/>
            <a:ext cx="1691640" cy="2194560"/>
          </a:xfrm>
          <a:prstGeom prst="rect">
            <a:avLst/>
          </a:prstGeom>
          <a:solidFill>
            <a:srgbClr val="F2B134">
              <a:alpha val="25000"/>
            </a:srgbClr>
          </a:solidFill>
          <a:ln w="19050">
            <a:solidFill>
              <a:srgbClr val="F2B134"/>
            </a:solidFill>
            <a:prstDash val="solid"/>
          </a:ln>
        </p:spPr>
        <p:txBody>
          <a:bodyPr/>
          <a:lstStyle/>
          <a:p>
            <a:endParaRPr lang="el-GR"/>
          </a:p>
        </p:txBody>
      </p:sp>
      <p:sp>
        <p:nvSpPr>
          <p:cNvPr id="9" name="Shape 6"/>
          <p:cNvSpPr/>
          <p:nvPr/>
        </p:nvSpPr>
        <p:spPr>
          <a:xfrm>
            <a:off x="6263640" y="1490472"/>
            <a:ext cx="201168" cy="201168"/>
          </a:xfrm>
          <a:prstGeom prst="ellipse">
            <a:avLst/>
          </a:prstGeom>
          <a:solidFill>
            <a:srgbClr val="12233A"/>
          </a:solidFill>
          <a:ln w="12700">
            <a:solidFill>
              <a:srgbClr val="12233A"/>
            </a:solidFill>
            <a:prstDash val="solid"/>
          </a:ln>
        </p:spPr>
        <p:txBody>
          <a:bodyPr/>
          <a:lstStyle/>
          <a:p>
            <a:endParaRPr lang="el-GR"/>
          </a:p>
        </p:txBody>
      </p:sp>
      <p:sp>
        <p:nvSpPr>
          <p:cNvPr id="6" name="Text 7"/>
          <p:cNvSpPr txBox="1"/>
          <p:nvPr/>
        </p:nvSpPr>
        <p:spPr>
          <a:xfrm>
            <a:off x="6583680" y="1417320"/>
            <a:ext cx="2148840" cy="685800"/>
          </a:xfrm>
          <a:prstGeom prst="rect">
            <a:avLst/>
          </a:prstGeom>
          <a:noFill/>
          <a:ln/>
        </p:spPr>
        <p:txBody>
          <a:bodyPr wrap="square" lIns="0" tIns="0" rIns="0" bIns="0" rtlCol="0" anchor="t"/>
          <a:lstStyle/>
          <a:p>
            <a:pPr marL="0" indent="0">
              <a:buNone/>
            </a:pPr>
            <a:r>
              <a:rPr lang="en-US" sz="1300" b="1" dirty="0">
                <a:solidFill>
                  <a:srgbClr val="12233A"/>
                </a:solidFill>
                <a:latin typeface="Calibri" pitchFamily="34" charset="0"/>
                <a:ea typeface="Calibri" pitchFamily="34" charset="-122"/>
                <a:cs typeface="Calibri" pitchFamily="34" charset="-120"/>
              </a:rPr>
              <a:t>Πίνακας · table (relation)</a:t>
            </a:r>
            <a:endParaRPr lang="en-US" sz="1400" dirty="0"/>
          </a:p>
          <a:p>
            <a:pPr marL="0" indent="0">
              <a:buNone/>
            </a:pPr>
            <a:r>
              <a:rPr lang="en-US" sz="1100" dirty="0">
                <a:solidFill>
                  <a:srgbClr val="5B6B7F"/>
                </a:solidFill>
                <a:latin typeface="Calibri" pitchFamily="34" charset="0"/>
                <a:ea typeface="Calibri" pitchFamily="34" charset="-122"/>
                <a:cs typeface="Calibri" pitchFamily="34" charset="-120"/>
              </a:rPr>
              <a:t>Ένα «θέμα»: εδώ, οι εταιρείες</a:t>
            </a:r>
            <a:endParaRPr lang="en-US" sz="1400" dirty="0"/>
          </a:p>
        </p:txBody>
      </p:sp>
      <p:sp>
        <p:nvSpPr>
          <p:cNvPr id="11" name="Shape 8"/>
          <p:cNvSpPr/>
          <p:nvPr/>
        </p:nvSpPr>
        <p:spPr>
          <a:xfrm>
            <a:off x="6263640" y="2267712"/>
            <a:ext cx="201168" cy="201168"/>
          </a:xfrm>
          <a:prstGeom prst="ellipse">
            <a:avLst/>
          </a:prstGeom>
          <a:solidFill>
            <a:srgbClr val="1A9E92"/>
          </a:solidFill>
          <a:ln w="12700">
            <a:solidFill>
              <a:srgbClr val="1A9E92"/>
            </a:solidFill>
            <a:prstDash val="solid"/>
          </a:ln>
        </p:spPr>
        <p:txBody>
          <a:bodyPr/>
          <a:lstStyle/>
          <a:p>
            <a:endParaRPr lang="el-GR"/>
          </a:p>
        </p:txBody>
      </p:sp>
      <p:sp>
        <p:nvSpPr>
          <p:cNvPr id="12" name="Text 9"/>
          <p:cNvSpPr txBox="1"/>
          <p:nvPr/>
        </p:nvSpPr>
        <p:spPr>
          <a:xfrm>
            <a:off x="6583680" y="2194560"/>
            <a:ext cx="2148840" cy="685800"/>
          </a:xfrm>
          <a:prstGeom prst="rect">
            <a:avLst/>
          </a:prstGeom>
          <a:noFill/>
          <a:ln/>
        </p:spPr>
        <p:txBody>
          <a:bodyPr wrap="square" lIns="0" tIns="0" rIns="0" bIns="0" rtlCol="0" anchor="t"/>
          <a:lstStyle/>
          <a:p>
            <a:pPr marL="0" indent="0">
              <a:buNone/>
            </a:pPr>
            <a:r>
              <a:rPr lang="en-US" sz="1300" b="1" dirty="0">
                <a:solidFill>
                  <a:srgbClr val="12233A"/>
                </a:solidFill>
                <a:latin typeface="Calibri" pitchFamily="34" charset="0"/>
                <a:ea typeface="Calibri" pitchFamily="34" charset="-122"/>
                <a:cs typeface="Calibri" pitchFamily="34" charset="-120"/>
              </a:rPr>
              <a:t>Γραμμή · row (record)</a:t>
            </a:r>
            <a:endParaRPr lang="en-US" sz="1400" dirty="0"/>
          </a:p>
          <a:p>
            <a:pPr marL="0" indent="0">
              <a:buNone/>
            </a:pPr>
            <a:r>
              <a:rPr lang="en-US" sz="1100" dirty="0">
                <a:solidFill>
                  <a:srgbClr val="5B6B7F"/>
                </a:solidFill>
                <a:latin typeface="Calibri" pitchFamily="34" charset="0"/>
                <a:ea typeface="Calibri" pitchFamily="34" charset="-122"/>
                <a:cs typeface="Calibri" pitchFamily="34" charset="-120"/>
              </a:rPr>
              <a:t>Μία εταιρεία = μία εγγραφή</a:t>
            </a:r>
            <a:endParaRPr lang="en-US" sz="1400" dirty="0"/>
          </a:p>
        </p:txBody>
      </p:sp>
      <p:sp>
        <p:nvSpPr>
          <p:cNvPr id="13" name="Shape 10"/>
          <p:cNvSpPr/>
          <p:nvPr/>
        </p:nvSpPr>
        <p:spPr>
          <a:xfrm>
            <a:off x="6263640" y="3044952"/>
            <a:ext cx="201168" cy="201168"/>
          </a:xfrm>
          <a:prstGeom prst="ellipse">
            <a:avLst/>
          </a:prstGeom>
          <a:solidFill>
            <a:srgbClr val="F2B134"/>
          </a:solidFill>
          <a:ln w="12700">
            <a:solidFill>
              <a:srgbClr val="F2B134"/>
            </a:solidFill>
            <a:prstDash val="solid"/>
          </a:ln>
        </p:spPr>
        <p:txBody>
          <a:bodyPr/>
          <a:lstStyle/>
          <a:p>
            <a:endParaRPr lang="el-GR"/>
          </a:p>
        </p:txBody>
      </p:sp>
      <p:sp>
        <p:nvSpPr>
          <p:cNvPr id="14" name="Text 11"/>
          <p:cNvSpPr txBox="1"/>
          <p:nvPr/>
        </p:nvSpPr>
        <p:spPr>
          <a:xfrm>
            <a:off x="6583680" y="2971800"/>
            <a:ext cx="2148840" cy="685800"/>
          </a:xfrm>
          <a:prstGeom prst="rect">
            <a:avLst/>
          </a:prstGeom>
          <a:noFill/>
          <a:ln/>
        </p:spPr>
        <p:txBody>
          <a:bodyPr wrap="square" lIns="0" tIns="0" rIns="0" bIns="0" rtlCol="0" anchor="t"/>
          <a:lstStyle/>
          <a:p>
            <a:pPr marL="0" indent="0">
              <a:buNone/>
            </a:pPr>
            <a:r>
              <a:rPr lang="en-US" sz="1300" b="1" dirty="0">
                <a:solidFill>
                  <a:srgbClr val="12233A"/>
                </a:solidFill>
                <a:latin typeface="Calibri" pitchFamily="34" charset="0"/>
                <a:ea typeface="Calibri" pitchFamily="34" charset="-122"/>
                <a:cs typeface="Calibri" pitchFamily="34" charset="-120"/>
              </a:rPr>
              <a:t>Στήλη · column (attribute)</a:t>
            </a:r>
            <a:endParaRPr lang="en-US" sz="1400" dirty="0"/>
          </a:p>
          <a:p>
            <a:pPr marL="0" indent="0">
              <a:buNone/>
            </a:pPr>
            <a:r>
              <a:rPr lang="en-US" sz="1100" dirty="0">
                <a:solidFill>
                  <a:srgbClr val="5B6B7F"/>
                </a:solidFill>
                <a:latin typeface="Calibri" pitchFamily="34" charset="0"/>
                <a:ea typeface="Calibri" pitchFamily="34" charset="-122"/>
                <a:cs typeface="Calibri" pitchFamily="34" charset="-120"/>
              </a:rPr>
              <a:t>Ένα χαρακτηριστικό, ίδιου τύπου για όλες</a:t>
            </a:r>
            <a:endParaRPr lang="en-US" sz="1400" dirty="0"/>
          </a:p>
        </p:txBody>
      </p:sp>
      <p:sp>
        <p:nvSpPr>
          <p:cNvPr id="15" name="Text 12"/>
          <p:cNvSpPr txBox="1"/>
          <p:nvPr/>
        </p:nvSpPr>
        <p:spPr>
          <a:xfrm>
            <a:off x="457200" y="3931920"/>
            <a:ext cx="8229600" cy="457200"/>
          </a:xfrm>
          <a:prstGeom prst="rect">
            <a:avLst/>
          </a:prstGeom>
          <a:noFill/>
          <a:ln/>
        </p:spPr>
        <p:txBody>
          <a:bodyPr wrap="square" lIns="0" tIns="0" rIns="0" bIns="0" rtlCol="0" anchor="t"/>
          <a:lstStyle/>
          <a:p>
            <a:pPr marL="0" indent="0">
              <a:buNone/>
            </a:pPr>
            <a:r>
              <a:rPr lang="en-US" sz="1300" b="1" dirty="0">
                <a:solidFill>
                  <a:srgbClr val="12233A"/>
                </a:solidFill>
                <a:latin typeface="Calibri" pitchFamily="34" charset="0"/>
                <a:ea typeface="Calibri" pitchFamily="34" charset="-122"/>
                <a:cs typeface="Calibri" pitchFamily="34" charset="-120"/>
              </a:rPr>
              <a:t>Κάθε γραμμή είναι μοναδική</a:t>
            </a:r>
            <a:r>
              <a:rPr lang="en-US" sz="1300" dirty="0">
                <a:solidFill>
                  <a:srgbClr val="12233A"/>
                </a:solidFill>
                <a:latin typeface="Calibri" pitchFamily="34" charset="0"/>
                <a:ea typeface="Calibri" pitchFamily="34" charset="-122"/>
                <a:cs typeface="Calibri" pitchFamily="34" charset="-120"/>
              </a:rPr>
              <a:t> — την ξεχωρίζει το πρωτεύον κλειδί (εδώ: CompanyID).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Η βάση του εξαμήνου: StockMarketDB</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Ένα χρηματιστήριο με εισηγμένες εταιρείες, τιμές μετοχών και οικονομικά στοιχεία</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457200" y="1371600"/>
            <a:ext cx="1783080" cy="777240"/>
          </a:xfrm>
          <a:prstGeom prst="roundRect">
            <a:avLst>
              <a:gd name="adj" fmla="val 9412"/>
            </a:avLst>
          </a:prstGeom>
          <a:solidFill>
            <a:srgbClr val="EEF3F8"/>
          </a:solidFill>
          <a:ln w="12700">
            <a:solidFill>
              <a:srgbClr val="EEF3F8"/>
            </a:solidFill>
            <a:prstDash val="solid"/>
          </a:ln>
        </p:spPr>
        <p:txBody>
          <a:bodyPr/>
          <a:lstStyle/>
          <a:p>
            <a:endParaRPr lang="el-GR"/>
          </a:p>
        </p:txBody>
      </p:sp>
      <p:sp>
        <p:nvSpPr>
          <p:cNvPr id="7" name="Shape 5"/>
          <p:cNvSpPr/>
          <p:nvPr/>
        </p:nvSpPr>
        <p:spPr>
          <a:xfrm>
            <a:off x="457200" y="1371600"/>
            <a:ext cx="1783080" cy="292608"/>
          </a:xfrm>
          <a:prstGeom prst="roundRect">
            <a:avLst>
              <a:gd name="adj" fmla="val 25000"/>
            </a:avLst>
          </a:prstGeom>
          <a:solidFill>
            <a:srgbClr val="12233A"/>
          </a:solidFill>
          <a:ln w="12700">
            <a:solidFill>
              <a:srgbClr val="12233A"/>
            </a:solidFill>
            <a:prstDash val="solid"/>
          </a:ln>
        </p:spPr>
        <p:txBody>
          <a:bodyPr/>
          <a:lstStyle/>
          <a:p>
            <a:endParaRPr lang="el-GR"/>
          </a:p>
        </p:txBody>
      </p:sp>
      <p:sp>
        <p:nvSpPr>
          <p:cNvPr id="8" name="Text 6"/>
          <p:cNvSpPr txBox="1"/>
          <p:nvPr/>
        </p:nvSpPr>
        <p:spPr>
          <a:xfrm>
            <a:off x="566928" y="1371600"/>
            <a:ext cx="1600200"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Sectors</a:t>
            </a:r>
            <a:endParaRPr lang="en-US" sz="1100" dirty="0"/>
          </a:p>
        </p:txBody>
      </p:sp>
      <p:sp>
        <p:nvSpPr>
          <p:cNvPr id="9" name="Text 7"/>
          <p:cNvSpPr txBox="1"/>
          <p:nvPr/>
        </p:nvSpPr>
        <p:spPr>
          <a:xfrm>
            <a:off x="566928" y="1719072"/>
            <a:ext cx="1600200" cy="393192"/>
          </a:xfrm>
          <a:prstGeom prst="rect">
            <a:avLst/>
          </a:prstGeom>
          <a:noFill/>
          <a:ln/>
        </p:spPr>
        <p:txBody>
          <a:bodyPr wrap="square" lIns="0" tIns="0" rIns="0" bIns="0" rtlCol="0" anchor="t"/>
          <a:lstStyle/>
          <a:p>
            <a:pPr marL="0" indent="0">
              <a:lnSpc>
                <a:spcPct val="100000"/>
              </a:lnSpc>
              <a:buNone/>
            </a:pPr>
            <a:r>
              <a:rPr lang="en-US" sz="850" b="1" dirty="0">
                <a:solidFill>
                  <a:srgbClr val="C0304A"/>
                </a:solidFill>
                <a:latin typeface="Calibri" pitchFamily="34" charset="0"/>
                <a:ea typeface="Calibri" pitchFamily="34" charset="-122"/>
                <a:cs typeface="Calibri" pitchFamily="34" charset="-120"/>
              </a:rPr>
              <a:t>PK </a:t>
            </a:r>
            <a:r>
              <a:rPr lang="en-US" sz="950" dirty="0">
                <a:solidFill>
                  <a:srgbClr val="12233A"/>
                </a:solidFill>
                <a:latin typeface="Courier New" pitchFamily="34" charset="0"/>
                <a:ea typeface="Courier New" pitchFamily="34" charset="-122"/>
                <a:cs typeface="Courier New" pitchFamily="34" charset="-120"/>
              </a:rPr>
              <a:t>SectorID</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SectorName</a:t>
            </a:r>
            <a:endParaRPr lang="en-US" sz="1400" dirty="0"/>
          </a:p>
        </p:txBody>
      </p:sp>
      <p:sp>
        <p:nvSpPr>
          <p:cNvPr id="10" name="Shape 8"/>
          <p:cNvSpPr/>
          <p:nvPr/>
        </p:nvSpPr>
        <p:spPr>
          <a:xfrm>
            <a:off x="2743200" y="1280160"/>
            <a:ext cx="2103120" cy="1956816"/>
          </a:xfrm>
          <a:prstGeom prst="roundRect">
            <a:avLst>
              <a:gd name="adj" fmla="val 3738"/>
            </a:avLst>
          </a:prstGeom>
          <a:solidFill>
            <a:srgbClr val="EEF3F8"/>
          </a:solidFill>
          <a:ln w="12700">
            <a:solidFill>
              <a:srgbClr val="EEF3F8"/>
            </a:solidFill>
            <a:prstDash val="solid"/>
          </a:ln>
        </p:spPr>
        <p:txBody>
          <a:bodyPr/>
          <a:lstStyle/>
          <a:p>
            <a:endParaRPr lang="el-GR"/>
          </a:p>
        </p:txBody>
      </p:sp>
      <p:sp>
        <p:nvSpPr>
          <p:cNvPr id="11" name="Shape 9"/>
          <p:cNvSpPr/>
          <p:nvPr/>
        </p:nvSpPr>
        <p:spPr>
          <a:xfrm>
            <a:off x="2743200" y="1280160"/>
            <a:ext cx="2103120" cy="292608"/>
          </a:xfrm>
          <a:prstGeom prst="roundRect">
            <a:avLst>
              <a:gd name="adj" fmla="val 25000"/>
            </a:avLst>
          </a:prstGeom>
          <a:solidFill>
            <a:srgbClr val="C0304A"/>
          </a:solidFill>
          <a:ln w="12700">
            <a:solidFill>
              <a:srgbClr val="C0304A"/>
            </a:solidFill>
            <a:prstDash val="solid"/>
          </a:ln>
        </p:spPr>
        <p:txBody>
          <a:bodyPr/>
          <a:lstStyle/>
          <a:p>
            <a:endParaRPr lang="el-GR"/>
          </a:p>
        </p:txBody>
      </p:sp>
      <p:sp>
        <p:nvSpPr>
          <p:cNvPr id="12" name="Text 10"/>
          <p:cNvSpPr txBox="1"/>
          <p:nvPr/>
        </p:nvSpPr>
        <p:spPr>
          <a:xfrm>
            <a:off x="2852928" y="128016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Companies</a:t>
            </a:r>
            <a:endParaRPr lang="en-US" sz="1100" dirty="0"/>
          </a:p>
        </p:txBody>
      </p:sp>
      <p:sp>
        <p:nvSpPr>
          <p:cNvPr id="13" name="Text 11"/>
          <p:cNvSpPr txBox="1"/>
          <p:nvPr/>
        </p:nvSpPr>
        <p:spPr>
          <a:xfrm>
            <a:off x="2852928" y="1627632"/>
            <a:ext cx="1920240" cy="1572768"/>
          </a:xfrm>
          <a:prstGeom prst="rect">
            <a:avLst/>
          </a:prstGeom>
          <a:noFill/>
          <a:ln/>
        </p:spPr>
        <p:txBody>
          <a:bodyPr wrap="square" lIns="0" tIns="0" rIns="0" bIns="0" rtlCol="0" anchor="t"/>
          <a:lstStyle/>
          <a:p>
            <a:pPr marL="0" indent="0">
              <a:lnSpc>
                <a:spcPct val="100000"/>
              </a:lnSpc>
              <a:buNone/>
            </a:pPr>
            <a:r>
              <a:rPr lang="en-US" sz="850" b="1" dirty="0">
                <a:solidFill>
                  <a:srgbClr val="C0304A"/>
                </a:solidFill>
                <a:latin typeface="Calibri" pitchFamily="34" charset="0"/>
                <a:ea typeface="Calibri" pitchFamily="34" charset="-122"/>
                <a:cs typeface="Calibri" pitchFamily="34" charset="-120"/>
              </a:rPr>
              <a:t>PK </a:t>
            </a:r>
            <a:r>
              <a:rPr lang="en-US" sz="950" dirty="0">
                <a:solidFill>
                  <a:srgbClr val="12233A"/>
                </a:solidFill>
                <a:latin typeface="Courier New" pitchFamily="34" charset="0"/>
                <a:ea typeface="Courier New" pitchFamily="34" charset="-122"/>
                <a:cs typeface="Courier New" pitchFamily="34" charset="-120"/>
              </a:rPr>
              <a:t>CompanyID</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Ticker</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CompanyName</a:t>
            </a:r>
            <a:endParaRPr lang="en-US" sz="1400" dirty="0"/>
          </a:p>
          <a:p>
            <a:pPr marL="0" indent="0">
              <a:lnSpc>
                <a:spcPct val="100000"/>
              </a:lnSpc>
              <a:buNone/>
            </a:pPr>
            <a:r>
              <a:rPr lang="en-US" sz="850" b="1" dirty="0">
                <a:solidFill>
                  <a:srgbClr val="1A9E92"/>
                </a:solidFill>
                <a:latin typeface="Calibri" pitchFamily="34" charset="0"/>
                <a:ea typeface="Calibri" pitchFamily="34" charset="-122"/>
                <a:cs typeface="Calibri" pitchFamily="34" charset="-120"/>
              </a:rPr>
              <a:t>FK </a:t>
            </a:r>
            <a:r>
              <a:rPr lang="en-US" sz="950" dirty="0">
                <a:solidFill>
                  <a:srgbClr val="12233A"/>
                </a:solidFill>
                <a:latin typeface="Courier New" pitchFamily="34" charset="0"/>
                <a:ea typeface="Courier New" pitchFamily="34" charset="-122"/>
                <a:cs typeface="Courier New" pitchFamily="34" charset="-120"/>
              </a:rPr>
              <a:t>SectorID</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Country</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FoundedYear</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Employees</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ListingDate</a:t>
            </a:r>
            <a:endParaRPr lang="en-US" sz="1400" dirty="0"/>
          </a:p>
        </p:txBody>
      </p:sp>
      <p:sp>
        <p:nvSpPr>
          <p:cNvPr id="14" name="Shape 12"/>
          <p:cNvSpPr/>
          <p:nvPr/>
        </p:nvSpPr>
        <p:spPr>
          <a:xfrm>
            <a:off x="5760720" y="1234440"/>
            <a:ext cx="2377440" cy="1170432"/>
          </a:xfrm>
          <a:prstGeom prst="roundRect">
            <a:avLst>
              <a:gd name="adj" fmla="val 6250"/>
            </a:avLst>
          </a:prstGeom>
          <a:solidFill>
            <a:srgbClr val="EEF3F8"/>
          </a:solidFill>
          <a:ln w="12700">
            <a:solidFill>
              <a:srgbClr val="EEF3F8"/>
            </a:solidFill>
            <a:prstDash val="solid"/>
          </a:ln>
        </p:spPr>
        <p:txBody>
          <a:bodyPr/>
          <a:lstStyle/>
          <a:p>
            <a:endParaRPr lang="el-GR"/>
          </a:p>
        </p:txBody>
      </p:sp>
      <p:sp>
        <p:nvSpPr>
          <p:cNvPr id="15" name="Shape 13"/>
          <p:cNvSpPr/>
          <p:nvPr/>
        </p:nvSpPr>
        <p:spPr>
          <a:xfrm>
            <a:off x="5760720" y="1234440"/>
            <a:ext cx="2377440" cy="292608"/>
          </a:xfrm>
          <a:prstGeom prst="roundRect">
            <a:avLst>
              <a:gd name="adj" fmla="val 25000"/>
            </a:avLst>
          </a:prstGeom>
          <a:solidFill>
            <a:srgbClr val="12233A"/>
          </a:solidFill>
          <a:ln w="12700">
            <a:solidFill>
              <a:srgbClr val="12233A"/>
            </a:solidFill>
            <a:prstDash val="solid"/>
          </a:ln>
        </p:spPr>
        <p:txBody>
          <a:bodyPr/>
          <a:lstStyle/>
          <a:p>
            <a:endParaRPr lang="el-GR"/>
          </a:p>
        </p:txBody>
      </p:sp>
      <p:sp>
        <p:nvSpPr>
          <p:cNvPr id="16" name="Text 14"/>
          <p:cNvSpPr txBox="1"/>
          <p:nvPr/>
        </p:nvSpPr>
        <p:spPr>
          <a:xfrm>
            <a:off x="5870448" y="1234440"/>
            <a:ext cx="2194560"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StockPrices</a:t>
            </a:r>
            <a:endParaRPr lang="en-US" sz="1100" dirty="0"/>
          </a:p>
        </p:txBody>
      </p:sp>
      <p:sp>
        <p:nvSpPr>
          <p:cNvPr id="17" name="Text 15"/>
          <p:cNvSpPr txBox="1"/>
          <p:nvPr/>
        </p:nvSpPr>
        <p:spPr>
          <a:xfrm>
            <a:off x="5870448" y="1581912"/>
            <a:ext cx="2194560" cy="786384"/>
          </a:xfrm>
          <a:prstGeom prst="rect">
            <a:avLst/>
          </a:prstGeom>
          <a:noFill/>
          <a:ln/>
        </p:spPr>
        <p:txBody>
          <a:bodyPr wrap="square" lIns="0" tIns="0" rIns="0" bIns="0" rtlCol="0" anchor="t"/>
          <a:lstStyle/>
          <a:p>
            <a:pPr marL="0" indent="0">
              <a:lnSpc>
                <a:spcPct val="100000"/>
              </a:lnSpc>
              <a:buNone/>
            </a:pPr>
            <a:r>
              <a:rPr lang="en-US" sz="850" b="1" dirty="0">
                <a:solidFill>
                  <a:srgbClr val="C0304A"/>
                </a:solidFill>
                <a:latin typeface="Calibri" pitchFamily="34" charset="0"/>
                <a:ea typeface="Calibri" pitchFamily="34" charset="-122"/>
                <a:cs typeface="Calibri" pitchFamily="34" charset="-120"/>
              </a:rPr>
              <a:t>PK FK </a:t>
            </a:r>
            <a:r>
              <a:rPr lang="en-US" sz="950" dirty="0">
                <a:solidFill>
                  <a:srgbClr val="12233A"/>
                </a:solidFill>
                <a:latin typeface="Courier New" pitchFamily="34" charset="0"/>
                <a:ea typeface="Courier New" pitchFamily="34" charset="-122"/>
                <a:cs typeface="Courier New" pitchFamily="34" charset="-120"/>
              </a:rPr>
              <a:t>CompanyID</a:t>
            </a:r>
            <a:endParaRPr lang="en-US" sz="1400" dirty="0"/>
          </a:p>
          <a:p>
            <a:pPr marL="0" indent="0">
              <a:lnSpc>
                <a:spcPct val="100000"/>
              </a:lnSpc>
              <a:buNone/>
            </a:pPr>
            <a:r>
              <a:rPr lang="en-US" sz="850" b="1" dirty="0">
                <a:solidFill>
                  <a:srgbClr val="C0304A"/>
                </a:solidFill>
                <a:latin typeface="Calibri" pitchFamily="34" charset="0"/>
                <a:ea typeface="Calibri" pitchFamily="34" charset="-122"/>
                <a:cs typeface="Calibri" pitchFamily="34" charset="-120"/>
              </a:rPr>
              <a:t>PK </a:t>
            </a:r>
            <a:r>
              <a:rPr lang="en-US" sz="950" dirty="0">
                <a:solidFill>
                  <a:srgbClr val="12233A"/>
                </a:solidFill>
                <a:latin typeface="Courier New" pitchFamily="34" charset="0"/>
                <a:ea typeface="Courier New" pitchFamily="34" charset="-122"/>
                <a:cs typeface="Courier New" pitchFamily="34" charset="-120"/>
              </a:rPr>
              <a:t>TradeDate</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Open/High/Low/ClosePrice</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Volume</a:t>
            </a:r>
            <a:endParaRPr lang="en-US" sz="1400" dirty="0"/>
          </a:p>
        </p:txBody>
      </p:sp>
      <p:sp>
        <p:nvSpPr>
          <p:cNvPr id="18" name="Shape 16"/>
          <p:cNvSpPr/>
          <p:nvPr/>
        </p:nvSpPr>
        <p:spPr>
          <a:xfrm>
            <a:off x="5760720" y="2514600"/>
            <a:ext cx="2377440" cy="1170432"/>
          </a:xfrm>
          <a:prstGeom prst="roundRect">
            <a:avLst>
              <a:gd name="adj" fmla="val 6250"/>
            </a:avLst>
          </a:prstGeom>
          <a:solidFill>
            <a:srgbClr val="EEF3F8"/>
          </a:solidFill>
          <a:ln w="12700">
            <a:solidFill>
              <a:srgbClr val="EEF3F8"/>
            </a:solidFill>
            <a:prstDash val="solid"/>
          </a:ln>
        </p:spPr>
        <p:txBody>
          <a:bodyPr/>
          <a:lstStyle/>
          <a:p>
            <a:endParaRPr lang="el-GR"/>
          </a:p>
        </p:txBody>
      </p:sp>
      <p:sp>
        <p:nvSpPr>
          <p:cNvPr id="19" name="Shape 17"/>
          <p:cNvSpPr/>
          <p:nvPr/>
        </p:nvSpPr>
        <p:spPr>
          <a:xfrm>
            <a:off x="5760720" y="2514600"/>
            <a:ext cx="2377440" cy="292608"/>
          </a:xfrm>
          <a:prstGeom prst="roundRect">
            <a:avLst>
              <a:gd name="adj" fmla="val 25000"/>
            </a:avLst>
          </a:prstGeom>
          <a:solidFill>
            <a:srgbClr val="12233A"/>
          </a:solidFill>
          <a:ln w="12700">
            <a:solidFill>
              <a:srgbClr val="12233A"/>
            </a:solidFill>
            <a:prstDash val="solid"/>
          </a:ln>
        </p:spPr>
        <p:txBody>
          <a:bodyPr/>
          <a:lstStyle/>
          <a:p>
            <a:endParaRPr lang="el-GR"/>
          </a:p>
        </p:txBody>
      </p:sp>
      <p:sp>
        <p:nvSpPr>
          <p:cNvPr id="20" name="Text 18"/>
          <p:cNvSpPr txBox="1"/>
          <p:nvPr/>
        </p:nvSpPr>
        <p:spPr>
          <a:xfrm>
            <a:off x="5870448" y="2514600"/>
            <a:ext cx="2194560"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Financials</a:t>
            </a:r>
            <a:endParaRPr lang="en-US" sz="1100" dirty="0"/>
          </a:p>
        </p:txBody>
      </p:sp>
      <p:sp>
        <p:nvSpPr>
          <p:cNvPr id="21" name="Text 19"/>
          <p:cNvSpPr txBox="1"/>
          <p:nvPr/>
        </p:nvSpPr>
        <p:spPr>
          <a:xfrm>
            <a:off x="5870448" y="2862072"/>
            <a:ext cx="2194560" cy="786384"/>
          </a:xfrm>
          <a:prstGeom prst="rect">
            <a:avLst/>
          </a:prstGeom>
          <a:noFill/>
          <a:ln/>
        </p:spPr>
        <p:txBody>
          <a:bodyPr wrap="square" lIns="0" tIns="0" rIns="0" bIns="0" rtlCol="0" anchor="t"/>
          <a:lstStyle/>
          <a:p>
            <a:pPr marL="0" indent="0">
              <a:lnSpc>
                <a:spcPct val="100000"/>
              </a:lnSpc>
              <a:buNone/>
            </a:pPr>
            <a:r>
              <a:rPr lang="en-US" sz="850" b="1" dirty="0">
                <a:solidFill>
                  <a:srgbClr val="C0304A"/>
                </a:solidFill>
                <a:latin typeface="Calibri" pitchFamily="34" charset="0"/>
                <a:ea typeface="Calibri" pitchFamily="34" charset="-122"/>
                <a:cs typeface="Calibri" pitchFamily="34" charset="-120"/>
              </a:rPr>
              <a:t>PK FK </a:t>
            </a:r>
            <a:r>
              <a:rPr lang="en-US" sz="950" dirty="0">
                <a:solidFill>
                  <a:srgbClr val="12233A"/>
                </a:solidFill>
                <a:latin typeface="Courier New" pitchFamily="34" charset="0"/>
                <a:ea typeface="Courier New" pitchFamily="34" charset="-122"/>
                <a:cs typeface="Courier New" pitchFamily="34" charset="-120"/>
              </a:rPr>
              <a:t>CompanyID</a:t>
            </a:r>
            <a:endParaRPr lang="en-US" sz="1400" dirty="0"/>
          </a:p>
          <a:p>
            <a:pPr marL="0" indent="0">
              <a:lnSpc>
                <a:spcPct val="100000"/>
              </a:lnSpc>
              <a:buNone/>
            </a:pPr>
            <a:r>
              <a:rPr lang="en-US" sz="850" b="1" dirty="0">
                <a:solidFill>
                  <a:srgbClr val="C0304A"/>
                </a:solidFill>
                <a:latin typeface="Calibri" pitchFamily="34" charset="0"/>
                <a:ea typeface="Calibri" pitchFamily="34" charset="-122"/>
                <a:cs typeface="Calibri" pitchFamily="34" charset="-120"/>
              </a:rPr>
              <a:t>PK </a:t>
            </a:r>
            <a:r>
              <a:rPr lang="en-US" sz="950" dirty="0">
                <a:solidFill>
                  <a:srgbClr val="12233A"/>
                </a:solidFill>
                <a:latin typeface="Courier New" pitchFamily="34" charset="0"/>
                <a:ea typeface="Courier New" pitchFamily="34" charset="-122"/>
                <a:cs typeface="Courier New" pitchFamily="34" charset="-120"/>
              </a:rPr>
              <a:t>FiscalYear</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Revenue, NetIncome</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TotalAssets, TotalDebt, Equity</a:t>
            </a:r>
            <a:endParaRPr lang="en-US" sz="1400" dirty="0"/>
          </a:p>
        </p:txBody>
      </p:sp>
      <p:sp>
        <p:nvSpPr>
          <p:cNvPr id="22" name="Shape 20"/>
          <p:cNvSpPr/>
          <p:nvPr/>
        </p:nvSpPr>
        <p:spPr>
          <a:xfrm>
            <a:off x="5760720" y="3794760"/>
            <a:ext cx="2377440" cy="973836"/>
          </a:xfrm>
          <a:prstGeom prst="roundRect">
            <a:avLst>
              <a:gd name="adj" fmla="val 7512"/>
            </a:avLst>
          </a:prstGeom>
          <a:solidFill>
            <a:srgbClr val="EEF3F8"/>
          </a:solidFill>
          <a:ln w="12700">
            <a:solidFill>
              <a:srgbClr val="EEF3F8"/>
            </a:solidFill>
            <a:prstDash val="solid"/>
          </a:ln>
        </p:spPr>
        <p:txBody>
          <a:bodyPr/>
          <a:lstStyle/>
          <a:p>
            <a:endParaRPr lang="el-GR"/>
          </a:p>
        </p:txBody>
      </p:sp>
      <p:sp>
        <p:nvSpPr>
          <p:cNvPr id="23" name="Shape 21"/>
          <p:cNvSpPr/>
          <p:nvPr/>
        </p:nvSpPr>
        <p:spPr>
          <a:xfrm>
            <a:off x="5760720" y="3794760"/>
            <a:ext cx="2377440" cy="292608"/>
          </a:xfrm>
          <a:prstGeom prst="roundRect">
            <a:avLst>
              <a:gd name="adj" fmla="val 25000"/>
            </a:avLst>
          </a:prstGeom>
          <a:solidFill>
            <a:srgbClr val="12233A"/>
          </a:solidFill>
          <a:ln w="12700">
            <a:solidFill>
              <a:srgbClr val="12233A"/>
            </a:solidFill>
            <a:prstDash val="solid"/>
          </a:ln>
        </p:spPr>
        <p:txBody>
          <a:bodyPr/>
          <a:lstStyle/>
          <a:p>
            <a:endParaRPr lang="el-GR"/>
          </a:p>
        </p:txBody>
      </p:sp>
      <p:sp>
        <p:nvSpPr>
          <p:cNvPr id="24" name="Text 22"/>
          <p:cNvSpPr txBox="1"/>
          <p:nvPr/>
        </p:nvSpPr>
        <p:spPr>
          <a:xfrm>
            <a:off x="5870448" y="3794760"/>
            <a:ext cx="2194560"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Dividends</a:t>
            </a:r>
            <a:endParaRPr lang="en-US" sz="1100" dirty="0"/>
          </a:p>
        </p:txBody>
      </p:sp>
      <p:sp>
        <p:nvSpPr>
          <p:cNvPr id="25" name="Text 23"/>
          <p:cNvSpPr txBox="1"/>
          <p:nvPr/>
        </p:nvSpPr>
        <p:spPr>
          <a:xfrm>
            <a:off x="5870448" y="4142232"/>
            <a:ext cx="2194560" cy="589788"/>
          </a:xfrm>
          <a:prstGeom prst="rect">
            <a:avLst/>
          </a:prstGeom>
          <a:noFill/>
          <a:ln/>
        </p:spPr>
        <p:txBody>
          <a:bodyPr wrap="square" lIns="0" tIns="0" rIns="0" bIns="0" rtlCol="0" anchor="t"/>
          <a:lstStyle/>
          <a:p>
            <a:pPr marL="0" indent="0">
              <a:lnSpc>
                <a:spcPct val="100000"/>
              </a:lnSpc>
              <a:buNone/>
            </a:pPr>
            <a:r>
              <a:rPr lang="en-US" sz="850" b="1" dirty="0">
                <a:solidFill>
                  <a:srgbClr val="C0304A"/>
                </a:solidFill>
                <a:latin typeface="Calibri" pitchFamily="34" charset="0"/>
                <a:ea typeface="Calibri" pitchFamily="34" charset="-122"/>
                <a:cs typeface="Calibri" pitchFamily="34" charset="-120"/>
              </a:rPr>
              <a:t>PK </a:t>
            </a:r>
            <a:r>
              <a:rPr lang="en-US" sz="950" dirty="0">
                <a:solidFill>
                  <a:srgbClr val="12233A"/>
                </a:solidFill>
                <a:latin typeface="Courier New" pitchFamily="34" charset="0"/>
                <a:ea typeface="Courier New" pitchFamily="34" charset="-122"/>
                <a:cs typeface="Courier New" pitchFamily="34" charset="-120"/>
              </a:rPr>
              <a:t>DividendID</a:t>
            </a:r>
            <a:endParaRPr lang="en-US" sz="1400" dirty="0"/>
          </a:p>
          <a:p>
            <a:pPr marL="0" indent="0">
              <a:lnSpc>
                <a:spcPct val="100000"/>
              </a:lnSpc>
              <a:buNone/>
            </a:pPr>
            <a:r>
              <a:rPr lang="en-US" sz="850" b="1" dirty="0">
                <a:solidFill>
                  <a:srgbClr val="1A9E92"/>
                </a:solidFill>
                <a:latin typeface="Calibri" pitchFamily="34" charset="0"/>
                <a:ea typeface="Calibri" pitchFamily="34" charset="-122"/>
                <a:cs typeface="Calibri" pitchFamily="34" charset="-120"/>
              </a:rPr>
              <a:t>FK </a:t>
            </a:r>
            <a:r>
              <a:rPr lang="en-US" sz="950" dirty="0">
                <a:solidFill>
                  <a:srgbClr val="12233A"/>
                </a:solidFill>
                <a:latin typeface="Courier New" pitchFamily="34" charset="0"/>
                <a:ea typeface="Courier New" pitchFamily="34" charset="-122"/>
                <a:cs typeface="Courier New" pitchFamily="34" charset="-120"/>
              </a:rPr>
              <a:t>CompanyID</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ExDate, AmountPerShare</a:t>
            </a:r>
            <a:endParaRPr lang="en-US" sz="1400" dirty="0"/>
          </a:p>
        </p:txBody>
      </p:sp>
      <p:sp>
        <p:nvSpPr>
          <p:cNvPr id="26" name="Shape 24"/>
          <p:cNvSpPr/>
          <p:nvPr/>
        </p:nvSpPr>
        <p:spPr>
          <a:xfrm>
            <a:off x="457200" y="3063240"/>
            <a:ext cx="1783080" cy="777240"/>
          </a:xfrm>
          <a:prstGeom prst="roundRect">
            <a:avLst>
              <a:gd name="adj" fmla="val 9412"/>
            </a:avLst>
          </a:prstGeom>
          <a:solidFill>
            <a:srgbClr val="EEF3F8"/>
          </a:solidFill>
          <a:ln w="12700">
            <a:solidFill>
              <a:srgbClr val="EEF3F8"/>
            </a:solidFill>
            <a:prstDash val="solid"/>
          </a:ln>
        </p:spPr>
        <p:txBody>
          <a:bodyPr/>
          <a:lstStyle/>
          <a:p>
            <a:endParaRPr lang="el-GR"/>
          </a:p>
        </p:txBody>
      </p:sp>
      <p:sp>
        <p:nvSpPr>
          <p:cNvPr id="27" name="Shape 25"/>
          <p:cNvSpPr/>
          <p:nvPr/>
        </p:nvSpPr>
        <p:spPr>
          <a:xfrm>
            <a:off x="457200" y="3063240"/>
            <a:ext cx="1783080" cy="292608"/>
          </a:xfrm>
          <a:prstGeom prst="roundRect">
            <a:avLst>
              <a:gd name="adj" fmla="val 25000"/>
            </a:avLst>
          </a:prstGeom>
          <a:solidFill>
            <a:srgbClr val="12233A"/>
          </a:solidFill>
          <a:ln w="12700">
            <a:solidFill>
              <a:srgbClr val="12233A"/>
            </a:solidFill>
            <a:prstDash val="solid"/>
          </a:ln>
        </p:spPr>
        <p:txBody>
          <a:bodyPr/>
          <a:lstStyle/>
          <a:p>
            <a:endParaRPr lang="el-GR"/>
          </a:p>
        </p:txBody>
      </p:sp>
      <p:sp>
        <p:nvSpPr>
          <p:cNvPr id="28" name="Text 26"/>
          <p:cNvSpPr txBox="1"/>
          <p:nvPr/>
        </p:nvSpPr>
        <p:spPr>
          <a:xfrm>
            <a:off x="566928" y="3063240"/>
            <a:ext cx="1600200" cy="292608"/>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MarketIndex</a:t>
            </a:r>
            <a:endParaRPr lang="en-US" sz="1100" dirty="0"/>
          </a:p>
        </p:txBody>
      </p:sp>
      <p:sp>
        <p:nvSpPr>
          <p:cNvPr id="29" name="Text 27"/>
          <p:cNvSpPr txBox="1"/>
          <p:nvPr/>
        </p:nvSpPr>
        <p:spPr>
          <a:xfrm>
            <a:off x="566928" y="3410712"/>
            <a:ext cx="1600200" cy="393192"/>
          </a:xfrm>
          <a:prstGeom prst="rect">
            <a:avLst/>
          </a:prstGeom>
          <a:noFill/>
          <a:ln/>
        </p:spPr>
        <p:txBody>
          <a:bodyPr wrap="square" lIns="0" tIns="0" rIns="0" bIns="0" rtlCol="0" anchor="t"/>
          <a:lstStyle/>
          <a:p>
            <a:pPr marL="0" indent="0">
              <a:lnSpc>
                <a:spcPct val="100000"/>
              </a:lnSpc>
              <a:buNone/>
            </a:pPr>
            <a:r>
              <a:rPr lang="en-US" sz="850" b="1" dirty="0">
                <a:solidFill>
                  <a:srgbClr val="C0304A"/>
                </a:solidFill>
                <a:latin typeface="Calibri" pitchFamily="34" charset="0"/>
                <a:ea typeface="Calibri" pitchFamily="34" charset="-122"/>
                <a:cs typeface="Calibri" pitchFamily="34" charset="-120"/>
              </a:rPr>
              <a:t>PK </a:t>
            </a:r>
            <a:r>
              <a:rPr lang="en-US" sz="950" dirty="0">
                <a:solidFill>
                  <a:srgbClr val="12233A"/>
                </a:solidFill>
                <a:latin typeface="Courier New" pitchFamily="34" charset="0"/>
                <a:ea typeface="Courier New" pitchFamily="34" charset="-122"/>
                <a:cs typeface="Courier New" pitchFamily="34" charset="-120"/>
              </a:rPr>
              <a:t>TradeDate</a:t>
            </a:r>
            <a:endParaRPr lang="en-US" sz="1400" dirty="0"/>
          </a:p>
          <a:p>
            <a:pPr marL="0" indent="0">
              <a:lnSpc>
                <a:spcPct val="100000"/>
              </a:lnSpc>
              <a:buNone/>
            </a:pPr>
            <a:r>
              <a:rPr lang="en-US" sz="950" dirty="0">
                <a:solidFill>
                  <a:srgbClr val="12233A"/>
                </a:solidFill>
                <a:latin typeface="Courier New" pitchFamily="34" charset="0"/>
                <a:ea typeface="Courier New" pitchFamily="34" charset="-122"/>
                <a:cs typeface="Courier New" pitchFamily="34" charset="-120"/>
              </a:rPr>
              <a:t>IndexClose</a:t>
            </a:r>
            <a:endParaRPr lang="en-US" sz="1400" dirty="0"/>
          </a:p>
        </p:txBody>
      </p:sp>
      <p:sp>
        <p:nvSpPr>
          <p:cNvPr id="30" name="Shape 28"/>
          <p:cNvSpPr/>
          <p:nvPr/>
        </p:nvSpPr>
        <p:spPr>
          <a:xfrm>
            <a:off x="2240280" y="1783080"/>
            <a:ext cx="502920" cy="0"/>
          </a:xfrm>
          <a:prstGeom prst="line">
            <a:avLst/>
          </a:prstGeom>
          <a:noFill/>
          <a:ln w="15875">
            <a:solidFill>
              <a:srgbClr val="5B6B7F"/>
            </a:solidFill>
            <a:prstDash val="solid"/>
          </a:ln>
        </p:spPr>
        <p:txBody>
          <a:bodyPr/>
          <a:lstStyle/>
          <a:p>
            <a:endParaRPr lang="el-GR"/>
          </a:p>
        </p:txBody>
      </p:sp>
      <p:sp>
        <p:nvSpPr>
          <p:cNvPr id="31" name="Shape 29"/>
          <p:cNvSpPr/>
          <p:nvPr/>
        </p:nvSpPr>
        <p:spPr>
          <a:xfrm>
            <a:off x="4846320" y="2194560"/>
            <a:ext cx="457200" cy="0"/>
          </a:xfrm>
          <a:prstGeom prst="line">
            <a:avLst/>
          </a:prstGeom>
          <a:noFill/>
          <a:ln w="15875">
            <a:solidFill>
              <a:srgbClr val="5B6B7F"/>
            </a:solidFill>
            <a:prstDash val="solid"/>
          </a:ln>
        </p:spPr>
        <p:txBody>
          <a:bodyPr/>
          <a:lstStyle/>
          <a:p>
            <a:endParaRPr lang="el-GR"/>
          </a:p>
        </p:txBody>
      </p:sp>
      <p:sp>
        <p:nvSpPr>
          <p:cNvPr id="32" name="Shape 30"/>
          <p:cNvSpPr/>
          <p:nvPr/>
        </p:nvSpPr>
        <p:spPr>
          <a:xfrm>
            <a:off x="5303520" y="1737360"/>
            <a:ext cx="0" cy="2514600"/>
          </a:xfrm>
          <a:prstGeom prst="line">
            <a:avLst/>
          </a:prstGeom>
          <a:noFill/>
          <a:ln w="15875">
            <a:solidFill>
              <a:srgbClr val="5B6B7F"/>
            </a:solidFill>
            <a:prstDash val="solid"/>
          </a:ln>
        </p:spPr>
        <p:txBody>
          <a:bodyPr/>
          <a:lstStyle/>
          <a:p>
            <a:endParaRPr lang="el-GR"/>
          </a:p>
        </p:txBody>
      </p:sp>
      <p:sp>
        <p:nvSpPr>
          <p:cNvPr id="33" name="Shape 31"/>
          <p:cNvSpPr/>
          <p:nvPr/>
        </p:nvSpPr>
        <p:spPr>
          <a:xfrm>
            <a:off x="5303520" y="1737360"/>
            <a:ext cx="457200" cy="0"/>
          </a:xfrm>
          <a:prstGeom prst="line">
            <a:avLst/>
          </a:prstGeom>
          <a:noFill/>
          <a:ln w="15875">
            <a:solidFill>
              <a:srgbClr val="5B6B7F"/>
            </a:solidFill>
            <a:prstDash val="solid"/>
          </a:ln>
        </p:spPr>
        <p:txBody>
          <a:bodyPr/>
          <a:lstStyle/>
          <a:p>
            <a:endParaRPr lang="el-GR"/>
          </a:p>
        </p:txBody>
      </p:sp>
      <p:sp>
        <p:nvSpPr>
          <p:cNvPr id="34" name="Shape 32"/>
          <p:cNvSpPr/>
          <p:nvPr/>
        </p:nvSpPr>
        <p:spPr>
          <a:xfrm>
            <a:off x="5303520" y="3017520"/>
            <a:ext cx="457200" cy="0"/>
          </a:xfrm>
          <a:prstGeom prst="line">
            <a:avLst/>
          </a:prstGeom>
          <a:noFill/>
          <a:ln w="15875">
            <a:solidFill>
              <a:srgbClr val="5B6B7F"/>
            </a:solidFill>
            <a:prstDash val="solid"/>
          </a:ln>
        </p:spPr>
        <p:txBody>
          <a:bodyPr/>
          <a:lstStyle/>
          <a:p>
            <a:endParaRPr lang="el-GR"/>
          </a:p>
        </p:txBody>
      </p:sp>
      <p:sp>
        <p:nvSpPr>
          <p:cNvPr id="35" name="Shape 33"/>
          <p:cNvSpPr/>
          <p:nvPr/>
        </p:nvSpPr>
        <p:spPr>
          <a:xfrm>
            <a:off x="5303520" y="4251960"/>
            <a:ext cx="457200" cy="0"/>
          </a:xfrm>
          <a:prstGeom prst="line">
            <a:avLst/>
          </a:prstGeom>
          <a:noFill/>
          <a:ln w="15875">
            <a:solidFill>
              <a:srgbClr val="5B6B7F"/>
            </a:solidFill>
            <a:prstDash val="solid"/>
          </a:ln>
        </p:spPr>
        <p:txBody>
          <a:bodyPr/>
          <a:lstStyle/>
          <a:p>
            <a:endParaRPr lang="el-GR"/>
          </a:p>
        </p:txBody>
      </p:sp>
      <p:sp>
        <p:nvSpPr>
          <p:cNvPr id="36" name="Text 34"/>
          <p:cNvSpPr txBox="1"/>
          <p:nvPr/>
        </p:nvSpPr>
        <p:spPr>
          <a:xfrm>
            <a:off x="457200" y="3931920"/>
            <a:ext cx="2011680" cy="411480"/>
          </a:xfrm>
          <a:prstGeom prst="rect">
            <a:avLst/>
          </a:prstGeom>
          <a:noFill/>
          <a:ln/>
        </p:spPr>
        <p:txBody>
          <a:bodyPr wrap="square" lIns="0" tIns="0" rIns="0" bIns="0" rtlCol="0" anchor="t"/>
          <a:lstStyle/>
          <a:p>
            <a:pPr marL="0" indent="0">
              <a:buNone/>
            </a:pPr>
            <a:r>
              <a:rPr lang="en-US" sz="1000" i="1" dirty="0">
                <a:solidFill>
                  <a:srgbClr val="5B6B7F"/>
                </a:solidFill>
                <a:latin typeface="Calibri" pitchFamily="34" charset="0"/>
                <a:ea typeface="Calibri" pitchFamily="34" charset="-122"/>
                <a:cs typeface="Calibri" pitchFamily="34" charset="-120"/>
              </a:rPr>
              <a:t>συνδέεται με τις τιμές</a:t>
            </a:r>
            <a:endParaRPr lang="en-US" sz="1000" dirty="0"/>
          </a:p>
          <a:p>
            <a:pPr marL="0" indent="0">
              <a:buNone/>
            </a:pPr>
            <a:r>
              <a:rPr lang="en-US" sz="1000" i="1" dirty="0">
                <a:solidFill>
                  <a:srgbClr val="5B6B7F"/>
                </a:solidFill>
                <a:latin typeface="Calibri" pitchFamily="34" charset="0"/>
                <a:ea typeface="Calibri" pitchFamily="34" charset="-122"/>
                <a:cs typeface="Calibri" pitchFamily="34" charset="-120"/>
              </a:rPr>
              <a:t>μέσω TradeDate</a:t>
            </a:r>
            <a:endParaRPr lang="en-US" sz="1000" dirty="0"/>
          </a:p>
        </p:txBody>
      </p:sp>
      <p:sp>
        <p:nvSpPr>
          <p:cNvPr id="37" name="Text 35"/>
          <p:cNvSpPr txBox="1"/>
          <p:nvPr/>
        </p:nvSpPr>
        <p:spPr>
          <a:xfrm>
            <a:off x="2743200" y="3520440"/>
            <a:ext cx="2377440" cy="274320"/>
          </a:xfrm>
          <a:prstGeom prst="rect">
            <a:avLst/>
          </a:prstGeom>
          <a:noFill/>
          <a:ln/>
        </p:spPr>
        <p:txBody>
          <a:bodyPr wrap="square" lIns="0" tIns="0" rIns="0" bIns="0" rtlCol="0" anchor="t"/>
          <a:lstStyle/>
          <a:p>
            <a:pPr marL="0" indent="0">
              <a:buNone/>
            </a:pPr>
            <a:r>
              <a:rPr lang="en-US" sz="1000" b="1" dirty="0">
                <a:solidFill>
                  <a:srgbClr val="C0304A"/>
                </a:solidFill>
                <a:latin typeface="Calibri" pitchFamily="34" charset="0"/>
                <a:ea typeface="Calibri" pitchFamily="34" charset="-122"/>
                <a:cs typeface="Calibri" pitchFamily="34" charset="-120"/>
              </a:rPr>
              <a:t>PK</a:t>
            </a:r>
            <a:r>
              <a:rPr lang="en-US" sz="1000" dirty="0">
                <a:solidFill>
                  <a:srgbClr val="5B6B7F"/>
                </a:solidFill>
                <a:latin typeface="Calibri" pitchFamily="34" charset="0"/>
                <a:ea typeface="Calibri" pitchFamily="34" charset="-122"/>
                <a:cs typeface="Calibri" pitchFamily="34" charset="-120"/>
              </a:rPr>
              <a:t> πρωτεύον κλειδί   </a:t>
            </a:r>
            <a:r>
              <a:rPr lang="en-US" sz="1000" b="1" dirty="0">
                <a:solidFill>
                  <a:srgbClr val="1A9E92"/>
                </a:solidFill>
                <a:latin typeface="Calibri" pitchFamily="34" charset="0"/>
                <a:ea typeface="Calibri" pitchFamily="34" charset="-122"/>
                <a:cs typeface="Calibri" pitchFamily="34" charset="-120"/>
              </a:rPr>
              <a:t>FK</a:t>
            </a:r>
            <a:r>
              <a:rPr lang="en-US" sz="1000" dirty="0">
                <a:solidFill>
                  <a:srgbClr val="5B6B7F"/>
                </a:solidFill>
                <a:latin typeface="Calibri" pitchFamily="34" charset="0"/>
                <a:ea typeface="Calibri" pitchFamily="34" charset="-122"/>
                <a:cs typeface="Calibri" pitchFamily="34" charset="-120"/>
              </a:rPr>
              <a:t> ξένο κλειδί</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Τι περιέχει η βάση</a:t>
            </a:r>
            <a:endParaRPr lang="en-US" sz="2600" dirty="0"/>
          </a:p>
        </p:txBody>
      </p:sp>
      <p:sp>
        <p:nvSpPr>
          <p:cNvPr id="3" name="Text 1"/>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457200" y="1143000"/>
            <a:ext cx="2606040" cy="1143000"/>
          </a:xfrm>
          <a:prstGeom prst="roundRect">
            <a:avLst>
              <a:gd name="adj" fmla="val 6400"/>
            </a:avLst>
          </a:prstGeom>
          <a:solidFill>
            <a:srgbClr val="EEF3F8"/>
          </a:solidFill>
          <a:ln w="12700">
            <a:solidFill>
              <a:srgbClr val="EEF3F8"/>
            </a:solidFill>
            <a:prstDash val="solid"/>
          </a:ln>
        </p:spPr>
        <p:txBody>
          <a:bodyPr/>
          <a:lstStyle/>
          <a:p>
            <a:endParaRPr lang="el-GR"/>
          </a:p>
        </p:txBody>
      </p:sp>
      <p:sp>
        <p:nvSpPr>
          <p:cNvPr id="6" name="Text 4"/>
          <p:cNvSpPr txBox="1"/>
          <p:nvPr/>
        </p:nvSpPr>
        <p:spPr>
          <a:xfrm>
            <a:off x="685800" y="1252728"/>
            <a:ext cx="2194560" cy="594360"/>
          </a:xfrm>
          <a:prstGeom prst="rect">
            <a:avLst/>
          </a:prstGeom>
          <a:noFill/>
          <a:ln/>
        </p:spPr>
        <p:txBody>
          <a:bodyPr wrap="square" lIns="0" tIns="0" rIns="0" bIns="0" rtlCol="0" anchor="t"/>
          <a:lstStyle/>
          <a:p>
            <a:pPr marL="0" indent="0">
              <a:buNone/>
            </a:pPr>
            <a:r>
              <a:rPr lang="en-US" sz="3400" b="1" dirty="0">
                <a:solidFill>
                  <a:srgbClr val="1A9E92"/>
                </a:solidFill>
                <a:latin typeface="Arial" pitchFamily="34" charset="0"/>
                <a:ea typeface="Arial" pitchFamily="34" charset="-122"/>
                <a:cs typeface="Arial" pitchFamily="34" charset="-120"/>
              </a:rPr>
              <a:t>24</a:t>
            </a:r>
            <a:endParaRPr lang="en-US" sz="3400" dirty="0"/>
          </a:p>
        </p:txBody>
      </p:sp>
      <p:sp>
        <p:nvSpPr>
          <p:cNvPr id="7" name="Text 5"/>
          <p:cNvSpPr txBox="1"/>
          <p:nvPr/>
        </p:nvSpPr>
        <p:spPr>
          <a:xfrm>
            <a:off x="685800" y="1856232"/>
            <a:ext cx="2240280" cy="320040"/>
          </a:xfrm>
          <a:prstGeom prst="rect">
            <a:avLst/>
          </a:prstGeom>
          <a:noFill/>
          <a:ln/>
        </p:spPr>
        <p:txBody>
          <a:bodyPr wrap="square" lIns="0" tIns="0" rIns="0" bIns="0" rtlCol="0" anchor="t"/>
          <a:lstStyle/>
          <a:p>
            <a:pPr marL="0" indent="0">
              <a:buNone/>
            </a:pPr>
            <a:r>
              <a:rPr lang="en-US" sz="1300" dirty="0">
                <a:solidFill>
                  <a:srgbClr val="5B6B7F"/>
                </a:solidFill>
                <a:latin typeface="Calibri" pitchFamily="34" charset="0"/>
                <a:ea typeface="Calibri" pitchFamily="34" charset="-122"/>
                <a:cs typeface="Calibri" pitchFamily="34" charset="-120"/>
              </a:rPr>
              <a:t>εισηγμένες εταιρείες</a:t>
            </a:r>
            <a:endParaRPr lang="en-US" sz="1300" dirty="0"/>
          </a:p>
        </p:txBody>
      </p:sp>
      <p:sp>
        <p:nvSpPr>
          <p:cNvPr id="8" name="Shape 6"/>
          <p:cNvSpPr/>
          <p:nvPr/>
        </p:nvSpPr>
        <p:spPr>
          <a:xfrm>
            <a:off x="3246120" y="1143000"/>
            <a:ext cx="2606040" cy="1143000"/>
          </a:xfrm>
          <a:prstGeom prst="roundRect">
            <a:avLst>
              <a:gd name="adj" fmla="val 6400"/>
            </a:avLst>
          </a:prstGeom>
          <a:solidFill>
            <a:srgbClr val="EEF3F8"/>
          </a:solidFill>
          <a:ln w="12700">
            <a:solidFill>
              <a:srgbClr val="EEF3F8"/>
            </a:solidFill>
            <a:prstDash val="solid"/>
          </a:ln>
        </p:spPr>
        <p:txBody>
          <a:bodyPr/>
          <a:lstStyle/>
          <a:p>
            <a:endParaRPr lang="el-GR"/>
          </a:p>
        </p:txBody>
      </p:sp>
      <p:sp>
        <p:nvSpPr>
          <p:cNvPr id="9" name="Text 7"/>
          <p:cNvSpPr txBox="1"/>
          <p:nvPr/>
        </p:nvSpPr>
        <p:spPr>
          <a:xfrm>
            <a:off x="3474720" y="1252728"/>
            <a:ext cx="2194560" cy="594360"/>
          </a:xfrm>
          <a:prstGeom prst="rect">
            <a:avLst/>
          </a:prstGeom>
          <a:noFill/>
          <a:ln/>
        </p:spPr>
        <p:txBody>
          <a:bodyPr wrap="square" lIns="0" tIns="0" rIns="0" bIns="0" rtlCol="0" anchor="t"/>
          <a:lstStyle/>
          <a:p>
            <a:pPr marL="0" indent="0">
              <a:buNone/>
            </a:pPr>
            <a:r>
              <a:rPr lang="en-US" sz="3400" b="1" dirty="0">
                <a:solidFill>
                  <a:srgbClr val="1A9E92"/>
                </a:solidFill>
                <a:latin typeface="Arial" pitchFamily="34" charset="0"/>
                <a:ea typeface="Arial" pitchFamily="34" charset="-122"/>
                <a:cs typeface="Arial" pitchFamily="34" charset="-120"/>
              </a:rPr>
              <a:t>9</a:t>
            </a:r>
            <a:endParaRPr lang="en-US" sz="3400" dirty="0"/>
          </a:p>
        </p:txBody>
      </p:sp>
      <p:sp>
        <p:nvSpPr>
          <p:cNvPr id="10" name="Text 8"/>
          <p:cNvSpPr txBox="1"/>
          <p:nvPr/>
        </p:nvSpPr>
        <p:spPr>
          <a:xfrm>
            <a:off x="3474720" y="1856232"/>
            <a:ext cx="2240280" cy="320040"/>
          </a:xfrm>
          <a:prstGeom prst="rect">
            <a:avLst/>
          </a:prstGeom>
          <a:noFill/>
          <a:ln/>
        </p:spPr>
        <p:txBody>
          <a:bodyPr wrap="square" lIns="0" tIns="0" rIns="0" bIns="0" rtlCol="0" anchor="t"/>
          <a:lstStyle/>
          <a:p>
            <a:pPr marL="0" indent="0">
              <a:buNone/>
            </a:pPr>
            <a:r>
              <a:rPr lang="en-US" sz="1300" dirty="0">
                <a:solidFill>
                  <a:srgbClr val="5B6B7F"/>
                </a:solidFill>
                <a:latin typeface="Calibri" pitchFamily="34" charset="0"/>
                <a:ea typeface="Calibri" pitchFamily="34" charset="-122"/>
                <a:cs typeface="Calibri" pitchFamily="34" charset="-120"/>
              </a:rPr>
              <a:t>κλάδοι</a:t>
            </a:r>
            <a:endParaRPr lang="en-US" sz="1300" dirty="0"/>
          </a:p>
        </p:txBody>
      </p:sp>
      <p:sp>
        <p:nvSpPr>
          <p:cNvPr id="11" name="Shape 9"/>
          <p:cNvSpPr/>
          <p:nvPr/>
        </p:nvSpPr>
        <p:spPr>
          <a:xfrm>
            <a:off x="6035040" y="1143000"/>
            <a:ext cx="2606040" cy="1143000"/>
          </a:xfrm>
          <a:prstGeom prst="roundRect">
            <a:avLst>
              <a:gd name="adj" fmla="val 6400"/>
            </a:avLst>
          </a:prstGeom>
          <a:solidFill>
            <a:srgbClr val="EEF3F8"/>
          </a:solidFill>
          <a:ln w="12700">
            <a:solidFill>
              <a:srgbClr val="EEF3F8"/>
            </a:solidFill>
            <a:prstDash val="solid"/>
          </a:ln>
        </p:spPr>
        <p:txBody>
          <a:bodyPr/>
          <a:lstStyle/>
          <a:p>
            <a:endParaRPr lang="el-GR"/>
          </a:p>
        </p:txBody>
      </p:sp>
      <p:sp>
        <p:nvSpPr>
          <p:cNvPr id="12" name="Text 10"/>
          <p:cNvSpPr txBox="1"/>
          <p:nvPr/>
        </p:nvSpPr>
        <p:spPr>
          <a:xfrm>
            <a:off x="6263640" y="1252728"/>
            <a:ext cx="2194560" cy="594360"/>
          </a:xfrm>
          <a:prstGeom prst="rect">
            <a:avLst/>
          </a:prstGeom>
          <a:noFill/>
          <a:ln/>
        </p:spPr>
        <p:txBody>
          <a:bodyPr wrap="square" lIns="0" tIns="0" rIns="0" bIns="0" rtlCol="0" anchor="t"/>
          <a:lstStyle/>
          <a:p>
            <a:pPr marL="0" indent="0">
              <a:buNone/>
            </a:pPr>
            <a:r>
              <a:rPr lang="en-US" sz="3400" b="1" dirty="0">
                <a:solidFill>
                  <a:srgbClr val="1A9E92"/>
                </a:solidFill>
                <a:latin typeface="Arial" pitchFamily="34" charset="0"/>
                <a:ea typeface="Arial" pitchFamily="34" charset="-122"/>
                <a:cs typeface="Arial" pitchFamily="34" charset="-120"/>
              </a:rPr>
              <a:t>511</a:t>
            </a:r>
            <a:endParaRPr lang="en-US" sz="3400" dirty="0"/>
          </a:p>
        </p:txBody>
      </p:sp>
      <p:sp>
        <p:nvSpPr>
          <p:cNvPr id="13" name="Text 11"/>
          <p:cNvSpPr txBox="1"/>
          <p:nvPr/>
        </p:nvSpPr>
        <p:spPr>
          <a:xfrm>
            <a:off x="6263640" y="1856232"/>
            <a:ext cx="2240280" cy="320040"/>
          </a:xfrm>
          <a:prstGeom prst="rect">
            <a:avLst/>
          </a:prstGeom>
          <a:noFill/>
          <a:ln/>
        </p:spPr>
        <p:txBody>
          <a:bodyPr wrap="square" lIns="0" tIns="0" rIns="0" bIns="0" rtlCol="0" anchor="t"/>
          <a:lstStyle/>
          <a:p>
            <a:pPr marL="0" indent="0">
              <a:buNone/>
            </a:pPr>
            <a:r>
              <a:rPr lang="en-US" sz="1300" dirty="0">
                <a:solidFill>
                  <a:srgbClr val="5B6B7F"/>
                </a:solidFill>
                <a:latin typeface="Calibri" pitchFamily="34" charset="0"/>
                <a:ea typeface="Calibri" pitchFamily="34" charset="-122"/>
                <a:cs typeface="Calibri" pitchFamily="34" charset="-120"/>
              </a:rPr>
              <a:t>ημέρες συναλλαγών (2024–2025)</a:t>
            </a:r>
            <a:endParaRPr lang="en-US" sz="1300" dirty="0"/>
          </a:p>
        </p:txBody>
      </p:sp>
      <p:sp>
        <p:nvSpPr>
          <p:cNvPr id="14" name="Shape 12"/>
          <p:cNvSpPr/>
          <p:nvPr/>
        </p:nvSpPr>
        <p:spPr>
          <a:xfrm>
            <a:off x="457200" y="2468880"/>
            <a:ext cx="2606040" cy="1143000"/>
          </a:xfrm>
          <a:prstGeom prst="roundRect">
            <a:avLst>
              <a:gd name="adj" fmla="val 6400"/>
            </a:avLst>
          </a:prstGeom>
          <a:solidFill>
            <a:srgbClr val="EEF3F8"/>
          </a:solidFill>
          <a:ln w="12700">
            <a:solidFill>
              <a:srgbClr val="EEF3F8"/>
            </a:solidFill>
            <a:prstDash val="solid"/>
          </a:ln>
        </p:spPr>
        <p:txBody>
          <a:bodyPr/>
          <a:lstStyle/>
          <a:p>
            <a:endParaRPr lang="el-GR"/>
          </a:p>
        </p:txBody>
      </p:sp>
      <p:sp>
        <p:nvSpPr>
          <p:cNvPr id="15" name="Text 13"/>
          <p:cNvSpPr txBox="1"/>
          <p:nvPr/>
        </p:nvSpPr>
        <p:spPr>
          <a:xfrm>
            <a:off x="685800" y="2578608"/>
            <a:ext cx="2194560" cy="594360"/>
          </a:xfrm>
          <a:prstGeom prst="rect">
            <a:avLst/>
          </a:prstGeom>
          <a:noFill/>
          <a:ln/>
        </p:spPr>
        <p:txBody>
          <a:bodyPr wrap="square" lIns="0" tIns="0" rIns="0" bIns="0" rtlCol="0" anchor="t"/>
          <a:lstStyle/>
          <a:p>
            <a:pPr marL="0" indent="0">
              <a:buNone/>
            </a:pPr>
            <a:r>
              <a:rPr lang="en-US" sz="3400" b="1" dirty="0">
                <a:solidFill>
                  <a:srgbClr val="C0304A"/>
                </a:solidFill>
                <a:latin typeface="Arial" pitchFamily="34" charset="0"/>
                <a:ea typeface="Arial" pitchFamily="34" charset="-122"/>
                <a:cs typeface="Arial" pitchFamily="34" charset="-120"/>
              </a:rPr>
              <a:t>12.264</a:t>
            </a:r>
            <a:endParaRPr lang="en-US" sz="3400" dirty="0"/>
          </a:p>
        </p:txBody>
      </p:sp>
      <p:sp>
        <p:nvSpPr>
          <p:cNvPr id="16" name="Text 14"/>
          <p:cNvSpPr txBox="1"/>
          <p:nvPr/>
        </p:nvSpPr>
        <p:spPr>
          <a:xfrm>
            <a:off x="685800" y="3182112"/>
            <a:ext cx="2240280" cy="320040"/>
          </a:xfrm>
          <a:prstGeom prst="rect">
            <a:avLst/>
          </a:prstGeom>
          <a:noFill/>
          <a:ln/>
        </p:spPr>
        <p:txBody>
          <a:bodyPr wrap="square" lIns="0" tIns="0" rIns="0" bIns="0" rtlCol="0" anchor="t"/>
          <a:lstStyle/>
          <a:p>
            <a:pPr marL="0" indent="0">
              <a:buNone/>
            </a:pPr>
            <a:r>
              <a:rPr lang="en-US" sz="1300" dirty="0">
                <a:solidFill>
                  <a:srgbClr val="5B6B7F"/>
                </a:solidFill>
                <a:latin typeface="Calibri" pitchFamily="34" charset="0"/>
                <a:ea typeface="Calibri" pitchFamily="34" charset="-122"/>
                <a:cs typeface="Calibri" pitchFamily="34" charset="-120"/>
              </a:rPr>
              <a:t>ημερήσιες τιμές μετοχών</a:t>
            </a:r>
            <a:endParaRPr lang="en-US" sz="1300" dirty="0"/>
          </a:p>
        </p:txBody>
      </p:sp>
      <p:sp>
        <p:nvSpPr>
          <p:cNvPr id="17" name="Shape 15"/>
          <p:cNvSpPr/>
          <p:nvPr/>
        </p:nvSpPr>
        <p:spPr>
          <a:xfrm>
            <a:off x="3246120" y="2468880"/>
            <a:ext cx="2606040" cy="1143000"/>
          </a:xfrm>
          <a:prstGeom prst="roundRect">
            <a:avLst>
              <a:gd name="adj" fmla="val 6400"/>
            </a:avLst>
          </a:prstGeom>
          <a:solidFill>
            <a:srgbClr val="EEF3F8"/>
          </a:solidFill>
          <a:ln w="12700">
            <a:solidFill>
              <a:srgbClr val="EEF3F8"/>
            </a:solidFill>
            <a:prstDash val="solid"/>
          </a:ln>
        </p:spPr>
        <p:txBody>
          <a:bodyPr/>
          <a:lstStyle/>
          <a:p>
            <a:endParaRPr lang="el-GR"/>
          </a:p>
        </p:txBody>
      </p:sp>
      <p:sp>
        <p:nvSpPr>
          <p:cNvPr id="18" name="Text 16"/>
          <p:cNvSpPr txBox="1"/>
          <p:nvPr/>
        </p:nvSpPr>
        <p:spPr>
          <a:xfrm>
            <a:off x="3474720" y="2578608"/>
            <a:ext cx="2194560" cy="594360"/>
          </a:xfrm>
          <a:prstGeom prst="rect">
            <a:avLst/>
          </a:prstGeom>
          <a:noFill/>
          <a:ln/>
        </p:spPr>
        <p:txBody>
          <a:bodyPr wrap="square" lIns="0" tIns="0" rIns="0" bIns="0" rtlCol="0" anchor="t"/>
          <a:lstStyle/>
          <a:p>
            <a:pPr marL="0" indent="0">
              <a:buNone/>
            </a:pPr>
            <a:r>
              <a:rPr lang="en-US" sz="3400" b="1" dirty="0">
                <a:solidFill>
                  <a:srgbClr val="1A9E92"/>
                </a:solidFill>
                <a:latin typeface="Arial" pitchFamily="34" charset="0"/>
                <a:ea typeface="Arial" pitchFamily="34" charset="-122"/>
                <a:cs typeface="Arial" pitchFamily="34" charset="-120"/>
              </a:rPr>
              <a:t>120</a:t>
            </a:r>
            <a:endParaRPr lang="en-US" sz="3400" dirty="0"/>
          </a:p>
        </p:txBody>
      </p:sp>
      <p:sp>
        <p:nvSpPr>
          <p:cNvPr id="19" name="Text 17"/>
          <p:cNvSpPr txBox="1"/>
          <p:nvPr/>
        </p:nvSpPr>
        <p:spPr>
          <a:xfrm>
            <a:off x="3474720" y="3182112"/>
            <a:ext cx="2240280" cy="320040"/>
          </a:xfrm>
          <a:prstGeom prst="rect">
            <a:avLst/>
          </a:prstGeom>
          <a:noFill/>
          <a:ln/>
        </p:spPr>
        <p:txBody>
          <a:bodyPr wrap="square" lIns="0" tIns="0" rIns="0" bIns="0" rtlCol="0" anchor="t"/>
          <a:lstStyle/>
          <a:p>
            <a:pPr marL="0" indent="0">
              <a:buNone/>
            </a:pPr>
            <a:r>
              <a:rPr lang="en-US" sz="1300" dirty="0">
                <a:solidFill>
                  <a:srgbClr val="5B6B7F"/>
                </a:solidFill>
                <a:latin typeface="Calibri" pitchFamily="34" charset="0"/>
                <a:ea typeface="Calibri" pitchFamily="34" charset="-122"/>
                <a:cs typeface="Calibri" pitchFamily="34" charset="-120"/>
              </a:rPr>
              <a:t>ετήσιες οικονομικές καταστάσεις</a:t>
            </a:r>
            <a:endParaRPr lang="en-US" sz="1300" dirty="0"/>
          </a:p>
        </p:txBody>
      </p:sp>
      <p:sp>
        <p:nvSpPr>
          <p:cNvPr id="20" name="Shape 18"/>
          <p:cNvSpPr/>
          <p:nvPr/>
        </p:nvSpPr>
        <p:spPr>
          <a:xfrm>
            <a:off x="6035040" y="2468880"/>
            <a:ext cx="2606040" cy="1143000"/>
          </a:xfrm>
          <a:prstGeom prst="roundRect">
            <a:avLst>
              <a:gd name="adj" fmla="val 6400"/>
            </a:avLst>
          </a:prstGeom>
          <a:solidFill>
            <a:srgbClr val="EEF3F8"/>
          </a:solidFill>
          <a:ln w="12700">
            <a:solidFill>
              <a:srgbClr val="EEF3F8"/>
            </a:solidFill>
            <a:prstDash val="solid"/>
          </a:ln>
        </p:spPr>
        <p:txBody>
          <a:bodyPr/>
          <a:lstStyle/>
          <a:p>
            <a:endParaRPr lang="el-GR"/>
          </a:p>
        </p:txBody>
      </p:sp>
      <p:sp>
        <p:nvSpPr>
          <p:cNvPr id="21" name="Text 19"/>
          <p:cNvSpPr txBox="1"/>
          <p:nvPr/>
        </p:nvSpPr>
        <p:spPr>
          <a:xfrm>
            <a:off x="6263640" y="2578608"/>
            <a:ext cx="2194560" cy="594360"/>
          </a:xfrm>
          <a:prstGeom prst="rect">
            <a:avLst/>
          </a:prstGeom>
          <a:noFill/>
          <a:ln/>
        </p:spPr>
        <p:txBody>
          <a:bodyPr wrap="square" lIns="0" tIns="0" rIns="0" bIns="0" rtlCol="0" anchor="t"/>
          <a:lstStyle/>
          <a:p>
            <a:pPr marL="0" indent="0">
              <a:buNone/>
            </a:pPr>
            <a:r>
              <a:rPr lang="en-US" sz="3400" b="1" dirty="0">
                <a:solidFill>
                  <a:srgbClr val="1A9E92"/>
                </a:solidFill>
                <a:latin typeface="Arial" pitchFamily="34" charset="0"/>
                <a:ea typeface="Arial" pitchFamily="34" charset="-122"/>
                <a:cs typeface="Arial" pitchFamily="34" charset="-120"/>
              </a:rPr>
              <a:t>32</a:t>
            </a:r>
            <a:endParaRPr lang="en-US" sz="3400" dirty="0"/>
          </a:p>
        </p:txBody>
      </p:sp>
      <p:sp>
        <p:nvSpPr>
          <p:cNvPr id="22" name="Text 20"/>
          <p:cNvSpPr txBox="1"/>
          <p:nvPr/>
        </p:nvSpPr>
        <p:spPr>
          <a:xfrm>
            <a:off x="6263640" y="3182112"/>
            <a:ext cx="2240280" cy="320040"/>
          </a:xfrm>
          <a:prstGeom prst="rect">
            <a:avLst/>
          </a:prstGeom>
          <a:noFill/>
          <a:ln/>
        </p:spPr>
        <p:txBody>
          <a:bodyPr wrap="square" lIns="0" tIns="0" rIns="0" bIns="0" rtlCol="0" anchor="t"/>
          <a:lstStyle/>
          <a:p>
            <a:pPr marL="0" indent="0">
              <a:buNone/>
            </a:pPr>
            <a:r>
              <a:rPr lang="en-US" sz="1300" dirty="0">
                <a:solidFill>
                  <a:srgbClr val="5B6B7F"/>
                </a:solidFill>
                <a:latin typeface="Calibri" pitchFamily="34" charset="0"/>
                <a:ea typeface="Calibri" pitchFamily="34" charset="-122"/>
                <a:cs typeface="Calibri" pitchFamily="34" charset="-120"/>
              </a:rPr>
              <a:t>διανομές μερίσματος</a:t>
            </a:r>
            <a:endParaRPr lang="en-US" sz="1300" dirty="0"/>
          </a:p>
        </p:txBody>
      </p:sp>
      <p:sp>
        <p:nvSpPr>
          <p:cNvPr id="23" name="Shape 21"/>
          <p:cNvSpPr/>
          <p:nvPr/>
        </p:nvSpPr>
        <p:spPr>
          <a:xfrm>
            <a:off x="457200" y="3931920"/>
            <a:ext cx="8229600" cy="566928"/>
          </a:xfrm>
          <a:prstGeom prst="roundRect">
            <a:avLst>
              <a:gd name="adj" fmla="val 12903"/>
            </a:avLst>
          </a:prstGeom>
          <a:solidFill>
            <a:srgbClr val="F2B134"/>
          </a:solidFill>
          <a:ln w="12700">
            <a:solidFill>
              <a:srgbClr val="F2B134"/>
            </a:solidFill>
            <a:prstDash val="solid"/>
          </a:ln>
        </p:spPr>
        <p:txBody>
          <a:bodyPr/>
          <a:lstStyle/>
          <a:p>
            <a:endParaRPr lang="el-GR"/>
          </a:p>
        </p:txBody>
      </p:sp>
      <p:pic>
        <p:nvPicPr>
          <p:cNvPr id="24" name="Image 0" descr="preencoded.png"/>
          <p:cNvPicPr>
            <a:picLocks noChangeAspect="1"/>
          </p:cNvPicPr>
          <p:nvPr/>
        </p:nvPicPr>
        <p:blipFill>
          <a:blip r:embed="rId3"/>
          <a:stretch>
            <a:fillRect/>
          </a:stretch>
        </p:blipFill>
        <p:spPr>
          <a:xfrm>
            <a:off x="640080" y="4059936"/>
            <a:ext cx="310896" cy="310896"/>
          </a:xfrm>
          <a:prstGeom prst="rect">
            <a:avLst/>
          </a:prstGeom>
        </p:spPr>
      </p:pic>
      <p:sp>
        <p:nvSpPr>
          <p:cNvPr id="25" name="Text 22"/>
          <p:cNvSpPr txBox="1"/>
          <p:nvPr/>
        </p:nvSpPr>
        <p:spPr>
          <a:xfrm>
            <a:off x="1097280" y="3931920"/>
            <a:ext cx="7452360" cy="566928"/>
          </a:xfrm>
          <a:prstGeom prst="rect">
            <a:avLst/>
          </a:prstGeom>
          <a:noFill/>
          <a:ln/>
        </p:spPr>
        <p:txBody>
          <a:bodyPr wrap="square" lIns="0" tIns="0" rIns="0" bIns="0" rtlCol="0" anchor="ctr"/>
          <a:lstStyle/>
          <a:p>
            <a:pPr marL="0" indent="0">
              <a:buNone/>
            </a:pPr>
            <a:r>
              <a:rPr lang="en-US" sz="1200" b="1" dirty="0">
                <a:solidFill>
                  <a:srgbClr val="12233A"/>
                </a:solidFill>
                <a:latin typeface="Calibri" pitchFamily="34" charset="0"/>
                <a:ea typeface="Calibri" pitchFamily="34" charset="-122"/>
                <a:cs typeface="Calibri" pitchFamily="34" charset="-120"/>
              </a:rPr>
              <a:t>Φανταστικές εταιρείες, συνθετικά δεδομένα — </a:t>
            </a:r>
            <a:r>
              <a:rPr lang="en-US" sz="1200" dirty="0">
                <a:solidFill>
                  <a:srgbClr val="12233A"/>
                </a:solidFill>
                <a:latin typeface="Calibri" pitchFamily="34" charset="0"/>
                <a:ea typeface="Calibri" pitchFamily="34" charset="-122"/>
                <a:cs typeface="Calibri" pitchFamily="34" charset="-120"/>
              </a:rPr>
              <a:t>με ρεαλιστική συμπεριφορά: οι μετοχές κινούνται με την αγορά, υπάρχουν ζημιογόνες χρήσεις και ελλιπείς τιμές (NULL).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Μικρό λεξικό χρηματιστηρίου</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Οι όροι που θα συναντάτε στη βάση — και πού θα τους βρείτε</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600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840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Όρος</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Τι σημαίνει</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Στη βάση</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Παράδειγμα</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Ticker (σύμβολο)</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Σύντομος κωδικός διαπραγμάτευσης μιας μετοχής</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Companies.Ticker</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ATLB = Atlas Bank</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Τιμή κλεισίματος</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Η τελευταία τιμή της μετοχής στο τέλος της συνεδρίασης</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StockPrices.ClosePrice</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1.38 € (31/12/2025)</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384048">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Υψηλό / Χαμηλό</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Η μέγιστη / ελάχιστη τιμή μέσα στην ημέρα</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HighPrice / LowPrice</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HighPrice ≥ LowPrice</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Όγκος (volume)</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Πόσες μετοχές άλλαξαν χέρια την ημέρα</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StockPrices.Volume</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εκατομμύρια ανά ημέρα</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384048">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Γενικός δείκτης</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Μέτρο της πορείας ολόκληρης της αγοράς</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MarketIndex.IndexClose</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2175.64 (31/12/2025)</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Μέρισμα</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Ποσό ανά μετοχή που διανέμεται στους μετόχους από τα κέρδη</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Dividends.AmountPerShare</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0.101 € (ATLB, 2025)</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6"/>
                  </a:ext>
                </a:extLst>
              </a:tr>
              <a:tr h="384048">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Ημερομηνία αποκοπής</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Από αυτή την ημέρα όποιος αγοράζει τη μετοχή δεν παίρνει το μέρισμα</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Dividends.ExDate</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2025-07-28</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flipV="1">
            <a:off x="6422746" y="1302106"/>
            <a:ext cx="510235" cy="226771"/>
          </a:xfrm>
          <a:prstGeom prst="line">
            <a:avLst/>
          </a:prstGeom>
          <a:noFill/>
          <a:ln w="12700">
            <a:solidFill>
              <a:srgbClr val="2EC4B6">
                <a:alpha val="22500"/>
              </a:srgbClr>
            </a:solidFill>
            <a:prstDash val="solid"/>
          </a:ln>
        </p:spPr>
        <p:txBody>
          <a:bodyPr/>
          <a:lstStyle/>
          <a:p>
            <a:endParaRPr lang="el-GR"/>
          </a:p>
        </p:txBody>
      </p:sp>
      <p:sp>
        <p:nvSpPr>
          <p:cNvPr id="3" name="Shape 1"/>
          <p:cNvSpPr/>
          <p:nvPr/>
        </p:nvSpPr>
        <p:spPr>
          <a:xfrm>
            <a:off x="6932981" y="1302106"/>
            <a:ext cx="510235" cy="396850"/>
          </a:xfrm>
          <a:prstGeom prst="line">
            <a:avLst/>
          </a:prstGeom>
          <a:noFill/>
          <a:ln w="12700">
            <a:solidFill>
              <a:srgbClr val="2EC4B6">
                <a:alpha val="22500"/>
              </a:srgbClr>
            </a:solidFill>
            <a:prstDash val="solid"/>
          </a:ln>
        </p:spPr>
        <p:txBody>
          <a:bodyPr/>
          <a:lstStyle/>
          <a:p>
            <a:endParaRPr lang="el-GR"/>
          </a:p>
        </p:txBody>
      </p:sp>
      <p:sp>
        <p:nvSpPr>
          <p:cNvPr id="4" name="Shape 2"/>
          <p:cNvSpPr/>
          <p:nvPr/>
        </p:nvSpPr>
        <p:spPr>
          <a:xfrm flipV="1">
            <a:off x="7443216" y="1415491"/>
            <a:ext cx="623621" cy="283464"/>
          </a:xfrm>
          <a:prstGeom prst="line">
            <a:avLst/>
          </a:prstGeom>
          <a:noFill/>
          <a:ln w="12700">
            <a:solidFill>
              <a:srgbClr val="2EC4B6">
                <a:alpha val="22500"/>
              </a:srgbClr>
            </a:solidFill>
            <a:prstDash val="solid"/>
          </a:ln>
        </p:spPr>
        <p:txBody>
          <a:bodyPr/>
          <a:lstStyle/>
          <a:p>
            <a:endParaRPr lang="el-GR"/>
          </a:p>
        </p:txBody>
      </p:sp>
      <p:sp>
        <p:nvSpPr>
          <p:cNvPr id="5" name="Shape 3"/>
          <p:cNvSpPr/>
          <p:nvPr/>
        </p:nvSpPr>
        <p:spPr>
          <a:xfrm>
            <a:off x="8066837" y="1415491"/>
            <a:ext cx="453542" cy="510235"/>
          </a:xfrm>
          <a:prstGeom prst="line">
            <a:avLst/>
          </a:prstGeom>
          <a:noFill/>
          <a:ln w="12700">
            <a:solidFill>
              <a:srgbClr val="2EC4B6">
                <a:alpha val="22500"/>
              </a:srgbClr>
            </a:solidFill>
            <a:prstDash val="solid"/>
          </a:ln>
        </p:spPr>
        <p:txBody>
          <a:bodyPr/>
          <a:lstStyle/>
          <a:p>
            <a:endParaRPr lang="el-GR"/>
          </a:p>
        </p:txBody>
      </p:sp>
      <p:sp>
        <p:nvSpPr>
          <p:cNvPr id="6" name="Shape 4"/>
          <p:cNvSpPr/>
          <p:nvPr/>
        </p:nvSpPr>
        <p:spPr>
          <a:xfrm>
            <a:off x="6422746" y="1528877"/>
            <a:ext cx="283464" cy="566928"/>
          </a:xfrm>
          <a:prstGeom prst="line">
            <a:avLst/>
          </a:prstGeom>
          <a:noFill/>
          <a:ln w="12700">
            <a:solidFill>
              <a:srgbClr val="2EC4B6">
                <a:alpha val="22500"/>
              </a:srgbClr>
            </a:solidFill>
            <a:prstDash val="solid"/>
          </a:ln>
        </p:spPr>
        <p:txBody>
          <a:bodyPr/>
          <a:lstStyle/>
          <a:p>
            <a:endParaRPr lang="el-GR"/>
          </a:p>
        </p:txBody>
      </p:sp>
      <p:sp>
        <p:nvSpPr>
          <p:cNvPr id="7" name="Shape 5"/>
          <p:cNvSpPr/>
          <p:nvPr/>
        </p:nvSpPr>
        <p:spPr>
          <a:xfrm>
            <a:off x="6706210" y="2095805"/>
            <a:ext cx="566928" cy="283464"/>
          </a:xfrm>
          <a:prstGeom prst="line">
            <a:avLst/>
          </a:prstGeom>
          <a:noFill/>
          <a:ln w="12700">
            <a:solidFill>
              <a:srgbClr val="2EC4B6">
                <a:alpha val="22500"/>
              </a:srgbClr>
            </a:solidFill>
            <a:prstDash val="solid"/>
          </a:ln>
        </p:spPr>
        <p:txBody>
          <a:bodyPr/>
          <a:lstStyle/>
          <a:p>
            <a:endParaRPr lang="el-GR"/>
          </a:p>
        </p:txBody>
      </p:sp>
      <p:sp>
        <p:nvSpPr>
          <p:cNvPr id="8" name="Shape 6"/>
          <p:cNvSpPr/>
          <p:nvPr/>
        </p:nvSpPr>
        <p:spPr>
          <a:xfrm>
            <a:off x="6932981" y="1302106"/>
            <a:ext cx="340157" cy="1077163"/>
          </a:xfrm>
          <a:prstGeom prst="line">
            <a:avLst/>
          </a:prstGeom>
          <a:noFill/>
          <a:ln w="12700">
            <a:solidFill>
              <a:srgbClr val="2EC4B6">
                <a:alpha val="22500"/>
              </a:srgbClr>
            </a:solidFill>
            <a:prstDash val="solid"/>
          </a:ln>
        </p:spPr>
        <p:txBody>
          <a:bodyPr/>
          <a:lstStyle/>
          <a:p>
            <a:endParaRPr lang="el-GR"/>
          </a:p>
        </p:txBody>
      </p:sp>
      <p:sp>
        <p:nvSpPr>
          <p:cNvPr id="9" name="Shape 7"/>
          <p:cNvSpPr/>
          <p:nvPr/>
        </p:nvSpPr>
        <p:spPr>
          <a:xfrm>
            <a:off x="7443216" y="1698955"/>
            <a:ext cx="453542" cy="510235"/>
          </a:xfrm>
          <a:prstGeom prst="line">
            <a:avLst/>
          </a:prstGeom>
          <a:noFill/>
          <a:ln w="12700">
            <a:solidFill>
              <a:srgbClr val="2EC4B6">
                <a:alpha val="22500"/>
              </a:srgbClr>
            </a:solidFill>
            <a:prstDash val="solid"/>
          </a:ln>
        </p:spPr>
        <p:txBody>
          <a:bodyPr/>
          <a:lstStyle/>
          <a:p>
            <a:endParaRPr lang="el-GR"/>
          </a:p>
        </p:txBody>
      </p:sp>
      <p:sp>
        <p:nvSpPr>
          <p:cNvPr id="10" name="Shape 8"/>
          <p:cNvSpPr/>
          <p:nvPr/>
        </p:nvSpPr>
        <p:spPr>
          <a:xfrm flipV="1">
            <a:off x="7273138" y="2209190"/>
            <a:ext cx="623621" cy="170078"/>
          </a:xfrm>
          <a:prstGeom prst="line">
            <a:avLst/>
          </a:prstGeom>
          <a:noFill/>
          <a:ln w="12700">
            <a:solidFill>
              <a:srgbClr val="2EC4B6">
                <a:alpha val="22500"/>
              </a:srgbClr>
            </a:solidFill>
            <a:prstDash val="solid"/>
          </a:ln>
        </p:spPr>
        <p:txBody>
          <a:bodyPr/>
          <a:lstStyle/>
          <a:p>
            <a:endParaRPr lang="el-GR"/>
          </a:p>
        </p:txBody>
      </p:sp>
      <p:sp>
        <p:nvSpPr>
          <p:cNvPr id="11" name="Shape 9"/>
          <p:cNvSpPr/>
          <p:nvPr/>
        </p:nvSpPr>
        <p:spPr>
          <a:xfrm flipV="1">
            <a:off x="7896758" y="1925726"/>
            <a:ext cx="623621" cy="283464"/>
          </a:xfrm>
          <a:prstGeom prst="line">
            <a:avLst/>
          </a:prstGeom>
          <a:noFill/>
          <a:ln w="12700">
            <a:solidFill>
              <a:srgbClr val="2EC4B6">
                <a:alpha val="22500"/>
              </a:srgbClr>
            </a:solidFill>
            <a:prstDash val="solid"/>
          </a:ln>
        </p:spPr>
        <p:txBody>
          <a:bodyPr/>
          <a:lstStyle/>
          <a:p>
            <a:endParaRPr lang="el-GR"/>
          </a:p>
        </p:txBody>
      </p:sp>
      <p:sp>
        <p:nvSpPr>
          <p:cNvPr id="12" name="Shape 10"/>
          <p:cNvSpPr/>
          <p:nvPr/>
        </p:nvSpPr>
        <p:spPr>
          <a:xfrm>
            <a:off x="7896758" y="2209190"/>
            <a:ext cx="453542" cy="453542"/>
          </a:xfrm>
          <a:prstGeom prst="line">
            <a:avLst/>
          </a:prstGeom>
          <a:noFill/>
          <a:ln w="12700">
            <a:solidFill>
              <a:srgbClr val="2EC4B6">
                <a:alpha val="22500"/>
              </a:srgbClr>
            </a:solidFill>
            <a:prstDash val="solid"/>
          </a:ln>
        </p:spPr>
        <p:txBody>
          <a:bodyPr/>
          <a:lstStyle/>
          <a:p>
            <a:endParaRPr lang="el-GR"/>
          </a:p>
        </p:txBody>
      </p:sp>
      <p:sp>
        <p:nvSpPr>
          <p:cNvPr id="13" name="Shape 11"/>
          <p:cNvSpPr/>
          <p:nvPr/>
        </p:nvSpPr>
        <p:spPr>
          <a:xfrm flipV="1">
            <a:off x="8350301" y="1925726"/>
            <a:ext cx="170078" cy="737006"/>
          </a:xfrm>
          <a:prstGeom prst="line">
            <a:avLst/>
          </a:prstGeom>
          <a:noFill/>
          <a:ln w="12700">
            <a:solidFill>
              <a:srgbClr val="2EC4B6">
                <a:alpha val="22500"/>
              </a:srgbClr>
            </a:solidFill>
            <a:prstDash val="solid"/>
          </a:ln>
        </p:spPr>
        <p:txBody>
          <a:bodyPr/>
          <a:lstStyle/>
          <a:p>
            <a:endParaRPr lang="el-GR"/>
          </a:p>
        </p:txBody>
      </p:sp>
      <p:sp>
        <p:nvSpPr>
          <p:cNvPr id="14" name="Shape 12"/>
          <p:cNvSpPr/>
          <p:nvPr/>
        </p:nvSpPr>
        <p:spPr>
          <a:xfrm flipV="1">
            <a:off x="6536131" y="2095805"/>
            <a:ext cx="170078" cy="737006"/>
          </a:xfrm>
          <a:prstGeom prst="line">
            <a:avLst/>
          </a:prstGeom>
          <a:noFill/>
          <a:ln w="12700">
            <a:solidFill>
              <a:srgbClr val="2EC4B6">
                <a:alpha val="22500"/>
              </a:srgbClr>
            </a:solidFill>
            <a:prstDash val="solid"/>
          </a:ln>
        </p:spPr>
        <p:txBody>
          <a:bodyPr/>
          <a:lstStyle/>
          <a:p>
            <a:endParaRPr lang="el-GR"/>
          </a:p>
        </p:txBody>
      </p:sp>
      <p:sp>
        <p:nvSpPr>
          <p:cNvPr id="15" name="Shape 13"/>
          <p:cNvSpPr/>
          <p:nvPr/>
        </p:nvSpPr>
        <p:spPr>
          <a:xfrm>
            <a:off x="6536131" y="2832811"/>
            <a:ext cx="566928" cy="226771"/>
          </a:xfrm>
          <a:prstGeom prst="line">
            <a:avLst/>
          </a:prstGeom>
          <a:noFill/>
          <a:ln w="12700">
            <a:solidFill>
              <a:srgbClr val="2EC4B6">
                <a:alpha val="22500"/>
              </a:srgbClr>
            </a:solidFill>
            <a:prstDash val="solid"/>
          </a:ln>
        </p:spPr>
        <p:txBody>
          <a:bodyPr/>
          <a:lstStyle/>
          <a:p>
            <a:endParaRPr lang="el-GR"/>
          </a:p>
        </p:txBody>
      </p:sp>
      <p:sp>
        <p:nvSpPr>
          <p:cNvPr id="16" name="Shape 14"/>
          <p:cNvSpPr/>
          <p:nvPr/>
        </p:nvSpPr>
        <p:spPr>
          <a:xfrm flipV="1">
            <a:off x="7103059" y="2379269"/>
            <a:ext cx="170078" cy="680314"/>
          </a:xfrm>
          <a:prstGeom prst="line">
            <a:avLst/>
          </a:prstGeom>
          <a:noFill/>
          <a:ln w="12700">
            <a:solidFill>
              <a:srgbClr val="2EC4B6">
                <a:alpha val="22500"/>
              </a:srgbClr>
            </a:solidFill>
            <a:prstDash val="solid"/>
          </a:ln>
        </p:spPr>
        <p:txBody>
          <a:bodyPr/>
          <a:lstStyle/>
          <a:p>
            <a:endParaRPr lang="el-GR"/>
          </a:p>
        </p:txBody>
      </p:sp>
      <p:sp>
        <p:nvSpPr>
          <p:cNvPr id="17" name="Shape 15"/>
          <p:cNvSpPr/>
          <p:nvPr/>
        </p:nvSpPr>
        <p:spPr>
          <a:xfrm flipV="1">
            <a:off x="7103059" y="2889504"/>
            <a:ext cx="623621" cy="170078"/>
          </a:xfrm>
          <a:prstGeom prst="line">
            <a:avLst/>
          </a:prstGeom>
          <a:noFill/>
          <a:ln w="12700">
            <a:solidFill>
              <a:srgbClr val="2EC4B6">
                <a:alpha val="22500"/>
              </a:srgbClr>
            </a:solidFill>
            <a:prstDash val="solid"/>
          </a:ln>
        </p:spPr>
        <p:txBody>
          <a:bodyPr/>
          <a:lstStyle/>
          <a:p>
            <a:endParaRPr lang="el-GR"/>
          </a:p>
        </p:txBody>
      </p:sp>
      <p:sp>
        <p:nvSpPr>
          <p:cNvPr id="18" name="Shape 16"/>
          <p:cNvSpPr/>
          <p:nvPr/>
        </p:nvSpPr>
        <p:spPr>
          <a:xfrm flipV="1">
            <a:off x="7726680" y="2209190"/>
            <a:ext cx="170078" cy="680314"/>
          </a:xfrm>
          <a:prstGeom prst="line">
            <a:avLst/>
          </a:prstGeom>
          <a:noFill/>
          <a:ln w="12700">
            <a:solidFill>
              <a:srgbClr val="2EC4B6">
                <a:alpha val="22500"/>
              </a:srgbClr>
            </a:solidFill>
            <a:prstDash val="solid"/>
          </a:ln>
        </p:spPr>
        <p:txBody>
          <a:bodyPr/>
          <a:lstStyle/>
          <a:p>
            <a:endParaRPr lang="el-GR"/>
          </a:p>
        </p:txBody>
      </p:sp>
      <p:sp>
        <p:nvSpPr>
          <p:cNvPr id="19" name="Shape 17"/>
          <p:cNvSpPr/>
          <p:nvPr/>
        </p:nvSpPr>
        <p:spPr>
          <a:xfrm flipV="1">
            <a:off x="7726680" y="2662733"/>
            <a:ext cx="623621" cy="226771"/>
          </a:xfrm>
          <a:prstGeom prst="line">
            <a:avLst/>
          </a:prstGeom>
          <a:noFill/>
          <a:ln w="12700">
            <a:solidFill>
              <a:srgbClr val="2EC4B6">
                <a:alpha val="22500"/>
              </a:srgbClr>
            </a:solidFill>
            <a:prstDash val="solid"/>
          </a:ln>
        </p:spPr>
        <p:txBody>
          <a:bodyPr/>
          <a:lstStyle/>
          <a:p>
            <a:endParaRPr lang="el-GR"/>
          </a:p>
        </p:txBody>
      </p:sp>
      <p:sp>
        <p:nvSpPr>
          <p:cNvPr id="20" name="Shape 18"/>
          <p:cNvSpPr/>
          <p:nvPr/>
        </p:nvSpPr>
        <p:spPr>
          <a:xfrm>
            <a:off x="7726680" y="2889504"/>
            <a:ext cx="453542" cy="396850"/>
          </a:xfrm>
          <a:prstGeom prst="line">
            <a:avLst/>
          </a:prstGeom>
          <a:noFill/>
          <a:ln w="12700">
            <a:solidFill>
              <a:srgbClr val="2EC4B6">
                <a:alpha val="22500"/>
              </a:srgbClr>
            </a:solidFill>
            <a:prstDash val="solid"/>
          </a:ln>
        </p:spPr>
        <p:txBody>
          <a:bodyPr/>
          <a:lstStyle/>
          <a:p>
            <a:endParaRPr lang="el-GR"/>
          </a:p>
        </p:txBody>
      </p:sp>
      <p:sp>
        <p:nvSpPr>
          <p:cNvPr id="21" name="Shape 19"/>
          <p:cNvSpPr/>
          <p:nvPr/>
        </p:nvSpPr>
        <p:spPr>
          <a:xfrm flipV="1">
            <a:off x="8180222" y="2662733"/>
            <a:ext cx="170078" cy="623621"/>
          </a:xfrm>
          <a:prstGeom prst="line">
            <a:avLst/>
          </a:prstGeom>
          <a:noFill/>
          <a:ln w="12700">
            <a:solidFill>
              <a:srgbClr val="2EC4B6">
                <a:alpha val="22500"/>
              </a:srgbClr>
            </a:solidFill>
            <a:prstDash val="solid"/>
          </a:ln>
        </p:spPr>
        <p:txBody>
          <a:bodyPr/>
          <a:lstStyle/>
          <a:p>
            <a:endParaRPr lang="el-GR"/>
          </a:p>
        </p:txBody>
      </p:sp>
      <p:sp>
        <p:nvSpPr>
          <p:cNvPr id="22" name="Shape 20"/>
          <p:cNvSpPr/>
          <p:nvPr/>
        </p:nvSpPr>
        <p:spPr>
          <a:xfrm>
            <a:off x="7103059" y="3059582"/>
            <a:ext cx="340157" cy="396850"/>
          </a:xfrm>
          <a:prstGeom prst="line">
            <a:avLst/>
          </a:prstGeom>
          <a:noFill/>
          <a:ln w="12700">
            <a:solidFill>
              <a:srgbClr val="2EC4B6">
                <a:alpha val="22500"/>
              </a:srgbClr>
            </a:solidFill>
            <a:prstDash val="solid"/>
          </a:ln>
        </p:spPr>
        <p:txBody>
          <a:bodyPr/>
          <a:lstStyle/>
          <a:p>
            <a:endParaRPr lang="el-GR"/>
          </a:p>
        </p:txBody>
      </p:sp>
      <p:sp>
        <p:nvSpPr>
          <p:cNvPr id="23" name="Shape 21"/>
          <p:cNvSpPr/>
          <p:nvPr/>
        </p:nvSpPr>
        <p:spPr>
          <a:xfrm flipV="1">
            <a:off x="7443216" y="3286354"/>
            <a:ext cx="737006" cy="170078"/>
          </a:xfrm>
          <a:prstGeom prst="line">
            <a:avLst/>
          </a:prstGeom>
          <a:noFill/>
          <a:ln w="12700">
            <a:solidFill>
              <a:srgbClr val="2EC4B6">
                <a:alpha val="22500"/>
              </a:srgbClr>
            </a:solidFill>
            <a:prstDash val="solid"/>
          </a:ln>
        </p:spPr>
        <p:txBody>
          <a:bodyPr/>
          <a:lstStyle/>
          <a:p>
            <a:endParaRPr lang="el-GR"/>
          </a:p>
        </p:txBody>
      </p:sp>
      <p:sp>
        <p:nvSpPr>
          <p:cNvPr id="24" name="Shape 22"/>
          <p:cNvSpPr/>
          <p:nvPr/>
        </p:nvSpPr>
        <p:spPr>
          <a:xfrm flipV="1">
            <a:off x="8180222" y="3116275"/>
            <a:ext cx="396850" cy="170078"/>
          </a:xfrm>
          <a:prstGeom prst="line">
            <a:avLst/>
          </a:prstGeom>
          <a:noFill/>
          <a:ln w="12700">
            <a:solidFill>
              <a:srgbClr val="2EC4B6">
                <a:alpha val="22500"/>
              </a:srgbClr>
            </a:solidFill>
            <a:prstDash val="solid"/>
          </a:ln>
        </p:spPr>
        <p:txBody>
          <a:bodyPr/>
          <a:lstStyle/>
          <a:p>
            <a:endParaRPr lang="el-GR"/>
          </a:p>
        </p:txBody>
      </p:sp>
      <p:sp>
        <p:nvSpPr>
          <p:cNvPr id="25" name="Shape 23"/>
          <p:cNvSpPr/>
          <p:nvPr/>
        </p:nvSpPr>
        <p:spPr>
          <a:xfrm>
            <a:off x="8350301" y="2662733"/>
            <a:ext cx="226771" cy="453542"/>
          </a:xfrm>
          <a:prstGeom prst="line">
            <a:avLst/>
          </a:prstGeom>
          <a:noFill/>
          <a:ln w="12700">
            <a:solidFill>
              <a:srgbClr val="2EC4B6">
                <a:alpha val="22500"/>
              </a:srgbClr>
            </a:solidFill>
            <a:prstDash val="solid"/>
          </a:ln>
        </p:spPr>
        <p:txBody>
          <a:bodyPr/>
          <a:lstStyle/>
          <a:p>
            <a:endParaRPr lang="el-GR"/>
          </a:p>
        </p:txBody>
      </p:sp>
      <p:sp>
        <p:nvSpPr>
          <p:cNvPr id="26" name="Shape 24"/>
          <p:cNvSpPr/>
          <p:nvPr/>
        </p:nvSpPr>
        <p:spPr>
          <a:xfrm flipV="1">
            <a:off x="7273138" y="1698955"/>
            <a:ext cx="170078" cy="680314"/>
          </a:xfrm>
          <a:prstGeom prst="line">
            <a:avLst/>
          </a:prstGeom>
          <a:noFill/>
          <a:ln w="12700">
            <a:solidFill>
              <a:srgbClr val="2EC4B6">
                <a:alpha val="22500"/>
              </a:srgbClr>
            </a:solidFill>
            <a:prstDash val="solid"/>
          </a:ln>
        </p:spPr>
        <p:txBody>
          <a:bodyPr/>
          <a:lstStyle/>
          <a:p>
            <a:endParaRPr lang="el-GR"/>
          </a:p>
        </p:txBody>
      </p:sp>
      <p:sp>
        <p:nvSpPr>
          <p:cNvPr id="27" name="Shape 25"/>
          <p:cNvSpPr/>
          <p:nvPr/>
        </p:nvSpPr>
        <p:spPr>
          <a:xfrm>
            <a:off x="6388730" y="1494861"/>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28" name="Shape 26"/>
          <p:cNvSpPr/>
          <p:nvPr/>
        </p:nvSpPr>
        <p:spPr>
          <a:xfrm>
            <a:off x="6898965" y="1268090"/>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29" name="Shape 27"/>
          <p:cNvSpPr/>
          <p:nvPr/>
        </p:nvSpPr>
        <p:spPr>
          <a:xfrm>
            <a:off x="7380854" y="1636593"/>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0" name="Shape 28"/>
          <p:cNvSpPr/>
          <p:nvPr/>
        </p:nvSpPr>
        <p:spPr>
          <a:xfrm>
            <a:off x="8032821" y="1381476"/>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1" name="Shape 29"/>
          <p:cNvSpPr/>
          <p:nvPr/>
        </p:nvSpPr>
        <p:spPr>
          <a:xfrm>
            <a:off x="8486364" y="1891711"/>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2" name="Shape 30"/>
          <p:cNvSpPr/>
          <p:nvPr/>
        </p:nvSpPr>
        <p:spPr>
          <a:xfrm>
            <a:off x="6672194" y="2061789"/>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3" name="Shape 31"/>
          <p:cNvSpPr/>
          <p:nvPr/>
        </p:nvSpPr>
        <p:spPr>
          <a:xfrm>
            <a:off x="7239122" y="2345253"/>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4" name="Shape 32"/>
          <p:cNvSpPr/>
          <p:nvPr/>
        </p:nvSpPr>
        <p:spPr>
          <a:xfrm>
            <a:off x="7834396" y="2146828"/>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5" name="Shape 33"/>
          <p:cNvSpPr/>
          <p:nvPr/>
        </p:nvSpPr>
        <p:spPr>
          <a:xfrm>
            <a:off x="8316285" y="2628717"/>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6" name="Shape 34"/>
          <p:cNvSpPr/>
          <p:nvPr/>
        </p:nvSpPr>
        <p:spPr>
          <a:xfrm>
            <a:off x="6502116" y="2798796"/>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7" name="Shape 35"/>
          <p:cNvSpPr/>
          <p:nvPr/>
        </p:nvSpPr>
        <p:spPr>
          <a:xfrm>
            <a:off x="7069044" y="3025567"/>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8" name="Shape 36"/>
          <p:cNvSpPr/>
          <p:nvPr/>
        </p:nvSpPr>
        <p:spPr>
          <a:xfrm>
            <a:off x="7664318" y="2827142"/>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9" name="Shape 37"/>
          <p:cNvSpPr/>
          <p:nvPr/>
        </p:nvSpPr>
        <p:spPr>
          <a:xfrm>
            <a:off x="8146207" y="3252338"/>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40" name="Shape 38"/>
          <p:cNvSpPr/>
          <p:nvPr/>
        </p:nvSpPr>
        <p:spPr>
          <a:xfrm>
            <a:off x="7409200" y="3422416"/>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41" name="Shape 39"/>
          <p:cNvSpPr/>
          <p:nvPr/>
        </p:nvSpPr>
        <p:spPr>
          <a:xfrm>
            <a:off x="8543056" y="3082260"/>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42" name="Text 40"/>
          <p:cNvSpPr txBox="1"/>
          <p:nvPr/>
        </p:nvSpPr>
        <p:spPr>
          <a:xfrm>
            <a:off x="548640" y="1280160"/>
            <a:ext cx="2286000" cy="1005840"/>
          </a:xfrm>
          <a:prstGeom prst="rect">
            <a:avLst/>
          </a:prstGeom>
          <a:noFill/>
          <a:ln/>
        </p:spPr>
        <p:txBody>
          <a:bodyPr wrap="square" lIns="0" tIns="0" rIns="0" bIns="0" rtlCol="0" anchor="ctr"/>
          <a:lstStyle/>
          <a:p>
            <a:pPr marL="0" indent="0">
              <a:buNone/>
            </a:pPr>
            <a:r>
              <a:rPr lang="en-US" sz="6600" b="1" dirty="0">
                <a:solidFill>
                  <a:srgbClr val="2EC4B6"/>
                </a:solidFill>
                <a:latin typeface="Arial" pitchFamily="34" charset="0"/>
                <a:ea typeface="Arial" pitchFamily="34" charset="-122"/>
                <a:cs typeface="Arial" pitchFamily="34" charset="-120"/>
              </a:rPr>
              <a:t>03</a:t>
            </a:r>
            <a:endParaRPr lang="en-US" sz="6600" dirty="0"/>
          </a:p>
        </p:txBody>
      </p:sp>
      <p:sp>
        <p:nvSpPr>
          <p:cNvPr id="43" name="Text 41"/>
          <p:cNvSpPr txBox="1"/>
          <p:nvPr/>
        </p:nvSpPr>
        <p:spPr>
          <a:xfrm>
            <a:off x="548640" y="2240280"/>
            <a:ext cx="5669280" cy="960120"/>
          </a:xfrm>
          <a:prstGeom prst="rect">
            <a:avLst/>
          </a:prstGeom>
          <a:noFill/>
          <a:ln/>
        </p:spPr>
        <p:txBody>
          <a:bodyPr wrap="square" lIns="0" tIns="0" rIns="0" bIns="0" rtlCol="0" anchor="b"/>
          <a:lstStyle/>
          <a:p>
            <a:pPr marL="0" indent="0">
              <a:buNone/>
            </a:pPr>
            <a:r>
              <a:rPr lang="en-US" sz="2800" b="1" dirty="0">
                <a:solidFill>
                  <a:srgbClr val="FFFFFF"/>
                </a:solidFill>
                <a:latin typeface="Arial" pitchFamily="34" charset="0"/>
                <a:ea typeface="Arial" pitchFamily="34" charset="-122"/>
                <a:cs typeface="Arial" pitchFamily="34" charset="-120"/>
              </a:rPr>
              <a:t>Σχήμα πίνακα &amp; τύποι δεδομένων</a:t>
            </a:r>
            <a:endParaRPr lang="en-US" sz="2800" dirty="0"/>
          </a:p>
        </p:txBody>
      </p:sp>
      <p:sp>
        <p:nvSpPr>
          <p:cNvPr id="44" name="Text 42"/>
          <p:cNvSpPr txBox="1"/>
          <p:nvPr/>
        </p:nvSpPr>
        <p:spPr>
          <a:xfrm>
            <a:off x="548640" y="3291840"/>
            <a:ext cx="5486400" cy="548640"/>
          </a:xfrm>
          <a:prstGeom prst="rect">
            <a:avLst/>
          </a:prstGeom>
          <a:noFill/>
          <a:ln/>
        </p:spPr>
        <p:txBody>
          <a:bodyPr wrap="square" lIns="0" tIns="0" rIns="0" bIns="0" rtlCol="0" anchor="t"/>
          <a:lstStyle/>
          <a:p>
            <a:pPr marL="0" indent="0">
              <a:buNone/>
            </a:pPr>
            <a:r>
              <a:rPr lang="en-US" sz="1500" dirty="0">
                <a:solidFill>
                  <a:srgbClr val="A9B8CC"/>
                </a:solidFill>
                <a:latin typeface="Calibri" pitchFamily="34" charset="0"/>
                <a:ea typeface="Calibri" pitchFamily="34" charset="-122"/>
                <a:cs typeface="Calibri" pitchFamily="34" charset="-120"/>
              </a:rPr>
              <a:t>Table schema · πεδία · data types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Το σχήμα (schema) ενός πίνακα</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Το «καλούπι» που ορίζουμε πριν μπει οποιοδήποτε δεδομένο</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14</a:t>
            </a:r>
            <a:endParaRPr lang="en-US" sz="900" dirty="0"/>
          </a:p>
        </p:txBody>
      </p:sp>
      <p:sp>
        <p:nvSpPr>
          <p:cNvPr id="6" name="Text 4"/>
          <p:cNvSpPr txBox="1"/>
          <p:nvPr/>
        </p:nvSpPr>
        <p:spPr>
          <a:xfrm>
            <a:off x="457200" y="1325880"/>
            <a:ext cx="3291840" cy="2743200"/>
          </a:xfrm>
          <a:prstGeom prst="rect">
            <a:avLst/>
          </a:prstGeom>
          <a:noFill/>
          <a:ln/>
        </p:spPr>
        <p:txBody>
          <a:bodyPr wrap="square" lIns="0" tIns="0" rIns="0" bIns="0" rtlCol="0" anchor="t"/>
          <a:lstStyle/>
          <a:p>
            <a:pPr marL="342900" indent="-342900">
              <a:spcAft>
                <a:spcPts val="1000"/>
              </a:spcAft>
              <a:buSzPct val="100000"/>
              <a:buChar char="•"/>
            </a:pPr>
            <a:r>
              <a:rPr lang="en-US" sz="1400" b="1" dirty="0">
                <a:solidFill>
                  <a:srgbClr val="12233A"/>
                </a:solidFill>
                <a:latin typeface="Calibri" pitchFamily="34" charset="0"/>
                <a:ea typeface="Calibri" pitchFamily="34" charset="-122"/>
                <a:cs typeface="Calibri" pitchFamily="34" charset="-120"/>
              </a:rPr>
              <a:t>Όνομα πίνακα</a:t>
            </a:r>
            <a:r>
              <a:rPr lang="en-US" sz="1400" dirty="0">
                <a:solidFill>
                  <a:srgbClr val="12233A"/>
                </a:solidFill>
                <a:latin typeface="Calibri" pitchFamily="34" charset="0"/>
                <a:ea typeface="Calibri" pitchFamily="34" charset="-122"/>
                <a:cs typeface="Calibri" pitchFamily="34" charset="-120"/>
              </a:rPr>
              <a:t> — τι αποθηκεύει</a:t>
            </a:r>
            <a:endParaRPr lang="en-US" sz="1400" dirty="0"/>
          </a:p>
          <a:p>
            <a:pPr marL="342900" indent="-342900">
              <a:spcAft>
                <a:spcPts val="1000"/>
              </a:spcAft>
              <a:buSzPct val="100000"/>
              <a:buChar char="•"/>
            </a:pPr>
            <a:r>
              <a:rPr lang="en-US" sz="1400" b="1" dirty="0">
                <a:solidFill>
                  <a:srgbClr val="12233A"/>
                </a:solidFill>
                <a:latin typeface="Calibri" pitchFamily="34" charset="0"/>
                <a:ea typeface="Calibri" pitchFamily="34" charset="-122"/>
                <a:cs typeface="Calibri" pitchFamily="34" charset="-120"/>
              </a:rPr>
              <a:t>Στήλες (πεδία)</a:t>
            </a:r>
            <a:r>
              <a:rPr lang="en-US" sz="1400" dirty="0">
                <a:solidFill>
                  <a:srgbClr val="12233A"/>
                </a:solidFill>
                <a:latin typeface="Calibri" pitchFamily="34" charset="0"/>
                <a:ea typeface="Calibri" pitchFamily="34" charset="-122"/>
                <a:cs typeface="Calibri" pitchFamily="34" charset="-120"/>
              </a:rPr>
              <a:t> — ονόματα και σειρά</a:t>
            </a:r>
            <a:endParaRPr lang="en-US" sz="1400" dirty="0"/>
          </a:p>
          <a:p>
            <a:pPr marL="342900" indent="-342900">
              <a:spcAft>
                <a:spcPts val="1000"/>
              </a:spcAft>
              <a:buSzPct val="100000"/>
              <a:buChar char="•"/>
            </a:pPr>
            <a:r>
              <a:rPr lang="en-US" sz="1400" b="1" dirty="0">
                <a:solidFill>
                  <a:srgbClr val="12233A"/>
                </a:solidFill>
                <a:latin typeface="Calibri" pitchFamily="34" charset="0"/>
                <a:ea typeface="Calibri" pitchFamily="34" charset="-122"/>
                <a:cs typeface="Calibri" pitchFamily="34" charset="-120"/>
              </a:rPr>
              <a:t>Τύπος δεδομένων</a:t>
            </a:r>
            <a:r>
              <a:rPr lang="en-US" sz="1400" dirty="0">
                <a:solidFill>
                  <a:srgbClr val="12233A"/>
                </a:solidFill>
                <a:latin typeface="Calibri" pitchFamily="34" charset="0"/>
                <a:ea typeface="Calibri" pitchFamily="34" charset="-122"/>
                <a:cs typeface="Calibri" pitchFamily="34" charset="-120"/>
              </a:rPr>
              <a:t> — τι είδους τιμή δέχεται κάθε στήλη</a:t>
            </a:r>
            <a:endParaRPr lang="en-US" sz="1400" dirty="0"/>
          </a:p>
          <a:p>
            <a:pPr marL="342900" indent="-342900">
              <a:spcAft>
                <a:spcPts val="1000"/>
              </a:spcAft>
              <a:buSzPct val="100000"/>
              <a:buChar char="•"/>
            </a:pPr>
            <a:r>
              <a:rPr lang="en-US" sz="1400" b="1" dirty="0">
                <a:solidFill>
                  <a:srgbClr val="12233A"/>
                </a:solidFill>
                <a:latin typeface="Calibri" pitchFamily="34" charset="0"/>
                <a:ea typeface="Calibri" pitchFamily="34" charset="-122"/>
                <a:cs typeface="Calibri" pitchFamily="34" charset="-120"/>
              </a:rPr>
              <a:t>NULL / NOT NULL</a:t>
            </a:r>
            <a:r>
              <a:rPr lang="en-US" sz="1400" dirty="0">
                <a:solidFill>
                  <a:srgbClr val="12233A"/>
                </a:solidFill>
                <a:latin typeface="Calibri" pitchFamily="34" charset="0"/>
                <a:ea typeface="Calibri" pitchFamily="34" charset="-122"/>
                <a:cs typeface="Calibri" pitchFamily="34" charset="-120"/>
              </a:rPr>
              <a:t> — επιτρέπεται η κενή τιμή;</a:t>
            </a:r>
            <a:endParaRPr lang="en-US" sz="1400" dirty="0"/>
          </a:p>
          <a:p>
            <a:pPr marL="342900" indent="-342900">
              <a:spcAft>
                <a:spcPts val="1000"/>
              </a:spcAft>
              <a:buSzPct val="100000"/>
              <a:buChar char="•"/>
            </a:pPr>
            <a:r>
              <a:rPr lang="en-US" sz="1400" b="1" dirty="0">
                <a:solidFill>
                  <a:srgbClr val="12233A"/>
                </a:solidFill>
                <a:latin typeface="Calibri" pitchFamily="34" charset="0"/>
                <a:ea typeface="Calibri" pitchFamily="34" charset="-122"/>
                <a:cs typeface="Calibri" pitchFamily="34" charset="-120"/>
              </a:rPr>
              <a:t>Περιορισμοί</a:t>
            </a:r>
            <a:r>
              <a:rPr lang="en-US" sz="1400" dirty="0">
                <a:solidFill>
                  <a:srgbClr val="12233A"/>
                </a:solidFill>
                <a:latin typeface="Calibri" pitchFamily="34" charset="0"/>
                <a:ea typeface="Calibri" pitchFamily="34" charset="-122"/>
                <a:cs typeface="Calibri" pitchFamily="34" charset="-120"/>
              </a:rPr>
              <a:t> — κλειδιά &amp; κανόνες (ενότητα 04)</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023360" y="1280160"/>
          <a:ext cx="4663440" cy="914400"/>
        </p:xfrm>
        <a:graphic>
          <a:graphicData uri="http://schemas.openxmlformats.org/drawingml/2006/table">
            <a:tbl>
              <a:tblPr/>
              <a:tblGrid>
                <a:gridCol w="12344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2918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Στήλη</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Τύπος</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NULL;</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Περιορισμός</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329184">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CompanyID</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INT</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όχι</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PRIMARY KEY</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Ticker</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VARCHAR(10)</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όχι</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UNIQUE</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329184">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CompanyName</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NVARCHAR(100)</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όχι</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SectorID</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INT</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όχι</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FOREIGN KEY</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329184">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Country</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NVARCHAR(50)</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όχι</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DEFAULT N'Ελλάδα'</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FoundedYear</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SMALLINT</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ναι</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CHECK 1800–2100</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6"/>
                  </a:ext>
                </a:extLst>
              </a:tr>
              <a:tr h="329184">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Employees</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INT</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ναι</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CHECK ≥ 0</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ListingDate</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950" dirty="0">
                          <a:solidFill>
                            <a:srgbClr val="12233A"/>
                          </a:solidFill>
                          <a:latin typeface="Courier New" pitchFamily="34" charset="0"/>
                          <a:ea typeface="Courier New" pitchFamily="34" charset="-122"/>
                          <a:cs typeface="Courier New" pitchFamily="34" charset="-120"/>
                        </a:rPr>
                        <a:t>DATE</a:t>
                      </a:r>
                      <a:endParaRPr lang="en-US" sz="9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alibri" pitchFamily="34" charset="0"/>
                          <a:ea typeface="Calibri" pitchFamily="34" charset="-122"/>
                          <a:cs typeface="Calibri" pitchFamily="34" charset="-120"/>
                        </a:rPr>
                        <a:t>όχι</a:t>
                      </a: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endParaRPr lang="en-US" sz="10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8"/>
                  </a:ext>
                </a:extLst>
              </a:tr>
            </a:tbl>
          </a:graphicData>
        </a:graphic>
      </p:graphicFrame>
      <p:sp>
        <p:nvSpPr>
          <p:cNvPr id="8" name="Text 5"/>
          <p:cNvSpPr txBox="1"/>
          <p:nvPr/>
        </p:nvSpPr>
        <p:spPr>
          <a:xfrm>
            <a:off x="4023360" y="4297680"/>
            <a:ext cx="4663440" cy="228600"/>
          </a:xfrm>
          <a:prstGeom prst="rect">
            <a:avLst/>
          </a:prstGeom>
          <a:noFill/>
          <a:ln/>
        </p:spPr>
        <p:txBody>
          <a:bodyPr wrap="square" lIns="0" tIns="0" rIns="0" bIns="0" rtlCol="0" anchor="t"/>
          <a:lstStyle/>
          <a:p>
            <a:pPr marL="0" indent="0" algn="r">
              <a:buNone/>
            </a:pPr>
            <a:r>
              <a:rPr lang="en-US" sz="1000" i="1" dirty="0">
                <a:solidFill>
                  <a:srgbClr val="5B6B7F"/>
                </a:solidFill>
                <a:latin typeface="Calibri" pitchFamily="34" charset="0"/>
                <a:ea typeface="Calibri" pitchFamily="34" charset="-122"/>
                <a:cs typeface="Calibri" pitchFamily="34" charset="-120"/>
              </a:rPr>
              <a:t>Σχήμα του πίνακα Companies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Βασικοί τύποι δεδομένων στον SQL Server</a:t>
            </a:r>
            <a:endParaRPr lang="en-US" sz="2600" dirty="0"/>
          </a:p>
        </p:txBody>
      </p:sp>
      <p:sp>
        <p:nvSpPr>
          <p:cNvPr id="3" name="Text 1"/>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32918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Κατηγορία</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Τύπος</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Στη βάση μας</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Πότε τον χρησιμοποιούμε</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329184">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Ακέραιοι</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INT</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CompanyID</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Κωδικοί, πλήθη (έως ~2,1 δισ.)</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BIGINT</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Volume</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Πολύ μεγάλοι αριθμοί</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329184">
                <a:tc>
                  <a:txBody>
                    <a:bodyPr/>
                    <a:lstStyle/>
                    <a:p>
                      <a:pPr marL="0" indent="0">
                        <a:buNone/>
                      </a:pP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SMALLINT</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FiscalYear</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Μικροί αριθμοί (έως 32.767)</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Δεκαδικοί</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DECIMAL(p, s)</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ClosePrice, Revenue</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Χρήματα, τιμές — ακρίβεια</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329184">
                <a:tc>
                  <a:txBody>
                    <a:bodyPr/>
                    <a:lstStyle/>
                    <a:p>
                      <a:pPr marL="0" indent="0">
                        <a:buNone/>
                      </a:pP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FLOAT</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Επιστημονικοί υπολογισμοί</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Κείμενο</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VARCHAR(n)</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Ticker</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Λατινικοί χαρακτήρες</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6"/>
                  </a:ext>
                </a:extLst>
              </a:tr>
              <a:tr h="329184">
                <a:tc>
                  <a:txBody>
                    <a:bodyPr/>
                    <a:lstStyle/>
                    <a:p>
                      <a:pPr marL="0" indent="0">
                        <a:buNone/>
                      </a:pP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NVARCHAR(n)</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CompanyName, SectorName</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Unicode — ελληνικά!</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Χρόνος</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DATE</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TradeDate, ListingDate</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Ημερομηνία</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8"/>
                  </a:ext>
                </a:extLst>
              </a:tr>
              <a:tr h="329184">
                <a:tc>
                  <a:txBody>
                    <a:bodyPr/>
                    <a:lstStyle/>
                    <a:p>
                      <a:pPr marL="0" indent="0">
                        <a:buNone/>
                      </a:pP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DATETIME2</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Ημερομηνία + ώρα</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184">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Λογικός</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BIT</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50" dirty="0">
                          <a:solidFill>
                            <a:srgbClr val="12233A"/>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50" dirty="0">
                          <a:solidFill>
                            <a:srgbClr val="12233A"/>
                          </a:solidFill>
                          <a:latin typeface="Calibri" pitchFamily="34" charset="0"/>
                          <a:ea typeface="Calibri" pitchFamily="34" charset="-122"/>
                          <a:cs typeface="Calibri" pitchFamily="34" charset="-120"/>
                        </a:rPr>
                        <a:t>0 / 1 (ναι / όχι)</a:t>
                      </a:r>
                      <a:endParaRPr lang="en-US" sz="115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DECIMAL(p, s): γιατί όχι FLOAT για χρήματα;</a:t>
            </a:r>
            <a:endParaRPr lang="en-US" sz="2600" dirty="0"/>
          </a:p>
        </p:txBody>
      </p:sp>
      <p:sp>
        <p:nvSpPr>
          <p:cNvPr id="3" name="Text 1"/>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16</a:t>
            </a:r>
            <a:endParaRPr lang="en-US" sz="900" dirty="0"/>
          </a:p>
        </p:txBody>
      </p:sp>
      <p:sp>
        <p:nvSpPr>
          <p:cNvPr id="5" name="Shape 3"/>
          <p:cNvSpPr/>
          <p:nvPr/>
        </p:nvSpPr>
        <p:spPr>
          <a:xfrm>
            <a:off x="457200" y="1097280"/>
            <a:ext cx="3931920" cy="1600200"/>
          </a:xfrm>
          <a:prstGeom prst="roundRect">
            <a:avLst>
              <a:gd name="adj" fmla="val 4571"/>
            </a:avLst>
          </a:prstGeom>
          <a:solidFill>
            <a:srgbClr val="EEF3F8"/>
          </a:solidFill>
          <a:ln w="12700">
            <a:solidFill>
              <a:srgbClr val="EEF3F8"/>
            </a:solidFill>
            <a:prstDash val="solid"/>
          </a:ln>
        </p:spPr>
        <p:txBody>
          <a:bodyPr/>
          <a:lstStyle/>
          <a:p>
            <a:endParaRPr lang="el-GR"/>
          </a:p>
        </p:txBody>
      </p:sp>
      <p:sp>
        <p:nvSpPr>
          <p:cNvPr id="6" name="Text 4"/>
          <p:cNvSpPr txBox="1"/>
          <p:nvPr/>
        </p:nvSpPr>
        <p:spPr>
          <a:xfrm>
            <a:off x="685800" y="1234440"/>
            <a:ext cx="3474720" cy="411480"/>
          </a:xfrm>
          <a:prstGeom prst="rect">
            <a:avLst/>
          </a:prstGeom>
          <a:noFill/>
          <a:ln/>
        </p:spPr>
        <p:txBody>
          <a:bodyPr wrap="square" lIns="0" tIns="0" rIns="0" bIns="0" rtlCol="0" anchor="t"/>
          <a:lstStyle/>
          <a:p>
            <a:pPr marL="0" indent="0">
              <a:buNone/>
            </a:pPr>
            <a:r>
              <a:rPr lang="en-US" sz="2200" b="1" dirty="0">
                <a:solidFill>
                  <a:srgbClr val="12233A"/>
                </a:solidFill>
                <a:latin typeface="Courier New" pitchFamily="34" charset="0"/>
                <a:ea typeface="Courier New" pitchFamily="34" charset="-122"/>
                <a:cs typeface="Courier New" pitchFamily="34" charset="-120"/>
              </a:rPr>
              <a:t>DECIMAL(10, 2)</a:t>
            </a:r>
            <a:endParaRPr lang="en-US" sz="2200" dirty="0"/>
          </a:p>
        </p:txBody>
      </p:sp>
      <p:sp>
        <p:nvSpPr>
          <p:cNvPr id="7" name="Text 5"/>
          <p:cNvSpPr txBox="1"/>
          <p:nvPr/>
        </p:nvSpPr>
        <p:spPr>
          <a:xfrm>
            <a:off x="685800" y="1737360"/>
            <a:ext cx="3566160" cy="914400"/>
          </a:xfrm>
          <a:prstGeom prst="rect">
            <a:avLst/>
          </a:prstGeom>
          <a:noFill/>
          <a:ln/>
        </p:spPr>
        <p:txBody>
          <a:bodyPr wrap="square" lIns="0" tIns="0" rIns="0" bIns="0" rtlCol="0" anchor="t"/>
          <a:lstStyle/>
          <a:p>
            <a:pPr marL="342900" indent="-342900">
              <a:spcAft>
                <a:spcPts val="400"/>
              </a:spcAft>
              <a:buSzPct val="100000"/>
              <a:buChar char="•"/>
            </a:pPr>
            <a:r>
              <a:rPr lang="en-US" sz="1300" b="1" dirty="0">
                <a:solidFill>
                  <a:srgbClr val="12233A"/>
                </a:solidFill>
                <a:latin typeface="Calibri" pitchFamily="34" charset="0"/>
                <a:ea typeface="Calibri" pitchFamily="34" charset="-122"/>
                <a:cs typeface="Calibri" pitchFamily="34" charset="-120"/>
              </a:rPr>
              <a:t>p = 10</a:t>
            </a:r>
            <a:r>
              <a:rPr lang="en-US" sz="1300" dirty="0">
                <a:solidFill>
                  <a:srgbClr val="12233A"/>
                </a:solidFill>
                <a:latin typeface="Calibri" pitchFamily="34" charset="0"/>
                <a:ea typeface="Calibri" pitchFamily="34" charset="-122"/>
                <a:cs typeface="Calibri" pitchFamily="34" charset="-120"/>
              </a:rPr>
              <a:t> ψηφία συνολικά (precision)</a:t>
            </a:r>
            <a:endParaRPr lang="en-US" sz="1300" dirty="0"/>
          </a:p>
          <a:p>
            <a:pPr marL="342900" indent="-342900">
              <a:spcAft>
                <a:spcPts val="400"/>
              </a:spcAft>
              <a:buSzPct val="100000"/>
              <a:buChar char="•"/>
            </a:pPr>
            <a:r>
              <a:rPr lang="en-US" sz="1300" b="1" dirty="0">
                <a:solidFill>
                  <a:srgbClr val="12233A"/>
                </a:solidFill>
                <a:latin typeface="Calibri" pitchFamily="34" charset="0"/>
                <a:ea typeface="Calibri" pitchFamily="34" charset="-122"/>
                <a:cs typeface="Calibri" pitchFamily="34" charset="-120"/>
              </a:rPr>
              <a:t>s = 2</a:t>
            </a:r>
            <a:r>
              <a:rPr lang="en-US" sz="1300" dirty="0">
                <a:solidFill>
                  <a:srgbClr val="12233A"/>
                </a:solidFill>
                <a:latin typeface="Calibri" pitchFamily="34" charset="0"/>
                <a:ea typeface="Calibri" pitchFamily="34" charset="-122"/>
                <a:cs typeface="Calibri" pitchFamily="34" charset="-120"/>
              </a:rPr>
              <a:t> ψηφία μετά την υποδιαστολή (scale)</a:t>
            </a:r>
            <a:endParaRPr lang="en-US" sz="1300" dirty="0"/>
          </a:p>
          <a:p>
            <a:pPr marL="342900" indent="-342900">
              <a:spcAft>
                <a:spcPts val="400"/>
              </a:spcAft>
              <a:buSzPct val="100000"/>
              <a:buChar char="•"/>
            </a:pPr>
            <a:r>
              <a:rPr lang="en-US" sz="1300" b="1" dirty="0">
                <a:solidFill>
                  <a:srgbClr val="12233A"/>
                </a:solidFill>
                <a:latin typeface="Calibri" pitchFamily="34" charset="0"/>
                <a:ea typeface="Calibri" pitchFamily="34" charset="-122"/>
                <a:cs typeface="Calibri" pitchFamily="34" charset="-120"/>
              </a:rPr>
              <a:t>Μέγιστη τιμή:</a:t>
            </a:r>
            <a:r>
              <a:rPr lang="en-US" sz="1300" dirty="0">
                <a:solidFill>
                  <a:srgbClr val="12233A"/>
                </a:solidFill>
                <a:latin typeface="Calibri" pitchFamily="34" charset="0"/>
                <a:ea typeface="Calibri" pitchFamily="34" charset="-122"/>
                <a:cs typeface="Calibri" pitchFamily="34" charset="-120"/>
              </a:rPr>
              <a:t> 99.999.999,99</a:t>
            </a:r>
            <a:endParaRPr lang="en-US" sz="1300" dirty="0"/>
          </a:p>
        </p:txBody>
      </p:sp>
      <p:sp>
        <p:nvSpPr>
          <p:cNvPr id="8" name="Text 6"/>
          <p:cNvSpPr txBox="1"/>
          <p:nvPr/>
        </p:nvSpPr>
        <p:spPr>
          <a:xfrm>
            <a:off x="457200" y="2926080"/>
            <a:ext cx="3931920" cy="1554480"/>
          </a:xfrm>
          <a:prstGeom prst="rect">
            <a:avLst/>
          </a:prstGeom>
          <a:noFill/>
          <a:ln/>
        </p:spPr>
        <p:txBody>
          <a:bodyPr wrap="square" lIns="0" tIns="0" rIns="0" bIns="0" rtlCol="0" anchor="t"/>
          <a:lstStyle/>
          <a:p>
            <a:pPr marL="342900" indent="-342900">
              <a:spcAft>
                <a:spcPts val="800"/>
              </a:spcAft>
              <a:buSzPct val="100000"/>
              <a:buChar char="•"/>
            </a:pPr>
            <a:r>
              <a:rPr lang="en-US" sz="1300" b="1" dirty="0">
                <a:solidFill>
                  <a:srgbClr val="12233A"/>
                </a:solidFill>
                <a:latin typeface="Calibri" pitchFamily="34" charset="0"/>
                <a:ea typeface="Calibri" pitchFamily="34" charset="-122"/>
                <a:cs typeface="Calibri" pitchFamily="34" charset="-120"/>
              </a:rPr>
              <a:t>DECIMAL</a:t>
            </a:r>
            <a:r>
              <a:rPr lang="en-US" sz="1300" dirty="0">
                <a:solidFill>
                  <a:srgbClr val="12233A"/>
                </a:solidFill>
                <a:latin typeface="Calibri" pitchFamily="34" charset="0"/>
                <a:ea typeface="Calibri" pitchFamily="34" charset="-122"/>
                <a:cs typeface="Calibri" pitchFamily="34" charset="-120"/>
              </a:rPr>
              <a:t> αποθηκεύει ακριβώς τον αριθμό που δίνεις</a:t>
            </a:r>
            <a:endParaRPr lang="en-US" sz="1300" dirty="0"/>
          </a:p>
          <a:p>
            <a:pPr marL="342900" indent="-342900">
              <a:spcAft>
                <a:spcPts val="800"/>
              </a:spcAft>
              <a:buSzPct val="100000"/>
              <a:buChar char="•"/>
            </a:pPr>
            <a:r>
              <a:rPr lang="en-US" sz="1300" b="1" dirty="0">
                <a:solidFill>
                  <a:srgbClr val="12233A"/>
                </a:solidFill>
                <a:latin typeface="Calibri" pitchFamily="34" charset="0"/>
                <a:ea typeface="Calibri" pitchFamily="34" charset="-122"/>
                <a:cs typeface="Calibri" pitchFamily="34" charset="-120"/>
              </a:rPr>
              <a:t>FLOAT</a:t>
            </a:r>
            <a:r>
              <a:rPr lang="en-US" sz="1300" dirty="0">
                <a:solidFill>
                  <a:srgbClr val="12233A"/>
                </a:solidFill>
                <a:latin typeface="Calibri" pitchFamily="34" charset="0"/>
                <a:ea typeface="Calibri" pitchFamily="34" charset="-122"/>
                <a:cs typeface="Calibri" pitchFamily="34" charset="-120"/>
              </a:rPr>
              <a:t> αποθηκεύει μια προσέγγιση (δυαδική αναπαράσταση)</a:t>
            </a:r>
            <a:endParaRPr lang="en-US" sz="1300" dirty="0"/>
          </a:p>
          <a:p>
            <a:pPr marL="342900" indent="-342900">
              <a:spcAft>
                <a:spcPts val="800"/>
              </a:spcAft>
              <a:buSzPct val="100000"/>
              <a:buChar char="•"/>
            </a:pPr>
            <a:r>
              <a:rPr lang="en-US" sz="1300" b="1" dirty="0">
                <a:solidFill>
                  <a:srgbClr val="12233A"/>
                </a:solidFill>
                <a:latin typeface="Calibri" pitchFamily="34" charset="0"/>
                <a:ea typeface="Calibri" pitchFamily="34" charset="-122"/>
                <a:cs typeface="Calibri" pitchFamily="34" charset="-120"/>
              </a:rPr>
              <a:t>Στα χρήματα</a:t>
            </a:r>
            <a:r>
              <a:rPr lang="en-US" sz="1300" dirty="0">
                <a:solidFill>
                  <a:srgbClr val="12233A"/>
                </a:solidFill>
                <a:latin typeface="Calibri" pitchFamily="34" charset="0"/>
                <a:ea typeface="Calibri" pitchFamily="34" charset="-122"/>
                <a:cs typeface="Calibri" pitchFamily="34" charset="-120"/>
              </a:rPr>
              <a:t> τα μικρά σφάλματα αθροίζονται σε εκατομμύρια εγγραφές</a:t>
            </a:r>
            <a:endParaRPr lang="en-US" sz="1300" dirty="0"/>
          </a:p>
        </p:txBody>
      </p:sp>
      <p:sp>
        <p:nvSpPr>
          <p:cNvPr id="9" name="Shape 7"/>
          <p:cNvSpPr/>
          <p:nvPr/>
        </p:nvSpPr>
        <p:spPr>
          <a:xfrm>
            <a:off x="4663440" y="1097280"/>
            <a:ext cx="4023360" cy="3429000"/>
          </a:xfrm>
          <a:prstGeom prst="roundRect">
            <a:avLst>
              <a:gd name="adj" fmla="val 2133"/>
            </a:avLst>
          </a:prstGeom>
          <a:solidFill>
            <a:srgbClr val="0F1E30"/>
          </a:solidFill>
          <a:ln w="12700">
            <a:solidFill>
              <a:srgbClr val="0F1E30"/>
            </a:solidFill>
            <a:prstDash val="solid"/>
          </a:ln>
        </p:spPr>
        <p:txBody>
          <a:bodyPr/>
          <a:lstStyle/>
          <a:p>
            <a:endParaRPr lang="el-GR"/>
          </a:p>
        </p:txBody>
      </p:sp>
      <p:sp>
        <p:nvSpPr>
          <p:cNvPr id="10" name="Text 8"/>
          <p:cNvSpPr txBox="1"/>
          <p:nvPr/>
        </p:nvSpPr>
        <p:spPr>
          <a:xfrm>
            <a:off x="4846320" y="1188720"/>
            <a:ext cx="3657600" cy="228600"/>
          </a:xfrm>
          <a:prstGeom prst="rect">
            <a:avLst/>
          </a:prstGeom>
          <a:noFill/>
          <a:ln/>
        </p:spPr>
        <p:txBody>
          <a:bodyPr wrap="square" lIns="0" tIns="0" rIns="0" bIns="0" rtlCol="0" anchor="ctr"/>
          <a:lstStyle/>
          <a:p>
            <a:pPr marL="0" indent="0">
              <a:buNone/>
            </a:pPr>
            <a:r>
              <a:rPr lang="en-US" sz="900" b="1" kern="0" spc="100" dirty="0">
                <a:solidFill>
                  <a:srgbClr val="2EC4B6"/>
                </a:solidFill>
                <a:latin typeface="Calibri" pitchFamily="34" charset="0"/>
                <a:ea typeface="Calibri" pitchFamily="34" charset="-122"/>
                <a:cs typeface="Calibri" pitchFamily="34" charset="-120"/>
              </a:rPr>
              <a:t>ΔΟΚΙΜΑΣΤΕ ΤΟ ΣΤΟ SSMS</a:t>
            </a:r>
            <a:endParaRPr lang="en-US" sz="900" dirty="0"/>
          </a:p>
        </p:txBody>
      </p:sp>
      <p:sp>
        <p:nvSpPr>
          <p:cNvPr id="11" name="Text 9"/>
          <p:cNvSpPr txBox="1"/>
          <p:nvPr/>
        </p:nvSpPr>
        <p:spPr>
          <a:xfrm>
            <a:off x="4846320" y="1463040"/>
            <a:ext cx="3703320" cy="2953512"/>
          </a:xfrm>
          <a:prstGeom prst="rect">
            <a:avLst/>
          </a:prstGeom>
          <a:noFill/>
          <a:ln/>
        </p:spPr>
        <p:txBody>
          <a:bodyPr wrap="square" lIns="0" tIns="0" rIns="0" bIns="0" rtlCol="0" anchor="t"/>
          <a:lstStyle/>
          <a:p>
            <a:pPr marL="0" indent="0">
              <a:lnSpc>
                <a:spcPct val="105000"/>
              </a:lnSpc>
              <a:buNone/>
            </a:pPr>
            <a:r>
              <a:rPr lang="en-US" sz="1000" dirty="0">
                <a:solidFill>
                  <a:srgbClr val="8393A8"/>
                </a:solidFill>
                <a:latin typeface="Courier New" pitchFamily="34" charset="0"/>
                <a:ea typeface="Courier New" pitchFamily="34" charset="-122"/>
                <a:cs typeface="Courier New" pitchFamily="34" charset="-120"/>
              </a:rPr>
              <a:t>-- FLOAT: προσέγγιση</a:t>
            </a:r>
            <a:endParaRPr lang="en-US" sz="1000" dirty="0"/>
          </a:p>
          <a:p>
            <a:pPr marL="0" indent="0">
              <a:lnSpc>
                <a:spcPct val="105000"/>
              </a:lnSpc>
              <a:buNone/>
            </a:pPr>
            <a:r>
              <a:rPr lang="en-US" sz="1000" b="1" dirty="0">
                <a:solidFill>
                  <a:srgbClr val="4FD1C5"/>
                </a:solidFill>
                <a:latin typeface="Courier New" pitchFamily="34" charset="0"/>
                <a:ea typeface="Courier New" pitchFamily="34" charset="-122"/>
                <a:cs typeface="Courier New" pitchFamily="34" charset="-120"/>
              </a:rPr>
              <a:t>SELECT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CASE</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WHEN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C4A7F5"/>
                </a:solidFill>
                <a:latin typeface="Courier New" pitchFamily="34" charset="0"/>
                <a:ea typeface="Courier New" pitchFamily="34" charset="-122"/>
                <a:cs typeface="Courier New" pitchFamily="34" charset="-120"/>
              </a:rPr>
              <a:t>CAST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28B82"/>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AS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FLOAT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C4A7F5"/>
                </a:solidFill>
                <a:latin typeface="Courier New" pitchFamily="34" charset="0"/>
                <a:ea typeface="Courier New" pitchFamily="34" charset="-122"/>
                <a:cs typeface="Courier New" pitchFamily="34" charset="-120"/>
              </a:rPr>
              <a:t>CAST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28B82"/>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AS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FLOAT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C4A7F5"/>
                </a:solidFill>
                <a:latin typeface="Courier New" pitchFamily="34" charset="0"/>
                <a:ea typeface="Courier New" pitchFamily="34" charset="-122"/>
                <a:cs typeface="Courier New" pitchFamily="34" charset="-120"/>
              </a:rPr>
              <a:t>CAST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28B82"/>
                </a:solidFill>
                <a:latin typeface="Courier New" pitchFamily="34" charset="0"/>
                <a:ea typeface="Courier New" pitchFamily="34" charset="-122"/>
                <a:cs typeface="Courier New" pitchFamily="34" charset="-120"/>
              </a:rPr>
              <a:t>0.3</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AS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FLOAT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THEN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2B134"/>
                </a:solidFill>
                <a:latin typeface="Courier New" pitchFamily="34" charset="0"/>
                <a:ea typeface="Courier New" pitchFamily="34" charset="-122"/>
                <a:cs typeface="Courier New" pitchFamily="34" charset="-120"/>
              </a:rPr>
              <a:t>'equal'</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ELSE</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2B134"/>
                </a:solidFill>
                <a:latin typeface="Courier New" pitchFamily="34" charset="0"/>
                <a:ea typeface="Courier New" pitchFamily="34" charset="-122"/>
                <a:cs typeface="Courier New" pitchFamily="34" charset="-120"/>
              </a:rPr>
              <a:t>'NOT equal'</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END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8393A8"/>
                </a:solidFill>
                <a:latin typeface="Courier New" pitchFamily="34" charset="0"/>
                <a:ea typeface="Courier New" pitchFamily="34" charset="-122"/>
                <a:cs typeface="Courier New" pitchFamily="34" charset="-120"/>
              </a:rPr>
              <a:t>-- αποτέλεσμα: 'NOT equal'</a:t>
            </a:r>
            <a:endParaRPr lang="en-US" sz="1000" dirty="0"/>
          </a:p>
          <a:p>
            <a:pPr marL="0" indent="0">
              <a:lnSpc>
                <a:spcPct val="105000"/>
              </a:lnSpc>
              <a:buNone/>
            </a:pPr>
            <a:r>
              <a:rPr lang="en-US" sz="1000" dirty="0">
                <a:solidFill>
                  <a:srgbClr val="00000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8393A8"/>
                </a:solidFill>
                <a:latin typeface="Courier New" pitchFamily="34" charset="0"/>
                <a:ea typeface="Courier New" pitchFamily="34" charset="-122"/>
                <a:cs typeface="Courier New" pitchFamily="34" charset="-120"/>
              </a:rPr>
              <a:t>-- DECIMAL: ακρίβεια</a:t>
            </a:r>
            <a:endParaRPr lang="en-US" sz="1000" dirty="0"/>
          </a:p>
          <a:p>
            <a:pPr marL="0" indent="0">
              <a:lnSpc>
                <a:spcPct val="105000"/>
              </a:lnSpc>
              <a:buNone/>
            </a:pPr>
            <a:r>
              <a:rPr lang="en-US" sz="1000" b="1" dirty="0">
                <a:solidFill>
                  <a:srgbClr val="4FD1C5"/>
                </a:solidFill>
                <a:latin typeface="Courier New" pitchFamily="34" charset="0"/>
                <a:ea typeface="Courier New" pitchFamily="34" charset="-122"/>
                <a:cs typeface="Courier New" pitchFamily="34" charset="-120"/>
              </a:rPr>
              <a:t>SELECT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CASE</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WHEN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C4A7F5"/>
                </a:solidFill>
                <a:latin typeface="Courier New" pitchFamily="34" charset="0"/>
                <a:ea typeface="Courier New" pitchFamily="34" charset="-122"/>
                <a:cs typeface="Courier New" pitchFamily="34" charset="-120"/>
              </a:rPr>
              <a:t>CAST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28B82"/>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AS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DECIMAL</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28B82"/>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28B82"/>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C4A7F5"/>
                </a:solidFill>
                <a:latin typeface="Courier New" pitchFamily="34" charset="0"/>
                <a:ea typeface="Courier New" pitchFamily="34" charset="-122"/>
                <a:cs typeface="Courier New" pitchFamily="34" charset="-120"/>
              </a:rPr>
              <a:t>CAST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28B82"/>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AS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DECIMAL</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28B82"/>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28B82"/>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28B82"/>
                </a:solidFill>
                <a:latin typeface="Courier New" pitchFamily="34" charset="0"/>
                <a:ea typeface="Courier New" pitchFamily="34" charset="-122"/>
                <a:cs typeface="Courier New" pitchFamily="34" charset="-120"/>
              </a:rPr>
              <a:t>0.3</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THEN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2B134"/>
                </a:solidFill>
                <a:latin typeface="Courier New" pitchFamily="34" charset="0"/>
                <a:ea typeface="Courier New" pitchFamily="34" charset="-122"/>
                <a:cs typeface="Courier New" pitchFamily="34" charset="-120"/>
              </a:rPr>
              <a:t>'equal'</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ELSE</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2B134"/>
                </a:solidFill>
                <a:latin typeface="Courier New" pitchFamily="34" charset="0"/>
                <a:ea typeface="Courier New" pitchFamily="34" charset="-122"/>
                <a:cs typeface="Courier New" pitchFamily="34" charset="-120"/>
              </a:rPr>
              <a:t>'NOT equal'</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4FD1C5"/>
                </a:solidFill>
                <a:latin typeface="Courier New" pitchFamily="34" charset="0"/>
                <a:ea typeface="Courier New" pitchFamily="34" charset="-122"/>
                <a:cs typeface="Courier New" pitchFamily="34" charset="-120"/>
              </a:rPr>
              <a:t>END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8393A8"/>
                </a:solidFill>
                <a:latin typeface="Courier New" pitchFamily="34" charset="0"/>
                <a:ea typeface="Courier New" pitchFamily="34" charset="-122"/>
                <a:cs typeface="Courier New" pitchFamily="34" charset="-120"/>
              </a:rPr>
              <a:t>-- αποτέλεσμα: 'equal'</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VARCHAR ή NVARCHAR; Και τι είναι το N'...';</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Για ελληνικό κείμενο χρειάζεται Unicode</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457200" y="1325880"/>
            <a:ext cx="3977640" cy="1417320"/>
          </a:xfrm>
          <a:prstGeom prst="roundRect">
            <a:avLst>
              <a:gd name="adj" fmla="val 5161"/>
            </a:avLst>
          </a:prstGeom>
          <a:solidFill>
            <a:srgbClr val="0F1E30"/>
          </a:solidFill>
          <a:ln w="12700">
            <a:solidFill>
              <a:srgbClr val="0F1E30"/>
            </a:solidFill>
            <a:prstDash val="solid"/>
          </a:ln>
        </p:spPr>
        <p:txBody>
          <a:bodyPr/>
          <a:lstStyle/>
          <a:p>
            <a:endParaRPr lang="el-GR"/>
          </a:p>
        </p:txBody>
      </p:sp>
      <p:sp>
        <p:nvSpPr>
          <p:cNvPr id="7" name="Text 5"/>
          <p:cNvSpPr txBox="1"/>
          <p:nvPr/>
        </p:nvSpPr>
        <p:spPr>
          <a:xfrm>
            <a:off x="640080" y="1417320"/>
            <a:ext cx="3611880" cy="228600"/>
          </a:xfrm>
          <a:prstGeom prst="rect">
            <a:avLst/>
          </a:prstGeom>
          <a:noFill/>
          <a:ln/>
        </p:spPr>
        <p:txBody>
          <a:bodyPr wrap="square" lIns="0" tIns="0" rIns="0" bIns="0" rtlCol="0" anchor="ctr"/>
          <a:lstStyle/>
          <a:p>
            <a:pPr marL="0" indent="0">
              <a:buNone/>
            </a:pPr>
            <a:r>
              <a:rPr lang="en-US" sz="900" b="1" kern="0" spc="100" dirty="0">
                <a:solidFill>
                  <a:srgbClr val="2EC4B6"/>
                </a:solidFill>
                <a:latin typeface="Calibri" pitchFamily="34" charset="0"/>
                <a:ea typeface="Calibri" pitchFamily="34" charset="-122"/>
                <a:cs typeface="Calibri" pitchFamily="34" charset="-120"/>
              </a:rPr>
              <a:t>✗ ΧΩΡΙΣ N</a:t>
            </a:r>
            <a:endParaRPr lang="en-US" sz="900" dirty="0"/>
          </a:p>
        </p:txBody>
      </p:sp>
      <p:sp>
        <p:nvSpPr>
          <p:cNvPr id="8" name="Text 6"/>
          <p:cNvSpPr txBox="1"/>
          <p:nvPr/>
        </p:nvSpPr>
        <p:spPr>
          <a:xfrm>
            <a:off x="640080" y="1691640"/>
            <a:ext cx="3657600" cy="941832"/>
          </a:xfrm>
          <a:prstGeom prst="rect">
            <a:avLst/>
          </a:prstGeom>
          <a:noFill/>
          <a:ln/>
        </p:spPr>
        <p:txBody>
          <a:bodyPr wrap="square" lIns="0" tIns="0" rIns="0" bIns="0" rtlCol="0" anchor="t"/>
          <a:lstStyle/>
          <a:p>
            <a:pPr marL="0" indent="0">
              <a:lnSpc>
                <a:spcPct val="105000"/>
              </a:lnSpc>
              <a:buNone/>
            </a:pPr>
            <a:r>
              <a:rPr lang="en-US" sz="1100" b="1" dirty="0">
                <a:solidFill>
                  <a:srgbClr val="4FD1C5"/>
                </a:solidFill>
                <a:latin typeface="Courier New" pitchFamily="34" charset="0"/>
                <a:ea typeface="Courier New" pitchFamily="34" charset="-122"/>
                <a:cs typeface="Courier New" pitchFamily="34" charset="-120"/>
              </a:rPr>
              <a:t>INSERT</a:t>
            </a: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4FD1C5"/>
                </a:solidFill>
                <a:latin typeface="Courier New" pitchFamily="34" charset="0"/>
                <a:ea typeface="Courier New" pitchFamily="34" charset="-122"/>
                <a:cs typeface="Courier New" pitchFamily="34" charset="-120"/>
              </a:rPr>
              <a:t>INTO</a:t>
            </a:r>
            <a:r>
              <a:rPr lang="en-US" sz="1100" dirty="0">
                <a:solidFill>
                  <a:srgbClr val="E6EDF3"/>
                </a:solidFill>
                <a:latin typeface="Courier New" pitchFamily="34" charset="0"/>
                <a:ea typeface="Courier New" pitchFamily="34" charset="-122"/>
                <a:cs typeface="Courier New" pitchFamily="34" charset="-120"/>
              </a:rPr>
              <a:t> Sectors (SectorID, SectorName)</a:t>
            </a:r>
            <a:endParaRPr lang="en-US" sz="1100" dirty="0"/>
          </a:p>
          <a:p>
            <a:pPr marL="0" indent="0">
              <a:lnSpc>
                <a:spcPct val="105000"/>
              </a:lnSpc>
              <a:buNone/>
            </a:pPr>
            <a:r>
              <a:rPr lang="en-US" sz="1100" b="1" dirty="0">
                <a:solidFill>
                  <a:srgbClr val="4FD1C5"/>
                </a:solidFill>
                <a:latin typeface="Courier New" pitchFamily="34" charset="0"/>
                <a:ea typeface="Courier New" pitchFamily="34" charset="-122"/>
                <a:cs typeface="Courier New" pitchFamily="34" charset="-120"/>
              </a:rPr>
              <a:t>VALUES</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28B82"/>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2B134"/>
                </a:solidFill>
                <a:latin typeface="Courier New" pitchFamily="34" charset="0"/>
                <a:ea typeface="Courier New" pitchFamily="34" charset="-122"/>
                <a:cs typeface="Courier New" pitchFamily="34" charset="-120"/>
              </a:rPr>
              <a:t>'Ναυπηγεία'</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05000"/>
              </a:lnSpc>
              <a:buNone/>
            </a:pPr>
            <a:r>
              <a:rPr lang="en-US" sz="1100" dirty="0">
                <a:solidFill>
                  <a:srgbClr val="00000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8393A8"/>
                </a:solidFill>
                <a:latin typeface="Courier New" pitchFamily="34" charset="0"/>
                <a:ea typeface="Courier New" pitchFamily="34" charset="-122"/>
                <a:cs typeface="Courier New" pitchFamily="34" charset="-120"/>
              </a:rPr>
              <a:t>-- μπορεί να αποθηκευτεί ως: ?????????</a:t>
            </a:r>
            <a:endParaRPr lang="en-US" sz="1100" dirty="0"/>
          </a:p>
        </p:txBody>
      </p:sp>
      <p:sp>
        <p:nvSpPr>
          <p:cNvPr id="9" name="Shape 7"/>
          <p:cNvSpPr/>
          <p:nvPr/>
        </p:nvSpPr>
        <p:spPr>
          <a:xfrm>
            <a:off x="4709160" y="1325880"/>
            <a:ext cx="3977640" cy="1417320"/>
          </a:xfrm>
          <a:prstGeom prst="roundRect">
            <a:avLst>
              <a:gd name="adj" fmla="val 5161"/>
            </a:avLst>
          </a:prstGeom>
          <a:solidFill>
            <a:srgbClr val="0F1E30"/>
          </a:solidFill>
          <a:ln w="12700">
            <a:solidFill>
              <a:srgbClr val="0F1E30"/>
            </a:solidFill>
            <a:prstDash val="solid"/>
          </a:ln>
        </p:spPr>
        <p:txBody>
          <a:bodyPr/>
          <a:lstStyle/>
          <a:p>
            <a:endParaRPr lang="el-GR"/>
          </a:p>
        </p:txBody>
      </p:sp>
      <p:sp>
        <p:nvSpPr>
          <p:cNvPr id="10" name="Text 8"/>
          <p:cNvSpPr txBox="1"/>
          <p:nvPr/>
        </p:nvSpPr>
        <p:spPr>
          <a:xfrm>
            <a:off x="4892040" y="1417320"/>
            <a:ext cx="3611880" cy="228600"/>
          </a:xfrm>
          <a:prstGeom prst="rect">
            <a:avLst/>
          </a:prstGeom>
          <a:noFill/>
          <a:ln/>
        </p:spPr>
        <p:txBody>
          <a:bodyPr wrap="square" lIns="0" tIns="0" rIns="0" bIns="0" rtlCol="0" anchor="ctr"/>
          <a:lstStyle/>
          <a:p>
            <a:pPr marL="0" indent="0">
              <a:buNone/>
            </a:pPr>
            <a:r>
              <a:rPr lang="en-US" sz="900" b="1" kern="0" spc="100" dirty="0">
                <a:solidFill>
                  <a:srgbClr val="2EC4B6"/>
                </a:solidFill>
                <a:latin typeface="Calibri" pitchFamily="34" charset="0"/>
                <a:ea typeface="Calibri" pitchFamily="34" charset="-122"/>
                <a:cs typeface="Calibri" pitchFamily="34" charset="-120"/>
              </a:rPr>
              <a:t>✓ ΜΕ N</a:t>
            </a:r>
            <a:endParaRPr lang="en-US" sz="900" dirty="0"/>
          </a:p>
        </p:txBody>
      </p:sp>
      <p:sp>
        <p:nvSpPr>
          <p:cNvPr id="11" name="Text 9"/>
          <p:cNvSpPr txBox="1"/>
          <p:nvPr/>
        </p:nvSpPr>
        <p:spPr>
          <a:xfrm>
            <a:off x="4892040" y="1691640"/>
            <a:ext cx="3657600" cy="941832"/>
          </a:xfrm>
          <a:prstGeom prst="rect">
            <a:avLst/>
          </a:prstGeom>
          <a:noFill/>
          <a:ln/>
        </p:spPr>
        <p:txBody>
          <a:bodyPr wrap="square" lIns="0" tIns="0" rIns="0" bIns="0" rtlCol="0" anchor="t"/>
          <a:lstStyle/>
          <a:p>
            <a:pPr marL="0" indent="0">
              <a:lnSpc>
                <a:spcPct val="105000"/>
              </a:lnSpc>
              <a:buNone/>
            </a:pPr>
            <a:r>
              <a:rPr lang="en-US" sz="1100" b="1" dirty="0">
                <a:solidFill>
                  <a:srgbClr val="4FD1C5"/>
                </a:solidFill>
                <a:latin typeface="Courier New" pitchFamily="34" charset="0"/>
                <a:ea typeface="Courier New" pitchFamily="34" charset="-122"/>
                <a:cs typeface="Courier New" pitchFamily="34" charset="-120"/>
              </a:rPr>
              <a:t>INSERT</a:t>
            </a: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4FD1C5"/>
                </a:solidFill>
                <a:latin typeface="Courier New" pitchFamily="34" charset="0"/>
                <a:ea typeface="Courier New" pitchFamily="34" charset="-122"/>
                <a:cs typeface="Courier New" pitchFamily="34" charset="-120"/>
              </a:rPr>
              <a:t>INTO</a:t>
            </a:r>
            <a:r>
              <a:rPr lang="en-US" sz="1100" dirty="0">
                <a:solidFill>
                  <a:srgbClr val="E6EDF3"/>
                </a:solidFill>
                <a:latin typeface="Courier New" pitchFamily="34" charset="0"/>
                <a:ea typeface="Courier New" pitchFamily="34" charset="-122"/>
                <a:cs typeface="Courier New" pitchFamily="34" charset="-120"/>
              </a:rPr>
              <a:t> Sectors (SectorID, SectorName)</a:t>
            </a:r>
            <a:endParaRPr lang="en-US" sz="1100" dirty="0"/>
          </a:p>
          <a:p>
            <a:pPr marL="0" indent="0">
              <a:lnSpc>
                <a:spcPct val="105000"/>
              </a:lnSpc>
              <a:buNone/>
            </a:pPr>
            <a:r>
              <a:rPr lang="en-US" sz="1100" b="1" dirty="0">
                <a:solidFill>
                  <a:srgbClr val="4FD1C5"/>
                </a:solidFill>
                <a:latin typeface="Courier New" pitchFamily="34" charset="0"/>
                <a:ea typeface="Courier New" pitchFamily="34" charset="-122"/>
                <a:cs typeface="Courier New" pitchFamily="34" charset="-120"/>
              </a:rPr>
              <a:t>VALUES</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28B82"/>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 </a:t>
            </a:r>
            <a:r>
              <a:rPr lang="en-US" sz="1100" dirty="0">
                <a:solidFill>
                  <a:srgbClr val="F2B134"/>
                </a:solidFill>
                <a:latin typeface="Courier New" pitchFamily="34" charset="0"/>
                <a:ea typeface="Courier New" pitchFamily="34" charset="-122"/>
                <a:cs typeface="Courier New" pitchFamily="34" charset="-120"/>
              </a:rPr>
              <a:t>N'Ναυπηγεία'</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marL="0" indent="0">
              <a:lnSpc>
                <a:spcPct val="105000"/>
              </a:lnSpc>
              <a:buNone/>
            </a:pPr>
            <a:r>
              <a:rPr lang="en-US" sz="1100" dirty="0">
                <a:solidFill>
                  <a:srgbClr val="000000"/>
                </a:solidFill>
                <a:latin typeface="Courier New" pitchFamily="34" charset="0"/>
                <a:ea typeface="Courier New" pitchFamily="34" charset="-122"/>
                <a:cs typeface="Courier New" pitchFamily="34" charset="-120"/>
              </a:rPr>
              <a:t> </a:t>
            </a:r>
            <a:endParaRPr lang="en-US" sz="1100" dirty="0"/>
          </a:p>
          <a:p>
            <a:pPr marL="0" indent="0">
              <a:lnSpc>
                <a:spcPct val="105000"/>
              </a:lnSpc>
              <a:buNone/>
            </a:pPr>
            <a:r>
              <a:rPr lang="en-US" sz="1100" dirty="0">
                <a:solidFill>
                  <a:srgbClr val="8393A8"/>
                </a:solidFill>
                <a:latin typeface="Courier New" pitchFamily="34" charset="0"/>
                <a:ea typeface="Courier New" pitchFamily="34" charset="-122"/>
                <a:cs typeface="Courier New" pitchFamily="34" charset="-120"/>
              </a:rPr>
              <a:t>-- αποθηκεύεται σωστά: Ναυπηγεία</a:t>
            </a:r>
            <a:endParaRPr lang="en-US" sz="1100" dirty="0"/>
          </a:p>
        </p:txBody>
      </p:sp>
      <p:sp>
        <p:nvSpPr>
          <p:cNvPr id="12" name="Text 10"/>
          <p:cNvSpPr txBox="1"/>
          <p:nvPr/>
        </p:nvSpPr>
        <p:spPr>
          <a:xfrm>
            <a:off x="457200" y="3017520"/>
            <a:ext cx="8229600" cy="10972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12233A"/>
                </a:solidFill>
                <a:latin typeface="Calibri" pitchFamily="34" charset="0"/>
                <a:ea typeface="Calibri" pitchFamily="34" charset="-122"/>
                <a:cs typeface="Calibri" pitchFamily="34" charset="-120"/>
              </a:rPr>
              <a:t>VARCHAR(n)</a:t>
            </a:r>
            <a:r>
              <a:rPr lang="en-US" sz="1400" dirty="0">
                <a:solidFill>
                  <a:srgbClr val="12233A"/>
                </a:solidFill>
                <a:latin typeface="Calibri" pitchFamily="34" charset="0"/>
                <a:ea typeface="Calibri" pitchFamily="34" charset="-122"/>
                <a:cs typeface="Calibri" pitchFamily="34" charset="-120"/>
              </a:rPr>
              <a:t> — έως n χαρακτήρες, κυρίως λατινικοί (π.χ. Ticker: ATLB)</a:t>
            </a:r>
            <a:endParaRPr lang="en-US" sz="1400" dirty="0"/>
          </a:p>
          <a:p>
            <a:pPr marL="342900" indent="-342900">
              <a:spcAft>
                <a:spcPts val="800"/>
              </a:spcAft>
              <a:buSzPct val="100000"/>
              <a:buChar char="•"/>
            </a:pPr>
            <a:r>
              <a:rPr lang="en-US" sz="1400" b="1" dirty="0">
                <a:solidFill>
                  <a:srgbClr val="12233A"/>
                </a:solidFill>
                <a:latin typeface="Calibri" pitchFamily="34" charset="0"/>
                <a:ea typeface="Calibri" pitchFamily="34" charset="-122"/>
                <a:cs typeface="Calibri" pitchFamily="34" charset="-120"/>
              </a:rPr>
              <a:t>NVARCHAR(n)</a:t>
            </a:r>
            <a:r>
              <a:rPr lang="en-US" sz="1400" dirty="0">
                <a:solidFill>
                  <a:srgbClr val="12233A"/>
                </a:solidFill>
                <a:latin typeface="Calibri" pitchFamily="34" charset="0"/>
                <a:ea typeface="Calibri" pitchFamily="34" charset="-122"/>
                <a:cs typeface="Calibri" pitchFamily="34" charset="-120"/>
              </a:rPr>
              <a:t> — Unicode: ελληνικά, κινέζικα, emoji (π.χ. SectorName)</a:t>
            </a:r>
            <a:endParaRPr lang="en-US" sz="1400" dirty="0"/>
          </a:p>
          <a:p>
            <a:pPr marL="342900" indent="-342900">
              <a:spcAft>
                <a:spcPts val="800"/>
              </a:spcAft>
              <a:buSzPct val="100000"/>
              <a:buChar char="•"/>
            </a:pPr>
            <a:r>
              <a:rPr lang="en-US" sz="1400" b="1" dirty="0">
                <a:solidFill>
                  <a:srgbClr val="12233A"/>
                </a:solidFill>
                <a:latin typeface="Calibri" pitchFamily="34" charset="0"/>
                <a:ea typeface="Calibri" pitchFamily="34" charset="-122"/>
                <a:cs typeface="Calibri" pitchFamily="34" charset="-120"/>
              </a:rPr>
              <a:t>N'κείμενο'</a:t>
            </a:r>
            <a:r>
              <a:rPr lang="en-US" sz="1400" dirty="0">
                <a:solidFill>
                  <a:srgbClr val="12233A"/>
                </a:solidFill>
                <a:latin typeface="Calibri" pitchFamily="34" charset="0"/>
                <a:ea typeface="Calibri" pitchFamily="34" charset="-122"/>
                <a:cs typeface="Calibri" pitchFamily="34" charset="-120"/>
              </a:rPr>
              <a:t> — λέει στον SQL Server ότι η σταθερά είναι Unicode</a:t>
            </a:r>
            <a:endParaRPr lang="en-US" sz="1400" dirty="0"/>
          </a:p>
        </p:txBody>
      </p:sp>
      <p:sp>
        <p:nvSpPr>
          <p:cNvPr id="13" name="Shape 11"/>
          <p:cNvSpPr/>
          <p:nvPr/>
        </p:nvSpPr>
        <p:spPr>
          <a:xfrm>
            <a:off x="457200" y="4069080"/>
            <a:ext cx="8229600" cy="457200"/>
          </a:xfrm>
          <a:prstGeom prst="roundRect">
            <a:avLst>
              <a:gd name="adj" fmla="val 16000"/>
            </a:avLst>
          </a:prstGeom>
          <a:solidFill>
            <a:srgbClr val="F2B134"/>
          </a:solidFill>
          <a:ln w="12700">
            <a:solidFill>
              <a:srgbClr val="F2B134"/>
            </a:solidFill>
            <a:prstDash val="solid"/>
          </a:ln>
        </p:spPr>
        <p:txBody>
          <a:bodyPr/>
          <a:lstStyle/>
          <a:p>
            <a:endParaRPr lang="el-GR"/>
          </a:p>
        </p:txBody>
      </p:sp>
      <p:pic>
        <p:nvPicPr>
          <p:cNvPr id="14" name="Image 0" descr="preencoded.png"/>
          <p:cNvPicPr>
            <a:picLocks noChangeAspect="1"/>
          </p:cNvPicPr>
          <p:nvPr/>
        </p:nvPicPr>
        <p:blipFill>
          <a:blip r:embed="rId3"/>
          <a:stretch>
            <a:fillRect/>
          </a:stretch>
        </p:blipFill>
        <p:spPr>
          <a:xfrm>
            <a:off x="640080" y="4142232"/>
            <a:ext cx="310896" cy="310896"/>
          </a:xfrm>
          <a:prstGeom prst="rect">
            <a:avLst/>
          </a:prstGeom>
        </p:spPr>
      </p:pic>
      <p:sp>
        <p:nvSpPr>
          <p:cNvPr id="15" name="Text 12"/>
          <p:cNvSpPr txBox="1"/>
          <p:nvPr/>
        </p:nvSpPr>
        <p:spPr>
          <a:xfrm>
            <a:off x="1097280" y="4069080"/>
            <a:ext cx="7452360" cy="457200"/>
          </a:xfrm>
          <a:prstGeom prst="rect">
            <a:avLst/>
          </a:prstGeom>
          <a:noFill/>
          <a:ln/>
        </p:spPr>
        <p:txBody>
          <a:bodyPr wrap="square" lIns="0" tIns="0" rIns="0" bIns="0" rtlCol="0" anchor="ctr"/>
          <a:lstStyle/>
          <a:p>
            <a:pPr marL="0" indent="0">
              <a:buNone/>
            </a:pPr>
            <a:r>
              <a:rPr lang="en-US" sz="1250" b="1" dirty="0">
                <a:solidFill>
                  <a:srgbClr val="12233A"/>
                </a:solidFill>
                <a:latin typeface="Calibri" pitchFamily="34" charset="0"/>
                <a:ea typeface="Calibri" pitchFamily="34" charset="-122"/>
                <a:cs typeface="Calibri" pitchFamily="34" charset="-120"/>
              </a:rPr>
              <a:t>Κανόνας: </a:t>
            </a:r>
            <a:r>
              <a:rPr lang="en-US" sz="1250" dirty="0">
                <a:solidFill>
                  <a:srgbClr val="12233A"/>
                </a:solidFill>
                <a:latin typeface="Calibri" pitchFamily="34" charset="0"/>
                <a:ea typeface="Calibri" pitchFamily="34" charset="-122"/>
                <a:cs typeface="Calibri" pitchFamily="34" charset="-120"/>
              </a:rPr>
              <a:t>ελληνικό κείμενο → στήλη NVARCHAR και τιμή με 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flipV="1">
            <a:off x="6422746" y="1302106"/>
            <a:ext cx="510235" cy="226771"/>
          </a:xfrm>
          <a:prstGeom prst="line">
            <a:avLst/>
          </a:prstGeom>
          <a:noFill/>
          <a:ln w="12700">
            <a:solidFill>
              <a:srgbClr val="2EC4B6">
                <a:alpha val="22500"/>
              </a:srgbClr>
            </a:solidFill>
            <a:prstDash val="solid"/>
          </a:ln>
        </p:spPr>
        <p:txBody>
          <a:bodyPr/>
          <a:lstStyle/>
          <a:p>
            <a:endParaRPr lang="el-GR"/>
          </a:p>
        </p:txBody>
      </p:sp>
      <p:sp>
        <p:nvSpPr>
          <p:cNvPr id="3" name="Shape 1"/>
          <p:cNvSpPr/>
          <p:nvPr/>
        </p:nvSpPr>
        <p:spPr>
          <a:xfrm>
            <a:off x="6932981" y="1302106"/>
            <a:ext cx="510235" cy="396850"/>
          </a:xfrm>
          <a:prstGeom prst="line">
            <a:avLst/>
          </a:prstGeom>
          <a:noFill/>
          <a:ln w="12700">
            <a:solidFill>
              <a:srgbClr val="2EC4B6">
                <a:alpha val="22500"/>
              </a:srgbClr>
            </a:solidFill>
            <a:prstDash val="solid"/>
          </a:ln>
        </p:spPr>
        <p:txBody>
          <a:bodyPr/>
          <a:lstStyle/>
          <a:p>
            <a:endParaRPr lang="el-GR"/>
          </a:p>
        </p:txBody>
      </p:sp>
      <p:sp>
        <p:nvSpPr>
          <p:cNvPr id="4" name="Shape 2"/>
          <p:cNvSpPr/>
          <p:nvPr/>
        </p:nvSpPr>
        <p:spPr>
          <a:xfrm flipV="1">
            <a:off x="7443216" y="1415491"/>
            <a:ext cx="623621" cy="283464"/>
          </a:xfrm>
          <a:prstGeom prst="line">
            <a:avLst/>
          </a:prstGeom>
          <a:noFill/>
          <a:ln w="12700">
            <a:solidFill>
              <a:srgbClr val="2EC4B6">
                <a:alpha val="22500"/>
              </a:srgbClr>
            </a:solidFill>
            <a:prstDash val="solid"/>
          </a:ln>
        </p:spPr>
        <p:txBody>
          <a:bodyPr/>
          <a:lstStyle/>
          <a:p>
            <a:endParaRPr lang="el-GR"/>
          </a:p>
        </p:txBody>
      </p:sp>
      <p:sp>
        <p:nvSpPr>
          <p:cNvPr id="5" name="Shape 3"/>
          <p:cNvSpPr/>
          <p:nvPr/>
        </p:nvSpPr>
        <p:spPr>
          <a:xfrm>
            <a:off x="8066837" y="1415491"/>
            <a:ext cx="453542" cy="510235"/>
          </a:xfrm>
          <a:prstGeom prst="line">
            <a:avLst/>
          </a:prstGeom>
          <a:noFill/>
          <a:ln w="12700">
            <a:solidFill>
              <a:srgbClr val="2EC4B6">
                <a:alpha val="22500"/>
              </a:srgbClr>
            </a:solidFill>
            <a:prstDash val="solid"/>
          </a:ln>
        </p:spPr>
        <p:txBody>
          <a:bodyPr/>
          <a:lstStyle/>
          <a:p>
            <a:endParaRPr lang="el-GR"/>
          </a:p>
        </p:txBody>
      </p:sp>
      <p:sp>
        <p:nvSpPr>
          <p:cNvPr id="6" name="Shape 4"/>
          <p:cNvSpPr/>
          <p:nvPr/>
        </p:nvSpPr>
        <p:spPr>
          <a:xfrm>
            <a:off x="6422746" y="1528877"/>
            <a:ext cx="283464" cy="566928"/>
          </a:xfrm>
          <a:prstGeom prst="line">
            <a:avLst/>
          </a:prstGeom>
          <a:noFill/>
          <a:ln w="12700">
            <a:solidFill>
              <a:srgbClr val="2EC4B6">
                <a:alpha val="22500"/>
              </a:srgbClr>
            </a:solidFill>
            <a:prstDash val="solid"/>
          </a:ln>
        </p:spPr>
        <p:txBody>
          <a:bodyPr/>
          <a:lstStyle/>
          <a:p>
            <a:endParaRPr lang="el-GR"/>
          </a:p>
        </p:txBody>
      </p:sp>
      <p:sp>
        <p:nvSpPr>
          <p:cNvPr id="7" name="Shape 5"/>
          <p:cNvSpPr/>
          <p:nvPr/>
        </p:nvSpPr>
        <p:spPr>
          <a:xfrm>
            <a:off x="6706210" y="2095805"/>
            <a:ext cx="566928" cy="283464"/>
          </a:xfrm>
          <a:prstGeom prst="line">
            <a:avLst/>
          </a:prstGeom>
          <a:noFill/>
          <a:ln w="12700">
            <a:solidFill>
              <a:srgbClr val="2EC4B6">
                <a:alpha val="22500"/>
              </a:srgbClr>
            </a:solidFill>
            <a:prstDash val="solid"/>
          </a:ln>
        </p:spPr>
        <p:txBody>
          <a:bodyPr/>
          <a:lstStyle/>
          <a:p>
            <a:endParaRPr lang="el-GR"/>
          </a:p>
        </p:txBody>
      </p:sp>
      <p:sp>
        <p:nvSpPr>
          <p:cNvPr id="8" name="Shape 6"/>
          <p:cNvSpPr/>
          <p:nvPr/>
        </p:nvSpPr>
        <p:spPr>
          <a:xfrm>
            <a:off x="6932981" y="1302106"/>
            <a:ext cx="340157" cy="1077163"/>
          </a:xfrm>
          <a:prstGeom prst="line">
            <a:avLst/>
          </a:prstGeom>
          <a:noFill/>
          <a:ln w="12700">
            <a:solidFill>
              <a:srgbClr val="2EC4B6">
                <a:alpha val="22500"/>
              </a:srgbClr>
            </a:solidFill>
            <a:prstDash val="solid"/>
          </a:ln>
        </p:spPr>
        <p:txBody>
          <a:bodyPr/>
          <a:lstStyle/>
          <a:p>
            <a:endParaRPr lang="el-GR"/>
          </a:p>
        </p:txBody>
      </p:sp>
      <p:sp>
        <p:nvSpPr>
          <p:cNvPr id="9" name="Shape 7"/>
          <p:cNvSpPr/>
          <p:nvPr/>
        </p:nvSpPr>
        <p:spPr>
          <a:xfrm>
            <a:off x="7443216" y="1698955"/>
            <a:ext cx="453542" cy="510235"/>
          </a:xfrm>
          <a:prstGeom prst="line">
            <a:avLst/>
          </a:prstGeom>
          <a:noFill/>
          <a:ln w="12700">
            <a:solidFill>
              <a:srgbClr val="2EC4B6">
                <a:alpha val="22500"/>
              </a:srgbClr>
            </a:solidFill>
            <a:prstDash val="solid"/>
          </a:ln>
        </p:spPr>
        <p:txBody>
          <a:bodyPr/>
          <a:lstStyle/>
          <a:p>
            <a:endParaRPr lang="el-GR"/>
          </a:p>
        </p:txBody>
      </p:sp>
      <p:sp>
        <p:nvSpPr>
          <p:cNvPr id="10" name="Shape 8"/>
          <p:cNvSpPr/>
          <p:nvPr/>
        </p:nvSpPr>
        <p:spPr>
          <a:xfrm flipV="1">
            <a:off x="7273138" y="2209190"/>
            <a:ext cx="623621" cy="170078"/>
          </a:xfrm>
          <a:prstGeom prst="line">
            <a:avLst/>
          </a:prstGeom>
          <a:noFill/>
          <a:ln w="12700">
            <a:solidFill>
              <a:srgbClr val="2EC4B6">
                <a:alpha val="22500"/>
              </a:srgbClr>
            </a:solidFill>
            <a:prstDash val="solid"/>
          </a:ln>
        </p:spPr>
        <p:txBody>
          <a:bodyPr/>
          <a:lstStyle/>
          <a:p>
            <a:endParaRPr lang="el-GR"/>
          </a:p>
        </p:txBody>
      </p:sp>
      <p:sp>
        <p:nvSpPr>
          <p:cNvPr id="11" name="Shape 9"/>
          <p:cNvSpPr/>
          <p:nvPr/>
        </p:nvSpPr>
        <p:spPr>
          <a:xfrm flipV="1">
            <a:off x="7896758" y="1925726"/>
            <a:ext cx="623621" cy="283464"/>
          </a:xfrm>
          <a:prstGeom prst="line">
            <a:avLst/>
          </a:prstGeom>
          <a:noFill/>
          <a:ln w="12700">
            <a:solidFill>
              <a:srgbClr val="2EC4B6">
                <a:alpha val="22500"/>
              </a:srgbClr>
            </a:solidFill>
            <a:prstDash val="solid"/>
          </a:ln>
        </p:spPr>
        <p:txBody>
          <a:bodyPr/>
          <a:lstStyle/>
          <a:p>
            <a:endParaRPr lang="el-GR"/>
          </a:p>
        </p:txBody>
      </p:sp>
      <p:sp>
        <p:nvSpPr>
          <p:cNvPr id="12" name="Shape 10"/>
          <p:cNvSpPr/>
          <p:nvPr/>
        </p:nvSpPr>
        <p:spPr>
          <a:xfrm>
            <a:off x="7896758" y="2209190"/>
            <a:ext cx="453542" cy="453542"/>
          </a:xfrm>
          <a:prstGeom prst="line">
            <a:avLst/>
          </a:prstGeom>
          <a:noFill/>
          <a:ln w="12700">
            <a:solidFill>
              <a:srgbClr val="2EC4B6">
                <a:alpha val="22500"/>
              </a:srgbClr>
            </a:solidFill>
            <a:prstDash val="solid"/>
          </a:ln>
        </p:spPr>
        <p:txBody>
          <a:bodyPr/>
          <a:lstStyle/>
          <a:p>
            <a:endParaRPr lang="el-GR"/>
          </a:p>
        </p:txBody>
      </p:sp>
      <p:sp>
        <p:nvSpPr>
          <p:cNvPr id="13" name="Shape 11"/>
          <p:cNvSpPr/>
          <p:nvPr/>
        </p:nvSpPr>
        <p:spPr>
          <a:xfrm flipV="1">
            <a:off x="8350301" y="1925726"/>
            <a:ext cx="170078" cy="737006"/>
          </a:xfrm>
          <a:prstGeom prst="line">
            <a:avLst/>
          </a:prstGeom>
          <a:noFill/>
          <a:ln w="12700">
            <a:solidFill>
              <a:srgbClr val="2EC4B6">
                <a:alpha val="22500"/>
              </a:srgbClr>
            </a:solidFill>
            <a:prstDash val="solid"/>
          </a:ln>
        </p:spPr>
        <p:txBody>
          <a:bodyPr/>
          <a:lstStyle/>
          <a:p>
            <a:endParaRPr lang="el-GR"/>
          </a:p>
        </p:txBody>
      </p:sp>
      <p:sp>
        <p:nvSpPr>
          <p:cNvPr id="14" name="Shape 12"/>
          <p:cNvSpPr/>
          <p:nvPr/>
        </p:nvSpPr>
        <p:spPr>
          <a:xfrm flipV="1">
            <a:off x="6536131" y="2095805"/>
            <a:ext cx="170078" cy="737006"/>
          </a:xfrm>
          <a:prstGeom prst="line">
            <a:avLst/>
          </a:prstGeom>
          <a:noFill/>
          <a:ln w="12700">
            <a:solidFill>
              <a:srgbClr val="2EC4B6">
                <a:alpha val="22500"/>
              </a:srgbClr>
            </a:solidFill>
            <a:prstDash val="solid"/>
          </a:ln>
        </p:spPr>
        <p:txBody>
          <a:bodyPr/>
          <a:lstStyle/>
          <a:p>
            <a:endParaRPr lang="el-GR"/>
          </a:p>
        </p:txBody>
      </p:sp>
      <p:sp>
        <p:nvSpPr>
          <p:cNvPr id="15" name="Shape 13"/>
          <p:cNvSpPr/>
          <p:nvPr/>
        </p:nvSpPr>
        <p:spPr>
          <a:xfrm>
            <a:off x="6536131" y="2832811"/>
            <a:ext cx="566928" cy="226771"/>
          </a:xfrm>
          <a:prstGeom prst="line">
            <a:avLst/>
          </a:prstGeom>
          <a:noFill/>
          <a:ln w="12700">
            <a:solidFill>
              <a:srgbClr val="2EC4B6">
                <a:alpha val="22500"/>
              </a:srgbClr>
            </a:solidFill>
            <a:prstDash val="solid"/>
          </a:ln>
        </p:spPr>
        <p:txBody>
          <a:bodyPr/>
          <a:lstStyle/>
          <a:p>
            <a:endParaRPr lang="el-GR"/>
          </a:p>
        </p:txBody>
      </p:sp>
      <p:sp>
        <p:nvSpPr>
          <p:cNvPr id="16" name="Shape 14"/>
          <p:cNvSpPr/>
          <p:nvPr/>
        </p:nvSpPr>
        <p:spPr>
          <a:xfrm flipV="1">
            <a:off x="7103059" y="2379269"/>
            <a:ext cx="170078" cy="680314"/>
          </a:xfrm>
          <a:prstGeom prst="line">
            <a:avLst/>
          </a:prstGeom>
          <a:noFill/>
          <a:ln w="12700">
            <a:solidFill>
              <a:srgbClr val="2EC4B6">
                <a:alpha val="22500"/>
              </a:srgbClr>
            </a:solidFill>
            <a:prstDash val="solid"/>
          </a:ln>
        </p:spPr>
        <p:txBody>
          <a:bodyPr/>
          <a:lstStyle/>
          <a:p>
            <a:endParaRPr lang="el-GR"/>
          </a:p>
        </p:txBody>
      </p:sp>
      <p:sp>
        <p:nvSpPr>
          <p:cNvPr id="17" name="Shape 15"/>
          <p:cNvSpPr/>
          <p:nvPr/>
        </p:nvSpPr>
        <p:spPr>
          <a:xfrm flipV="1">
            <a:off x="7103059" y="2889504"/>
            <a:ext cx="623621" cy="170078"/>
          </a:xfrm>
          <a:prstGeom prst="line">
            <a:avLst/>
          </a:prstGeom>
          <a:noFill/>
          <a:ln w="12700">
            <a:solidFill>
              <a:srgbClr val="2EC4B6">
                <a:alpha val="22500"/>
              </a:srgbClr>
            </a:solidFill>
            <a:prstDash val="solid"/>
          </a:ln>
        </p:spPr>
        <p:txBody>
          <a:bodyPr/>
          <a:lstStyle/>
          <a:p>
            <a:endParaRPr lang="el-GR"/>
          </a:p>
        </p:txBody>
      </p:sp>
      <p:sp>
        <p:nvSpPr>
          <p:cNvPr id="18" name="Shape 16"/>
          <p:cNvSpPr/>
          <p:nvPr/>
        </p:nvSpPr>
        <p:spPr>
          <a:xfrm flipV="1">
            <a:off x="7726680" y="2209190"/>
            <a:ext cx="170078" cy="680314"/>
          </a:xfrm>
          <a:prstGeom prst="line">
            <a:avLst/>
          </a:prstGeom>
          <a:noFill/>
          <a:ln w="12700">
            <a:solidFill>
              <a:srgbClr val="2EC4B6">
                <a:alpha val="22500"/>
              </a:srgbClr>
            </a:solidFill>
            <a:prstDash val="solid"/>
          </a:ln>
        </p:spPr>
        <p:txBody>
          <a:bodyPr/>
          <a:lstStyle/>
          <a:p>
            <a:endParaRPr lang="el-GR"/>
          </a:p>
        </p:txBody>
      </p:sp>
      <p:sp>
        <p:nvSpPr>
          <p:cNvPr id="19" name="Shape 17"/>
          <p:cNvSpPr/>
          <p:nvPr/>
        </p:nvSpPr>
        <p:spPr>
          <a:xfrm flipV="1">
            <a:off x="7726680" y="2662733"/>
            <a:ext cx="623621" cy="226771"/>
          </a:xfrm>
          <a:prstGeom prst="line">
            <a:avLst/>
          </a:prstGeom>
          <a:noFill/>
          <a:ln w="12700">
            <a:solidFill>
              <a:srgbClr val="2EC4B6">
                <a:alpha val="22500"/>
              </a:srgbClr>
            </a:solidFill>
            <a:prstDash val="solid"/>
          </a:ln>
        </p:spPr>
        <p:txBody>
          <a:bodyPr/>
          <a:lstStyle/>
          <a:p>
            <a:endParaRPr lang="el-GR"/>
          </a:p>
        </p:txBody>
      </p:sp>
      <p:sp>
        <p:nvSpPr>
          <p:cNvPr id="20" name="Shape 18"/>
          <p:cNvSpPr/>
          <p:nvPr/>
        </p:nvSpPr>
        <p:spPr>
          <a:xfrm>
            <a:off x="7726680" y="2889504"/>
            <a:ext cx="453542" cy="396850"/>
          </a:xfrm>
          <a:prstGeom prst="line">
            <a:avLst/>
          </a:prstGeom>
          <a:noFill/>
          <a:ln w="12700">
            <a:solidFill>
              <a:srgbClr val="2EC4B6">
                <a:alpha val="22500"/>
              </a:srgbClr>
            </a:solidFill>
            <a:prstDash val="solid"/>
          </a:ln>
        </p:spPr>
        <p:txBody>
          <a:bodyPr/>
          <a:lstStyle/>
          <a:p>
            <a:endParaRPr lang="el-GR"/>
          </a:p>
        </p:txBody>
      </p:sp>
      <p:sp>
        <p:nvSpPr>
          <p:cNvPr id="21" name="Shape 19"/>
          <p:cNvSpPr/>
          <p:nvPr/>
        </p:nvSpPr>
        <p:spPr>
          <a:xfrm flipV="1">
            <a:off x="8180222" y="2662733"/>
            <a:ext cx="170078" cy="623621"/>
          </a:xfrm>
          <a:prstGeom prst="line">
            <a:avLst/>
          </a:prstGeom>
          <a:noFill/>
          <a:ln w="12700">
            <a:solidFill>
              <a:srgbClr val="2EC4B6">
                <a:alpha val="22500"/>
              </a:srgbClr>
            </a:solidFill>
            <a:prstDash val="solid"/>
          </a:ln>
        </p:spPr>
        <p:txBody>
          <a:bodyPr/>
          <a:lstStyle/>
          <a:p>
            <a:endParaRPr lang="el-GR"/>
          </a:p>
        </p:txBody>
      </p:sp>
      <p:sp>
        <p:nvSpPr>
          <p:cNvPr id="22" name="Shape 20"/>
          <p:cNvSpPr/>
          <p:nvPr/>
        </p:nvSpPr>
        <p:spPr>
          <a:xfrm>
            <a:off x="7103059" y="3059582"/>
            <a:ext cx="340157" cy="396850"/>
          </a:xfrm>
          <a:prstGeom prst="line">
            <a:avLst/>
          </a:prstGeom>
          <a:noFill/>
          <a:ln w="12700">
            <a:solidFill>
              <a:srgbClr val="2EC4B6">
                <a:alpha val="22500"/>
              </a:srgbClr>
            </a:solidFill>
            <a:prstDash val="solid"/>
          </a:ln>
        </p:spPr>
        <p:txBody>
          <a:bodyPr/>
          <a:lstStyle/>
          <a:p>
            <a:endParaRPr lang="el-GR"/>
          </a:p>
        </p:txBody>
      </p:sp>
      <p:sp>
        <p:nvSpPr>
          <p:cNvPr id="23" name="Shape 21"/>
          <p:cNvSpPr/>
          <p:nvPr/>
        </p:nvSpPr>
        <p:spPr>
          <a:xfrm flipV="1">
            <a:off x="7443216" y="3286354"/>
            <a:ext cx="737006" cy="170078"/>
          </a:xfrm>
          <a:prstGeom prst="line">
            <a:avLst/>
          </a:prstGeom>
          <a:noFill/>
          <a:ln w="12700">
            <a:solidFill>
              <a:srgbClr val="2EC4B6">
                <a:alpha val="22500"/>
              </a:srgbClr>
            </a:solidFill>
            <a:prstDash val="solid"/>
          </a:ln>
        </p:spPr>
        <p:txBody>
          <a:bodyPr/>
          <a:lstStyle/>
          <a:p>
            <a:endParaRPr lang="el-GR"/>
          </a:p>
        </p:txBody>
      </p:sp>
      <p:sp>
        <p:nvSpPr>
          <p:cNvPr id="24" name="Shape 22"/>
          <p:cNvSpPr/>
          <p:nvPr/>
        </p:nvSpPr>
        <p:spPr>
          <a:xfrm flipV="1">
            <a:off x="8180222" y="3116275"/>
            <a:ext cx="396850" cy="170078"/>
          </a:xfrm>
          <a:prstGeom prst="line">
            <a:avLst/>
          </a:prstGeom>
          <a:noFill/>
          <a:ln w="12700">
            <a:solidFill>
              <a:srgbClr val="2EC4B6">
                <a:alpha val="22500"/>
              </a:srgbClr>
            </a:solidFill>
            <a:prstDash val="solid"/>
          </a:ln>
        </p:spPr>
        <p:txBody>
          <a:bodyPr/>
          <a:lstStyle/>
          <a:p>
            <a:endParaRPr lang="el-GR"/>
          </a:p>
        </p:txBody>
      </p:sp>
      <p:sp>
        <p:nvSpPr>
          <p:cNvPr id="25" name="Shape 23"/>
          <p:cNvSpPr/>
          <p:nvPr/>
        </p:nvSpPr>
        <p:spPr>
          <a:xfrm>
            <a:off x="8350301" y="2662733"/>
            <a:ext cx="226771" cy="453542"/>
          </a:xfrm>
          <a:prstGeom prst="line">
            <a:avLst/>
          </a:prstGeom>
          <a:noFill/>
          <a:ln w="12700">
            <a:solidFill>
              <a:srgbClr val="2EC4B6">
                <a:alpha val="22500"/>
              </a:srgbClr>
            </a:solidFill>
            <a:prstDash val="solid"/>
          </a:ln>
        </p:spPr>
        <p:txBody>
          <a:bodyPr/>
          <a:lstStyle/>
          <a:p>
            <a:endParaRPr lang="el-GR"/>
          </a:p>
        </p:txBody>
      </p:sp>
      <p:sp>
        <p:nvSpPr>
          <p:cNvPr id="26" name="Shape 24"/>
          <p:cNvSpPr/>
          <p:nvPr/>
        </p:nvSpPr>
        <p:spPr>
          <a:xfrm flipV="1">
            <a:off x="7273138" y="1698955"/>
            <a:ext cx="170078" cy="680314"/>
          </a:xfrm>
          <a:prstGeom prst="line">
            <a:avLst/>
          </a:prstGeom>
          <a:noFill/>
          <a:ln w="12700">
            <a:solidFill>
              <a:srgbClr val="2EC4B6">
                <a:alpha val="22500"/>
              </a:srgbClr>
            </a:solidFill>
            <a:prstDash val="solid"/>
          </a:ln>
        </p:spPr>
        <p:txBody>
          <a:bodyPr/>
          <a:lstStyle/>
          <a:p>
            <a:endParaRPr lang="el-GR"/>
          </a:p>
        </p:txBody>
      </p:sp>
      <p:sp>
        <p:nvSpPr>
          <p:cNvPr id="27" name="Shape 25"/>
          <p:cNvSpPr/>
          <p:nvPr/>
        </p:nvSpPr>
        <p:spPr>
          <a:xfrm>
            <a:off x="6388730" y="1494861"/>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28" name="Shape 26"/>
          <p:cNvSpPr/>
          <p:nvPr/>
        </p:nvSpPr>
        <p:spPr>
          <a:xfrm>
            <a:off x="6898965" y="1268090"/>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29" name="Shape 27"/>
          <p:cNvSpPr/>
          <p:nvPr/>
        </p:nvSpPr>
        <p:spPr>
          <a:xfrm>
            <a:off x="7380854" y="1636593"/>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0" name="Shape 28"/>
          <p:cNvSpPr/>
          <p:nvPr/>
        </p:nvSpPr>
        <p:spPr>
          <a:xfrm>
            <a:off x="8032821" y="1381476"/>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1" name="Shape 29"/>
          <p:cNvSpPr/>
          <p:nvPr/>
        </p:nvSpPr>
        <p:spPr>
          <a:xfrm>
            <a:off x="8486364" y="1891711"/>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2" name="Shape 30"/>
          <p:cNvSpPr/>
          <p:nvPr/>
        </p:nvSpPr>
        <p:spPr>
          <a:xfrm>
            <a:off x="6672194" y="2061789"/>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3" name="Shape 31"/>
          <p:cNvSpPr/>
          <p:nvPr/>
        </p:nvSpPr>
        <p:spPr>
          <a:xfrm>
            <a:off x="7239122" y="2345253"/>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4" name="Shape 32"/>
          <p:cNvSpPr/>
          <p:nvPr/>
        </p:nvSpPr>
        <p:spPr>
          <a:xfrm>
            <a:off x="7834396" y="2146828"/>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5" name="Shape 33"/>
          <p:cNvSpPr/>
          <p:nvPr/>
        </p:nvSpPr>
        <p:spPr>
          <a:xfrm>
            <a:off x="8316285" y="2628717"/>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6" name="Shape 34"/>
          <p:cNvSpPr/>
          <p:nvPr/>
        </p:nvSpPr>
        <p:spPr>
          <a:xfrm>
            <a:off x="6502116" y="2798796"/>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7" name="Shape 35"/>
          <p:cNvSpPr/>
          <p:nvPr/>
        </p:nvSpPr>
        <p:spPr>
          <a:xfrm>
            <a:off x="7069044" y="3025567"/>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8" name="Shape 36"/>
          <p:cNvSpPr/>
          <p:nvPr/>
        </p:nvSpPr>
        <p:spPr>
          <a:xfrm>
            <a:off x="7664318" y="2827142"/>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9" name="Shape 37"/>
          <p:cNvSpPr/>
          <p:nvPr/>
        </p:nvSpPr>
        <p:spPr>
          <a:xfrm>
            <a:off x="8146207" y="3252338"/>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40" name="Shape 38"/>
          <p:cNvSpPr/>
          <p:nvPr/>
        </p:nvSpPr>
        <p:spPr>
          <a:xfrm>
            <a:off x="7409200" y="3422416"/>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41" name="Shape 39"/>
          <p:cNvSpPr/>
          <p:nvPr/>
        </p:nvSpPr>
        <p:spPr>
          <a:xfrm>
            <a:off x="8543056" y="3082260"/>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42" name="Text 40"/>
          <p:cNvSpPr txBox="1"/>
          <p:nvPr/>
        </p:nvSpPr>
        <p:spPr>
          <a:xfrm>
            <a:off x="548640" y="1280160"/>
            <a:ext cx="2286000" cy="1005840"/>
          </a:xfrm>
          <a:prstGeom prst="rect">
            <a:avLst/>
          </a:prstGeom>
          <a:noFill/>
          <a:ln/>
        </p:spPr>
        <p:txBody>
          <a:bodyPr wrap="square" lIns="0" tIns="0" rIns="0" bIns="0" rtlCol="0" anchor="ctr"/>
          <a:lstStyle/>
          <a:p>
            <a:pPr marL="0" indent="0">
              <a:buNone/>
            </a:pPr>
            <a:r>
              <a:rPr lang="en-US" sz="6600" b="1" dirty="0">
                <a:solidFill>
                  <a:srgbClr val="2EC4B6"/>
                </a:solidFill>
                <a:latin typeface="Arial" pitchFamily="34" charset="0"/>
                <a:ea typeface="Arial" pitchFamily="34" charset="-122"/>
                <a:cs typeface="Arial" pitchFamily="34" charset="-120"/>
              </a:rPr>
              <a:t>04</a:t>
            </a:r>
            <a:endParaRPr lang="en-US" sz="6600" dirty="0"/>
          </a:p>
        </p:txBody>
      </p:sp>
      <p:sp>
        <p:nvSpPr>
          <p:cNvPr id="43" name="Text 41"/>
          <p:cNvSpPr txBox="1"/>
          <p:nvPr/>
        </p:nvSpPr>
        <p:spPr>
          <a:xfrm>
            <a:off x="548640" y="2240280"/>
            <a:ext cx="5669280" cy="960120"/>
          </a:xfrm>
          <a:prstGeom prst="rect">
            <a:avLst/>
          </a:prstGeom>
          <a:noFill/>
          <a:ln/>
        </p:spPr>
        <p:txBody>
          <a:bodyPr wrap="square" lIns="0" tIns="0" rIns="0" bIns="0" rtlCol="0" anchor="b"/>
          <a:lstStyle/>
          <a:p>
            <a:pPr marL="0" indent="0">
              <a:buNone/>
            </a:pPr>
            <a:r>
              <a:rPr lang="en-US" sz="2800" b="1" dirty="0">
                <a:solidFill>
                  <a:srgbClr val="FFFFFF"/>
                </a:solidFill>
                <a:latin typeface="Arial" pitchFamily="34" charset="0"/>
                <a:ea typeface="Arial" pitchFamily="34" charset="-122"/>
                <a:cs typeface="Arial" pitchFamily="34" charset="-120"/>
              </a:rPr>
              <a:t>Περιορισμοί ακεραιότητας</a:t>
            </a:r>
            <a:endParaRPr lang="en-US" sz="2800" dirty="0"/>
          </a:p>
        </p:txBody>
      </p:sp>
      <p:sp>
        <p:nvSpPr>
          <p:cNvPr id="44" name="Text 42"/>
          <p:cNvSpPr txBox="1"/>
          <p:nvPr/>
        </p:nvSpPr>
        <p:spPr>
          <a:xfrm>
            <a:off x="548640" y="3291840"/>
            <a:ext cx="5486400" cy="548640"/>
          </a:xfrm>
          <a:prstGeom prst="rect">
            <a:avLst/>
          </a:prstGeom>
          <a:noFill/>
          <a:ln/>
        </p:spPr>
        <p:txBody>
          <a:bodyPr wrap="square" lIns="0" tIns="0" rIns="0" bIns="0" rtlCol="0" anchor="t"/>
          <a:lstStyle/>
          <a:p>
            <a:pPr marL="0" indent="0">
              <a:buNone/>
            </a:pPr>
            <a:r>
              <a:rPr lang="en-US" sz="1500" dirty="0">
                <a:solidFill>
                  <a:srgbClr val="A9B8CC"/>
                </a:solidFill>
                <a:latin typeface="Calibri" pitchFamily="34" charset="0"/>
                <a:ea typeface="Calibri" pitchFamily="34" charset="-122"/>
                <a:cs typeface="Calibri" pitchFamily="34" charset="-120"/>
              </a:rPr>
              <a:t>Constraints: κανόνες που η βάση επιβάλλει μόνη της</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Οι έξι βασικοί περιορισμοί</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Η βάση αρνείται κάθε εγγραφή που παραβιάζει έναν κανόνα</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457200" y="1280160"/>
            <a:ext cx="2606040" cy="1463040"/>
          </a:xfrm>
          <a:prstGeom prst="roundRect">
            <a:avLst>
              <a:gd name="adj" fmla="val 5000"/>
            </a:avLst>
          </a:prstGeom>
          <a:solidFill>
            <a:srgbClr val="EEF3F8"/>
          </a:solidFill>
          <a:ln w="12700">
            <a:solidFill>
              <a:srgbClr val="EEF3F8"/>
            </a:solidFill>
            <a:prstDash val="solid"/>
          </a:ln>
        </p:spPr>
        <p:txBody>
          <a:bodyPr/>
          <a:lstStyle/>
          <a:p>
            <a:endParaRPr lang="el-GR"/>
          </a:p>
        </p:txBody>
      </p:sp>
      <p:sp>
        <p:nvSpPr>
          <p:cNvPr id="7" name="Shape 5"/>
          <p:cNvSpPr/>
          <p:nvPr/>
        </p:nvSpPr>
        <p:spPr>
          <a:xfrm>
            <a:off x="640080" y="1463040"/>
            <a:ext cx="457200" cy="457200"/>
          </a:xfrm>
          <a:prstGeom prst="ellipse">
            <a:avLst/>
          </a:prstGeom>
          <a:solidFill>
            <a:srgbClr val="1A9E92"/>
          </a:solidFill>
          <a:ln w="12700">
            <a:solidFill>
              <a:srgbClr val="1A9E92"/>
            </a:solidFill>
            <a:prstDash val="solid"/>
          </a:ln>
        </p:spPr>
        <p:txBody>
          <a:bodyPr/>
          <a:lstStyle/>
          <a:p>
            <a:endParaRPr lang="el-GR"/>
          </a:p>
        </p:txBody>
      </p:sp>
      <p:pic>
        <p:nvPicPr>
          <p:cNvPr id="8" name="Image 0" descr="preencoded.png"/>
          <p:cNvPicPr>
            <a:picLocks noChangeAspect="1"/>
          </p:cNvPicPr>
          <p:nvPr/>
        </p:nvPicPr>
        <p:blipFill>
          <a:blip r:embed="rId3"/>
          <a:stretch>
            <a:fillRect/>
          </a:stretch>
        </p:blipFill>
        <p:spPr>
          <a:xfrm>
            <a:off x="754380" y="1577340"/>
            <a:ext cx="228600" cy="228600"/>
          </a:xfrm>
          <a:prstGeom prst="rect">
            <a:avLst/>
          </a:prstGeom>
        </p:spPr>
      </p:pic>
      <p:sp>
        <p:nvSpPr>
          <p:cNvPr id="9" name="Text 6"/>
          <p:cNvSpPr txBox="1"/>
          <p:nvPr/>
        </p:nvSpPr>
        <p:spPr>
          <a:xfrm>
            <a:off x="1207008" y="1463040"/>
            <a:ext cx="1783080" cy="457200"/>
          </a:xfrm>
          <a:prstGeom prst="rect">
            <a:avLst/>
          </a:prstGeom>
          <a:noFill/>
          <a:ln/>
        </p:spPr>
        <p:txBody>
          <a:bodyPr wrap="square" lIns="0" tIns="0" rIns="0" bIns="0" rtlCol="0" anchor="ctr"/>
          <a:lstStyle/>
          <a:p>
            <a:pPr marL="0" indent="0">
              <a:buNone/>
            </a:pPr>
            <a:r>
              <a:rPr lang="en-US" sz="1400" b="1" dirty="0">
                <a:solidFill>
                  <a:srgbClr val="12233A"/>
                </a:solidFill>
                <a:latin typeface="Courier New" pitchFamily="34" charset="0"/>
                <a:ea typeface="Courier New" pitchFamily="34" charset="-122"/>
                <a:cs typeface="Courier New" pitchFamily="34" charset="-120"/>
              </a:rPr>
              <a:t>NOT NULL</a:t>
            </a:r>
            <a:endParaRPr lang="en-US" sz="1400" dirty="0"/>
          </a:p>
        </p:txBody>
      </p:sp>
      <p:sp>
        <p:nvSpPr>
          <p:cNvPr id="10" name="Text 7"/>
          <p:cNvSpPr txBox="1"/>
          <p:nvPr/>
        </p:nvSpPr>
        <p:spPr>
          <a:xfrm>
            <a:off x="640080" y="1993392"/>
            <a:ext cx="2286000" cy="411480"/>
          </a:xfrm>
          <a:prstGeom prst="rect">
            <a:avLst/>
          </a:prstGeom>
          <a:noFill/>
          <a:ln/>
        </p:spPr>
        <p:txBody>
          <a:bodyPr wrap="square" lIns="0" tIns="0" rIns="0" bIns="0" rtlCol="0" anchor="t"/>
          <a:lstStyle/>
          <a:p>
            <a:pPr marL="0" indent="0">
              <a:buNone/>
            </a:pPr>
            <a:r>
              <a:rPr lang="en-US" sz="1150" dirty="0">
                <a:solidFill>
                  <a:srgbClr val="12233A"/>
                </a:solidFill>
                <a:latin typeface="Calibri" pitchFamily="34" charset="0"/>
                <a:ea typeface="Calibri" pitchFamily="34" charset="-122"/>
                <a:cs typeface="Calibri" pitchFamily="34" charset="-120"/>
              </a:rPr>
              <a:t>Η στήλη δεν μπορεί να μείνει κενή</a:t>
            </a:r>
            <a:endParaRPr lang="en-US" sz="1150" dirty="0"/>
          </a:p>
        </p:txBody>
      </p:sp>
      <p:sp>
        <p:nvSpPr>
          <p:cNvPr id="11" name="Text 8"/>
          <p:cNvSpPr txBox="1"/>
          <p:nvPr/>
        </p:nvSpPr>
        <p:spPr>
          <a:xfrm>
            <a:off x="640080" y="2441448"/>
            <a:ext cx="2286000" cy="274320"/>
          </a:xfrm>
          <a:prstGeom prst="rect">
            <a:avLst/>
          </a:prstGeom>
          <a:noFill/>
          <a:ln/>
        </p:spPr>
        <p:txBody>
          <a:bodyPr wrap="square" lIns="0" tIns="0" rIns="0" bIns="0" rtlCol="0" anchor="t"/>
          <a:lstStyle/>
          <a:p>
            <a:pPr marL="0" indent="0">
              <a:buNone/>
            </a:pPr>
            <a:r>
              <a:rPr lang="en-US" sz="950" dirty="0">
                <a:solidFill>
                  <a:srgbClr val="1A9E92"/>
                </a:solidFill>
                <a:latin typeface="Courier New" pitchFamily="34" charset="0"/>
                <a:ea typeface="Courier New" pitchFamily="34" charset="-122"/>
                <a:cs typeface="Courier New" pitchFamily="34" charset="-120"/>
              </a:rPr>
              <a:t>CompanyName</a:t>
            </a:r>
            <a:endParaRPr lang="en-US" sz="950" dirty="0"/>
          </a:p>
        </p:txBody>
      </p:sp>
      <p:sp>
        <p:nvSpPr>
          <p:cNvPr id="12" name="Shape 9"/>
          <p:cNvSpPr/>
          <p:nvPr/>
        </p:nvSpPr>
        <p:spPr>
          <a:xfrm>
            <a:off x="3246120" y="1280160"/>
            <a:ext cx="2606040" cy="1463040"/>
          </a:xfrm>
          <a:prstGeom prst="roundRect">
            <a:avLst>
              <a:gd name="adj" fmla="val 5000"/>
            </a:avLst>
          </a:prstGeom>
          <a:solidFill>
            <a:srgbClr val="EEF3F8"/>
          </a:solidFill>
          <a:ln w="12700">
            <a:solidFill>
              <a:srgbClr val="EEF3F8"/>
            </a:solidFill>
            <a:prstDash val="solid"/>
          </a:ln>
        </p:spPr>
        <p:txBody>
          <a:bodyPr/>
          <a:lstStyle/>
          <a:p>
            <a:endParaRPr lang="el-GR"/>
          </a:p>
        </p:txBody>
      </p:sp>
      <p:sp>
        <p:nvSpPr>
          <p:cNvPr id="13" name="Shape 10"/>
          <p:cNvSpPr/>
          <p:nvPr/>
        </p:nvSpPr>
        <p:spPr>
          <a:xfrm>
            <a:off x="3429000" y="1463040"/>
            <a:ext cx="457200" cy="457200"/>
          </a:xfrm>
          <a:prstGeom prst="ellipse">
            <a:avLst/>
          </a:prstGeom>
          <a:solidFill>
            <a:srgbClr val="1A9E92"/>
          </a:solidFill>
          <a:ln w="12700">
            <a:solidFill>
              <a:srgbClr val="1A9E92"/>
            </a:solidFill>
            <a:prstDash val="solid"/>
          </a:ln>
        </p:spPr>
        <p:txBody>
          <a:bodyPr/>
          <a:lstStyle/>
          <a:p>
            <a:endParaRPr lang="el-GR"/>
          </a:p>
        </p:txBody>
      </p:sp>
      <p:pic>
        <p:nvPicPr>
          <p:cNvPr id="14" name="Image 1" descr="preencoded.png"/>
          <p:cNvPicPr>
            <a:picLocks noChangeAspect="1"/>
          </p:cNvPicPr>
          <p:nvPr/>
        </p:nvPicPr>
        <p:blipFill>
          <a:blip r:embed="rId4"/>
          <a:stretch>
            <a:fillRect/>
          </a:stretch>
        </p:blipFill>
        <p:spPr>
          <a:xfrm>
            <a:off x="3543300" y="1577340"/>
            <a:ext cx="228600" cy="228600"/>
          </a:xfrm>
          <a:prstGeom prst="rect">
            <a:avLst/>
          </a:prstGeom>
        </p:spPr>
      </p:pic>
      <p:sp>
        <p:nvSpPr>
          <p:cNvPr id="15" name="Text 11"/>
          <p:cNvSpPr txBox="1"/>
          <p:nvPr/>
        </p:nvSpPr>
        <p:spPr>
          <a:xfrm>
            <a:off x="3995928" y="1463040"/>
            <a:ext cx="1783080" cy="457200"/>
          </a:xfrm>
          <a:prstGeom prst="rect">
            <a:avLst/>
          </a:prstGeom>
          <a:noFill/>
          <a:ln/>
        </p:spPr>
        <p:txBody>
          <a:bodyPr wrap="square" lIns="0" tIns="0" rIns="0" bIns="0" rtlCol="0" anchor="ctr"/>
          <a:lstStyle/>
          <a:p>
            <a:pPr marL="0" indent="0">
              <a:buNone/>
            </a:pPr>
            <a:r>
              <a:rPr lang="en-US" sz="1400" b="1" dirty="0">
                <a:solidFill>
                  <a:srgbClr val="12233A"/>
                </a:solidFill>
                <a:latin typeface="Courier New" pitchFamily="34" charset="0"/>
                <a:ea typeface="Courier New" pitchFamily="34" charset="-122"/>
                <a:cs typeface="Courier New" pitchFamily="34" charset="-120"/>
              </a:rPr>
              <a:t>UNIQUE</a:t>
            </a:r>
            <a:endParaRPr lang="en-US" sz="1400" dirty="0"/>
          </a:p>
        </p:txBody>
      </p:sp>
      <p:sp>
        <p:nvSpPr>
          <p:cNvPr id="16" name="Text 12"/>
          <p:cNvSpPr txBox="1"/>
          <p:nvPr/>
        </p:nvSpPr>
        <p:spPr>
          <a:xfrm>
            <a:off x="3429000" y="1993392"/>
            <a:ext cx="2286000" cy="411480"/>
          </a:xfrm>
          <a:prstGeom prst="rect">
            <a:avLst/>
          </a:prstGeom>
          <a:noFill/>
          <a:ln/>
        </p:spPr>
        <p:txBody>
          <a:bodyPr wrap="square" lIns="0" tIns="0" rIns="0" bIns="0" rtlCol="0" anchor="t"/>
          <a:lstStyle/>
          <a:p>
            <a:pPr marL="0" indent="0">
              <a:buNone/>
            </a:pPr>
            <a:r>
              <a:rPr lang="en-US" sz="1150" dirty="0">
                <a:solidFill>
                  <a:srgbClr val="12233A"/>
                </a:solidFill>
                <a:latin typeface="Calibri" pitchFamily="34" charset="0"/>
                <a:ea typeface="Calibri" pitchFamily="34" charset="-122"/>
                <a:cs typeface="Calibri" pitchFamily="34" charset="-120"/>
              </a:rPr>
              <a:t>Καμία επανάληψη τιμής</a:t>
            </a:r>
            <a:endParaRPr lang="en-US" sz="1150" dirty="0"/>
          </a:p>
        </p:txBody>
      </p:sp>
      <p:sp>
        <p:nvSpPr>
          <p:cNvPr id="17" name="Text 13"/>
          <p:cNvSpPr txBox="1"/>
          <p:nvPr/>
        </p:nvSpPr>
        <p:spPr>
          <a:xfrm>
            <a:off x="3429000" y="2441448"/>
            <a:ext cx="2286000" cy="274320"/>
          </a:xfrm>
          <a:prstGeom prst="rect">
            <a:avLst/>
          </a:prstGeom>
          <a:noFill/>
          <a:ln/>
        </p:spPr>
        <p:txBody>
          <a:bodyPr wrap="square" lIns="0" tIns="0" rIns="0" bIns="0" rtlCol="0" anchor="t"/>
          <a:lstStyle/>
          <a:p>
            <a:pPr marL="0" indent="0">
              <a:buNone/>
            </a:pPr>
            <a:r>
              <a:rPr lang="en-US" sz="950" dirty="0">
                <a:solidFill>
                  <a:srgbClr val="1A9E92"/>
                </a:solidFill>
                <a:latin typeface="Courier New" pitchFamily="34" charset="0"/>
                <a:ea typeface="Courier New" pitchFamily="34" charset="-122"/>
                <a:cs typeface="Courier New" pitchFamily="34" charset="-120"/>
              </a:rPr>
              <a:t>Ticker, SectorName</a:t>
            </a:r>
            <a:endParaRPr lang="en-US" sz="950" dirty="0"/>
          </a:p>
        </p:txBody>
      </p:sp>
      <p:sp>
        <p:nvSpPr>
          <p:cNvPr id="18" name="Shape 14"/>
          <p:cNvSpPr/>
          <p:nvPr/>
        </p:nvSpPr>
        <p:spPr>
          <a:xfrm>
            <a:off x="6035040" y="1280160"/>
            <a:ext cx="2606040" cy="1463040"/>
          </a:xfrm>
          <a:prstGeom prst="roundRect">
            <a:avLst>
              <a:gd name="adj" fmla="val 5000"/>
            </a:avLst>
          </a:prstGeom>
          <a:solidFill>
            <a:srgbClr val="EEF3F8"/>
          </a:solidFill>
          <a:ln w="12700">
            <a:solidFill>
              <a:srgbClr val="EEF3F8"/>
            </a:solidFill>
            <a:prstDash val="solid"/>
          </a:ln>
        </p:spPr>
        <p:txBody>
          <a:bodyPr/>
          <a:lstStyle/>
          <a:p>
            <a:endParaRPr lang="el-GR"/>
          </a:p>
        </p:txBody>
      </p:sp>
      <p:sp>
        <p:nvSpPr>
          <p:cNvPr id="19" name="Shape 15"/>
          <p:cNvSpPr/>
          <p:nvPr/>
        </p:nvSpPr>
        <p:spPr>
          <a:xfrm>
            <a:off x="6217920" y="1463040"/>
            <a:ext cx="457200" cy="457200"/>
          </a:xfrm>
          <a:prstGeom prst="ellipse">
            <a:avLst/>
          </a:prstGeom>
          <a:solidFill>
            <a:srgbClr val="C0304A"/>
          </a:solidFill>
          <a:ln w="12700">
            <a:solidFill>
              <a:srgbClr val="C0304A"/>
            </a:solidFill>
            <a:prstDash val="solid"/>
          </a:ln>
        </p:spPr>
        <p:txBody>
          <a:bodyPr/>
          <a:lstStyle/>
          <a:p>
            <a:endParaRPr lang="el-GR"/>
          </a:p>
        </p:txBody>
      </p:sp>
      <p:pic>
        <p:nvPicPr>
          <p:cNvPr id="20" name="Image 2" descr="preencoded.png"/>
          <p:cNvPicPr>
            <a:picLocks noChangeAspect="1"/>
          </p:cNvPicPr>
          <p:nvPr/>
        </p:nvPicPr>
        <p:blipFill>
          <a:blip r:embed="rId5"/>
          <a:stretch>
            <a:fillRect/>
          </a:stretch>
        </p:blipFill>
        <p:spPr>
          <a:xfrm>
            <a:off x="6332220" y="1577340"/>
            <a:ext cx="228600" cy="228600"/>
          </a:xfrm>
          <a:prstGeom prst="rect">
            <a:avLst/>
          </a:prstGeom>
        </p:spPr>
      </p:pic>
      <p:sp>
        <p:nvSpPr>
          <p:cNvPr id="21" name="Text 16"/>
          <p:cNvSpPr txBox="1"/>
          <p:nvPr/>
        </p:nvSpPr>
        <p:spPr>
          <a:xfrm>
            <a:off x="6784848" y="1463040"/>
            <a:ext cx="1783080" cy="457200"/>
          </a:xfrm>
          <a:prstGeom prst="rect">
            <a:avLst/>
          </a:prstGeom>
          <a:noFill/>
          <a:ln/>
        </p:spPr>
        <p:txBody>
          <a:bodyPr wrap="square" lIns="0" tIns="0" rIns="0" bIns="0" rtlCol="0" anchor="ctr"/>
          <a:lstStyle/>
          <a:p>
            <a:pPr marL="0" indent="0">
              <a:buNone/>
            </a:pPr>
            <a:r>
              <a:rPr lang="en-US" sz="1400" b="1" dirty="0">
                <a:solidFill>
                  <a:srgbClr val="12233A"/>
                </a:solidFill>
                <a:latin typeface="Courier New" pitchFamily="34" charset="0"/>
                <a:ea typeface="Courier New" pitchFamily="34" charset="-122"/>
                <a:cs typeface="Courier New" pitchFamily="34" charset="-120"/>
              </a:rPr>
              <a:t>PRIMARY KEY</a:t>
            </a:r>
            <a:endParaRPr lang="en-US" sz="1400" dirty="0"/>
          </a:p>
        </p:txBody>
      </p:sp>
      <p:sp>
        <p:nvSpPr>
          <p:cNvPr id="22" name="Text 17"/>
          <p:cNvSpPr txBox="1"/>
          <p:nvPr/>
        </p:nvSpPr>
        <p:spPr>
          <a:xfrm>
            <a:off x="6217920" y="1993392"/>
            <a:ext cx="2286000" cy="411480"/>
          </a:xfrm>
          <a:prstGeom prst="rect">
            <a:avLst/>
          </a:prstGeom>
          <a:noFill/>
          <a:ln/>
        </p:spPr>
        <p:txBody>
          <a:bodyPr wrap="square" lIns="0" tIns="0" rIns="0" bIns="0" rtlCol="0" anchor="t"/>
          <a:lstStyle/>
          <a:p>
            <a:pPr marL="0" indent="0">
              <a:buNone/>
            </a:pPr>
            <a:r>
              <a:rPr lang="en-US" sz="1150" dirty="0">
                <a:solidFill>
                  <a:srgbClr val="12233A"/>
                </a:solidFill>
                <a:latin typeface="Calibri" pitchFamily="34" charset="0"/>
                <a:ea typeface="Calibri" pitchFamily="34" charset="-122"/>
                <a:cs typeface="Calibri" pitchFamily="34" charset="-120"/>
              </a:rPr>
              <a:t>Μοναδική ταυτότητα κάθε γραμμής</a:t>
            </a:r>
            <a:endParaRPr lang="en-US" sz="1150" dirty="0"/>
          </a:p>
        </p:txBody>
      </p:sp>
      <p:sp>
        <p:nvSpPr>
          <p:cNvPr id="23" name="Text 18"/>
          <p:cNvSpPr txBox="1"/>
          <p:nvPr/>
        </p:nvSpPr>
        <p:spPr>
          <a:xfrm>
            <a:off x="6217920" y="2441448"/>
            <a:ext cx="2286000" cy="274320"/>
          </a:xfrm>
          <a:prstGeom prst="rect">
            <a:avLst/>
          </a:prstGeom>
          <a:noFill/>
          <a:ln/>
        </p:spPr>
        <p:txBody>
          <a:bodyPr wrap="square" lIns="0" tIns="0" rIns="0" bIns="0" rtlCol="0" anchor="t"/>
          <a:lstStyle/>
          <a:p>
            <a:pPr marL="0" indent="0">
              <a:buNone/>
            </a:pPr>
            <a:r>
              <a:rPr lang="en-US" sz="950" dirty="0">
                <a:solidFill>
                  <a:srgbClr val="1A9E92"/>
                </a:solidFill>
                <a:latin typeface="Courier New" pitchFamily="34" charset="0"/>
                <a:ea typeface="Courier New" pitchFamily="34" charset="-122"/>
                <a:cs typeface="Courier New" pitchFamily="34" charset="-120"/>
              </a:rPr>
              <a:t>CompanyID</a:t>
            </a:r>
            <a:endParaRPr lang="en-US" sz="950" dirty="0"/>
          </a:p>
        </p:txBody>
      </p:sp>
      <p:sp>
        <p:nvSpPr>
          <p:cNvPr id="24" name="Shape 19"/>
          <p:cNvSpPr/>
          <p:nvPr/>
        </p:nvSpPr>
        <p:spPr>
          <a:xfrm>
            <a:off x="457200" y="2926080"/>
            <a:ext cx="2606040" cy="1463040"/>
          </a:xfrm>
          <a:prstGeom prst="roundRect">
            <a:avLst>
              <a:gd name="adj" fmla="val 5000"/>
            </a:avLst>
          </a:prstGeom>
          <a:solidFill>
            <a:srgbClr val="EEF3F8"/>
          </a:solidFill>
          <a:ln w="12700">
            <a:solidFill>
              <a:srgbClr val="EEF3F8"/>
            </a:solidFill>
            <a:prstDash val="solid"/>
          </a:ln>
        </p:spPr>
        <p:txBody>
          <a:bodyPr/>
          <a:lstStyle/>
          <a:p>
            <a:endParaRPr lang="el-GR"/>
          </a:p>
        </p:txBody>
      </p:sp>
      <p:sp>
        <p:nvSpPr>
          <p:cNvPr id="25" name="Shape 20"/>
          <p:cNvSpPr/>
          <p:nvPr/>
        </p:nvSpPr>
        <p:spPr>
          <a:xfrm>
            <a:off x="640080" y="3108960"/>
            <a:ext cx="457200" cy="457200"/>
          </a:xfrm>
          <a:prstGeom prst="ellipse">
            <a:avLst/>
          </a:prstGeom>
          <a:solidFill>
            <a:srgbClr val="C0304A"/>
          </a:solidFill>
          <a:ln w="12700">
            <a:solidFill>
              <a:srgbClr val="C0304A"/>
            </a:solidFill>
            <a:prstDash val="solid"/>
          </a:ln>
        </p:spPr>
        <p:txBody>
          <a:bodyPr/>
          <a:lstStyle/>
          <a:p>
            <a:endParaRPr lang="el-GR"/>
          </a:p>
        </p:txBody>
      </p:sp>
      <p:pic>
        <p:nvPicPr>
          <p:cNvPr id="26" name="Image 3" descr="preencoded.png"/>
          <p:cNvPicPr>
            <a:picLocks noChangeAspect="1"/>
          </p:cNvPicPr>
          <p:nvPr/>
        </p:nvPicPr>
        <p:blipFill>
          <a:blip r:embed="rId6"/>
          <a:stretch>
            <a:fillRect/>
          </a:stretch>
        </p:blipFill>
        <p:spPr>
          <a:xfrm>
            <a:off x="754380" y="3223260"/>
            <a:ext cx="228600" cy="228600"/>
          </a:xfrm>
          <a:prstGeom prst="rect">
            <a:avLst/>
          </a:prstGeom>
        </p:spPr>
      </p:pic>
      <p:sp>
        <p:nvSpPr>
          <p:cNvPr id="27" name="Text 21"/>
          <p:cNvSpPr txBox="1"/>
          <p:nvPr/>
        </p:nvSpPr>
        <p:spPr>
          <a:xfrm>
            <a:off x="1207008" y="3108960"/>
            <a:ext cx="1783080" cy="457200"/>
          </a:xfrm>
          <a:prstGeom prst="rect">
            <a:avLst/>
          </a:prstGeom>
          <a:noFill/>
          <a:ln/>
        </p:spPr>
        <p:txBody>
          <a:bodyPr wrap="square" lIns="0" tIns="0" rIns="0" bIns="0" rtlCol="0" anchor="ctr"/>
          <a:lstStyle/>
          <a:p>
            <a:pPr marL="0" indent="0">
              <a:buNone/>
            </a:pPr>
            <a:r>
              <a:rPr lang="en-US" sz="1400" b="1" dirty="0">
                <a:solidFill>
                  <a:srgbClr val="12233A"/>
                </a:solidFill>
                <a:latin typeface="Courier New" pitchFamily="34" charset="0"/>
                <a:ea typeface="Courier New" pitchFamily="34" charset="-122"/>
                <a:cs typeface="Courier New" pitchFamily="34" charset="-120"/>
              </a:rPr>
              <a:t>FOREIGN KEY</a:t>
            </a:r>
            <a:endParaRPr lang="en-US" sz="1400" dirty="0"/>
          </a:p>
        </p:txBody>
      </p:sp>
      <p:sp>
        <p:nvSpPr>
          <p:cNvPr id="28" name="Text 22"/>
          <p:cNvSpPr txBox="1"/>
          <p:nvPr/>
        </p:nvSpPr>
        <p:spPr>
          <a:xfrm>
            <a:off x="640080" y="3639312"/>
            <a:ext cx="2286000" cy="411480"/>
          </a:xfrm>
          <a:prstGeom prst="rect">
            <a:avLst/>
          </a:prstGeom>
          <a:noFill/>
          <a:ln/>
        </p:spPr>
        <p:txBody>
          <a:bodyPr wrap="square" lIns="0" tIns="0" rIns="0" bIns="0" rtlCol="0" anchor="t"/>
          <a:lstStyle/>
          <a:p>
            <a:pPr marL="0" indent="0">
              <a:buNone/>
            </a:pPr>
            <a:r>
              <a:rPr lang="en-US" sz="1150" dirty="0">
                <a:solidFill>
                  <a:srgbClr val="12233A"/>
                </a:solidFill>
                <a:latin typeface="Calibri" pitchFamily="34" charset="0"/>
                <a:ea typeface="Calibri" pitchFamily="34" charset="-122"/>
                <a:cs typeface="Calibri" pitchFamily="34" charset="-120"/>
              </a:rPr>
              <a:t>Η τιμή πρέπει να υπάρχει σε άλλον πίνακα</a:t>
            </a:r>
            <a:endParaRPr lang="en-US" sz="1150" dirty="0"/>
          </a:p>
        </p:txBody>
      </p:sp>
      <p:sp>
        <p:nvSpPr>
          <p:cNvPr id="29" name="Text 23"/>
          <p:cNvSpPr txBox="1"/>
          <p:nvPr/>
        </p:nvSpPr>
        <p:spPr>
          <a:xfrm>
            <a:off x="640080" y="4087368"/>
            <a:ext cx="2286000" cy="274320"/>
          </a:xfrm>
          <a:prstGeom prst="rect">
            <a:avLst/>
          </a:prstGeom>
          <a:noFill/>
          <a:ln/>
        </p:spPr>
        <p:txBody>
          <a:bodyPr wrap="square" lIns="0" tIns="0" rIns="0" bIns="0" rtlCol="0" anchor="t"/>
          <a:lstStyle/>
          <a:p>
            <a:pPr marL="0" indent="0">
              <a:buNone/>
            </a:pPr>
            <a:r>
              <a:rPr lang="en-US" sz="950" dirty="0">
                <a:solidFill>
                  <a:srgbClr val="1A9E92"/>
                </a:solidFill>
                <a:latin typeface="Courier New" pitchFamily="34" charset="0"/>
                <a:ea typeface="Courier New" pitchFamily="34" charset="-122"/>
                <a:cs typeface="Courier New" pitchFamily="34" charset="-120"/>
              </a:rPr>
              <a:t>Companies.SectorID</a:t>
            </a:r>
            <a:endParaRPr lang="en-US" sz="950" dirty="0"/>
          </a:p>
        </p:txBody>
      </p:sp>
      <p:sp>
        <p:nvSpPr>
          <p:cNvPr id="30" name="Shape 24"/>
          <p:cNvSpPr/>
          <p:nvPr/>
        </p:nvSpPr>
        <p:spPr>
          <a:xfrm>
            <a:off x="3246120" y="2926080"/>
            <a:ext cx="2606040" cy="1463040"/>
          </a:xfrm>
          <a:prstGeom prst="roundRect">
            <a:avLst>
              <a:gd name="adj" fmla="val 5000"/>
            </a:avLst>
          </a:prstGeom>
          <a:solidFill>
            <a:srgbClr val="EEF3F8"/>
          </a:solidFill>
          <a:ln w="12700">
            <a:solidFill>
              <a:srgbClr val="EEF3F8"/>
            </a:solidFill>
            <a:prstDash val="solid"/>
          </a:ln>
        </p:spPr>
        <p:txBody>
          <a:bodyPr/>
          <a:lstStyle/>
          <a:p>
            <a:endParaRPr lang="el-GR"/>
          </a:p>
        </p:txBody>
      </p:sp>
      <p:sp>
        <p:nvSpPr>
          <p:cNvPr id="31" name="Shape 25"/>
          <p:cNvSpPr/>
          <p:nvPr/>
        </p:nvSpPr>
        <p:spPr>
          <a:xfrm>
            <a:off x="3429000" y="3108960"/>
            <a:ext cx="457200" cy="457200"/>
          </a:xfrm>
          <a:prstGeom prst="ellipse">
            <a:avLst/>
          </a:prstGeom>
          <a:solidFill>
            <a:srgbClr val="1A9E92"/>
          </a:solidFill>
          <a:ln w="12700">
            <a:solidFill>
              <a:srgbClr val="1A9E92"/>
            </a:solidFill>
            <a:prstDash val="solid"/>
          </a:ln>
        </p:spPr>
        <p:txBody>
          <a:bodyPr/>
          <a:lstStyle/>
          <a:p>
            <a:endParaRPr lang="el-GR"/>
          </a:p>
        </p:txBody>
      </p:sp>
      <p:pic>
        <p:nvPicPr>
          <p:cNvPr id="32" name="Image 4" descr="preencoded.png"/>
          <p:cNvPicPr>
            <a:picLocks noChangeAspect="1"/>
          </p:cNvPicPr>
          <p:nvPr/>
        </p:nvPicPr>
        <p:blipFill>
          <a:blip r:embed="rId7"/>
          <a:stretch>
            <a:fillRect/>
          </a:stretch>
        </p:blipFill>
        <p:spPr>
          <a:xfrm>
            <a:off x="3543300" y="3223260"/>
            <a:ext cx="228600" cy="228600"/>
          </a:xfrm>
          <a:prstGeom prst="rect">
            <a:avLst/>
          </a:prstGeom>
        </p:spPr>
      </p:pic>
      <p:sp>
        <p:nvSpPr>
          <p:cNvPr id="33" name="Text 26"/>
          <p:cNvSpPr txBox="1"/>
          <p:nvPr/>
        </p:nvSpPr>
        <p:spPr>
          <a:xfrm>
            <a:off x="3995928" y="3108960"/>
            <a:ext cx="1783080" cy="457200"/>
          </a:xfrm>
          <a:prstGeom prst="rect">
            <a:avLst/>
          </a:prstGeom>
          <a:noFill/>
          <a:ln/>
        </p:spPr>
        <p:txBody>
          <a:bodyPr wrap="square" lIns="0" tIns="0" rIns="0" bIns="0" rtlCol="0" anchor="ctr"/>
          <a:lstStyle/>
          <a:p>
            <a:pPr marL="0" indent="0">
              <a:buNone/>
            </a:pPr>
            <a:r>
              <a:rPr lang="en-US" sz="1400" b="1" dirty="0">
                <a:solidFill>
                  <a:srgbClr val="12233A"/>
                </a:solidFill>
                <a:latin typeface="Courier New" pitchFamily="34" charset="0"/>
                <a:ea typeface="Courier New" pitchFamily="34" charset="-122"/>
                <a:cs typeface="Courier New" pitchFamily="34" charset="-120"/>
              </a:rPr>
              <a:t>CHECK</a:t>
            </a:r>
            <a:endParaRPr lang="en-US" sz="1400" dirty="0"/>
          </a:p>
        </p:txBody>
      </p:sp>
      <p:sp>
        <p:nvSpPr>
          <p:cNvPr id="34" name="Text 27"/>
          <p:cNvSpPr txBox="1"/>
          <p:nvPr/>
        </p:nvSpPr>
        <p:spPr>
          <a:xfrm>
            <a:off x="3429000" y="3639312"/>
            <a:ext cx="2286000" cy="411480"/>
          </a:xfrm>
          <a:prstGeom prst="rect">
            <a:avLst/>
          </a:prstGeom>
          <a:noFill/>
          <a:ln/>
        </p:spPr>
        <p:txBody>
          <a:bodyPr wrap="square" lIns="0" tIns="0" rIns="0" bIns="0" rtlCol="0" anchor="t"/>
          <a:lstStyle/>
          <a:p>
            <a:pPr marL="0" indent="0">
              <a:buNone/>
            </a:pPr>
            <a:r>
              <a:rPr lang="en-US" sz="1150" dirty="0">
                <a:solidFill>
                  <a:srgbClr val="12233A"/>
                </a:solidFill>
                <a:latin typeface="Calibri" pitchFamily="34" charset="0"/>
                <a:ea typeface="Calibri" pitchFamily="34" charset="-122"/>
                <a:cs typeface="Calibri" pitchFamily="34" charset="-120"/>
              </a:rPr>
              <a:t>Η τιμή πρέπει να ικανοποιεί συνθήκη</a:t>
            </a:r>
            <a:endParaRPr lang="en-US" sz="1150" dirty="0"/>
          </a:p>
        </p:txBody>
      </p:sp>
      <p:sp>
        <p:nvSpPr>
          <p:cNvPr id="35" name="Text 28"/>
          <p:cNvSpPr txBox="1"/>
          <p:nvPr/>
        </p:nvSpPr>
        <p:spPr>
          <a:xfrm>
            <a:off x="3429000" y="4087368"/>
            <a:ext cx="2286000" cy="274320"/>
          </a:xfrm>
          <a:prstGeom prst="rect">
            <a:avLst/>
          </a:prstGeom>
          <a:noFill/>
          <a:ln/>
        </p:spPr>
        <p:txBody>
          <a:bodyPr wrap="square" lIns="0" tIns="0" rIns="0" bIns="0" rtlCol="0" anchor="t"/>
          <a:lstStyle/>
          <a:p>
            <a:pPr marL="0" indent="0">
              <a:buNone/>
            </a:pPr>
            <a:r>
              <a:rPr lang="en-US" sz="950" dirty="0">
                <a:solidFill>
                  <a:srgbClr val="1A9E92"/>
                </a:solidFill>
                <a:latin typeface="Courier New" pitchFamily="34" charset="0"/>
                <a:ea typeface="Courier New" pitchFamily="34" charset="-122"/>
                <a:cs typeface="Courier New" pitchFamily="34" charset="-120"/>
              </a:rPr>
              <a:t>HighPrice &gt;= LowPrice</a:t>
            </a:r>
            <a:endParaRPr lang="en-US" sz="950" dirty="0"/>
          </a:p>
        </p:txBody>
      </p:sp>
      <p:sp>
        <p:nvSpPr>
          <p:cNvPr id="36" name="Shape 29"/>
          <p:cNvSpPr/>
          <p:nvPr/>
        </p:nvSpPr>
        <p:spPr>
          <a:xfrm>
            <a:off x="6035040" y="2926080"/>
            <a:ext cx="2606040" cy="1463040"/>
          </a:xfrm>
          <a:prstGeom prst="roundRect">
            <a:avLst>
              <a:gd name="adj" fmla="val 5000"/>
            </a:avLst>
          </a:prstGeom>
          <a:solidFill>
            <a:srgbClr val="EEF3F8"/>
          </a:solidFill>
          <a:ln w="12700">
            <a:solidFill>
              <a:srgbClr val="EEF3F8"/>
            </a:solidFill>
            <a:prstDash val="solid"/>
          </a:ln>
        </p:spPr>
        <p:txBody>
          <a:bodyPr/>
          <a:lstStyle/>
          <a:p>
            <a:endParaRPr lang="el-GR"/>
          </a:p>
        </p:txBody>
      </p:sp>
      <p:sp>
        <p:nvSpPr>
          <p:cNvPr id="37" name="Shape 30"/>
          <p:cNvSpPr/>
          <p:nvPr/>
        </p:nvSpPr>
        <p:spPr>
          <a:xfrm>
            <a:off x="6217920" y="3108960"/>
            <a:ext cx="457200" cy="457200"/>
          </a:xfrm>
          <a:prstGeom prst="ellipse">
            <a:avLst/>
          </a:prstGeom>
          <a:solidFill>
            <a:srgbClr val="1A9E92"/>
          </a:solidFill>
          <a:ln w="12700">
            <a:solidFill>
              <a:srgbClr val="1A9E92"/>
            </a:solidFill>
            <a:prstDash val="solid"/>
          </a:ln>
        </p:spPr>
        <p:txBody>
          <a:bodyPr/>
          <a:lstStyle/>
          <a:p>
            <a:endParaRPr lang="el-GR"/>
          </a:p>
        </p:txBody>
      </p:sp>
      <p:pic>
        <p:nvPicPr>
          <p:cNvPr id="38" name="Image 5" descr="preencoded.png"/>
          <p:cNvPicPr>
            <a:picLocks noChangeAspect="1"/>
          </p:cNvPicPr>
          <p:nvPr/>
        </p:nvPicPr>
        <p:blipFill>
          <a:blip r:embed="rId8"/>
          <a:stretch>
            <a:fillRect/>
          </a:stretch>
        </p:blipFill>
        <p:spPr>
          <a:xfrm>
            <a:off x="6332220" y="3223260"/>
            <a:ext cx="228600" cy="228600"/>
          </a:xfrm>
          <a:prstGeom prst="rect">
            <a:avLst/>
          </a:prstGeom>
        </p:spPr>
      </p:pic>
      <p:sp>
        <p:nvSpPr>
          <p:cNvPr id="39" name="Text 31"/>
          <p:cNvSpPr txBox="1"/>
          <p:nvPr/>
        </p:nvSpPr>
        <p:spPr>
          <a:xfrm>
            <a:off x="6784848" y="3108960"/>
            <a:ext cx="1783080" cy="457200"/>
          </a:xfrm>
          <a:prstGeom prst="rect">
            <a:avLst/>
          </a:prstGeom>
          <a:noFill/>
          <a:ln/>
        </p:spPr>
        <p:txBody>
          <a:bodyPr wrap="square" lIns="0" tIns="0" rIns="0" bIns="0" rtlCol="0" anchor="ctr"/>
          <a:lstStyle/>
          <a:p>
            <a:pPr marL="0" indent="0">
              <a:buNone/>
            </a:pPr>
            <a:r>
              <a:rPr lang="en-US" sz="1400" b="1" dirty="0">
                <a:solidFill>
                  <a:srgbClr val="12233A"/>
                </a:solidFill>
                <a:latin typeface="Courier New" pitchFamily="34" charset="0"/>
                <a:ea typeface="Courier New" pitchFamily="34" charset="-122"/>
                <a:cs typeface="Courier New" pitchFamily="34" charset="-120"/>
              </a:rPr>
              <a:t>DEFAULT</a:t>
            </a:r>
            <a:endParaRPr lang="en-US" sz="1400" dirty="0"/>
          </a:p>
        </p:txBody>
      </p:sp>
      <p:sp>
        <p:nvSpPr>
          <p:cNvPr id="40" name="Text 32"/>
          <p:cNvSpPr txBox="1"/>
          <p:nvPr/>
        </p:nvSpPr>
        <p:spPr>
          <a:xfrm>
            <a:off x="6217920" y="3639312"/>
            <a:ext cx="2286000" cy="411480"/>
          </a:xfrm>
          <a:prstGeom prst="rect">
            <a:avLst/>
          </a:prstGeom>
          <a:noFill/>
          <a:ln/>
        </p:spPr>
        <p:txBody>
          <a:bodyPr wrap="square" lIns="0" tIns="0" rIns="0" bIns="0" rtlCol="0" anchor="t"/>
          <a:lstStyle/>
          <a:p>
            <a:pPr marL="0" indent="0">
              <a:buNone/>
            </a:pPr>
            <a:r>
              <a:rPr lang="en-US" sz="1150" dirty="0">
                <a:solidFill>
                  <a:srgbClr val="12233A"/>
                </a:solidFill>
                <a:latin typeface="Calibri" pitchFamily="34" charset="0"/>
                <a:ea typeface="Calibri" pitchFamily="34" charset="-122"/>
                <a:cs typeface="Calibri" pitchFamily="34" charset="-120"/>
              </a:rPr>
              <a:t>Τιμή όταν δεν δοθεί καμία</a:t>
            </a:r>
            <a:endParaRPr lang="en-US" sz="1150" dirty="0"/>
          </a:p>
        </p:txBody>
      </p:sp>
      <p:sp>
        <p:nvSpPr>
          <p:cNvPr id="41" name="Text 33"/>
          <p:cNvSpPr txBox="1"/>
          <p:nvPr/>
        </p:nvSpPr>
        <p:spPr>
          <a:xfrm>
            <a:off x="6217920" y="4087368"/>
            <a:ext cx="2286000" cy="274320"/>
          </a:xfrm>
          <a:prstGeom prst="rect">
            <a:avLst/>
          </a:prstGeom>
          <a:noFill/>
          <a:ln/>
        </p:spPr>
        <p:txBody>
          <a:bodyPr wrap="square" lIns="0" tIns="0" rIns="0" bIns="0" rtlCol="0" anchor="t"/>
          <a:lstStyle/>
          <a:p>
            <a:pPr marL="0" indent="0">
              <a:buNone/>
            </a:pPr>
            <a:r>
              <a:rPr lang="en-US" sz="950" dirty="0">
                <a:solidFill>
                  <a:srgbClr val="1A9E92"/>
                </a:solidFill>
                <a:latin typeface="Courier New" pitchFamily="34" charset="0"/>
                <a:ea typeface="Courier New" pitchFamily="34" charset="-122"/>
                <a:cs typeface="Courier New" pitchFamily="34" charset="-120"/>
              </a:rPr>
              <a:t>Country = N'Ελλάδα'</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Πρωτεύον κλειδί (PRIMARY KEY)</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Μοναδικό + NOT NULL · ένα ανά πίνακα · μπορεί να αποτελείται από περισσότερες στήλες</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20</a:t>
            </a:r>
            <a:endParaRPr lang="en-US" sz="900" dirty="0"/>
          </a:p>
        </p:txBody>
      </p:sp>
      <p:sp>
        <p:nvSpPr>
          <p:cNvPr id="6" name="Text 4"/>
          <p:cNvSpPr txBox="1"/>
          <p:nvPr/>
        </p:nvSpPr>
        <p:spPr>
          <a:xfrm>
            <a:off x="457200" y="1280160"/>
            <a:ext cx="3840480" cy="274320"/>
          </a:xfrm>
          <a:prstGeom prst="rect">
            <a:avLst/>
          </a:prstGeom>
          <a:noFill/>
          <a:ln/>
        </p:spPr>
        <p:txBody>
          <a:bodyPr wrap="square" lIns="0" tIns="0" rIns="0" bIns="0" rtlCol="0" anchor="t"/>
          <a:lstStyle/>
          <a:p>
            <a:pPr marL="0" indent="0">
              <a:buNone/>
            </a:pPr>
            <a:r>
              <a:rPr lang="en-US" sz="1400" b="1" dirty="0">
                <a:solidFill>
                  <a:srgbClr val="1A9E92"/>
                </a:solidFill>
                <a:latin typeface="Calibri" pitchFamily="34" charset="0"/>
                <a:ea typeface="Calibri" pitchFamily="34" charset="-122"/>
                <a:cs typeface="Calibri" pitchFamily="34" charset="-120"/>
              </a:rPr>
              <a:t>Απλό κλειδί</a:t>
            </a:r>
            <a:endParaRPr lang="en-US" sz="1400" dirty="0"/>
          </a:p>
        </p:txBody>
      </p:sp>
      <p:sp>
        <p:nvSpPr>
          <p:cNvPr id="7" name="Shape 5"/>
          <p:cNvSpPr/>
          <p:nvPr/>
        </p:nvSpPr>
        <p:spPr>
          <a:xfrm>
            <a:off x="457200" y="1600200"/>
            <a:ext cx="3840480" cy="1325880"/>
          </a:xfrm>
          <a:prstGeom prst="roundRect">
            <a:avLst>
              <a:gd name="adj" fmla="val 5517"/>
            </a:avLst>
          </a:prstGeom>
          <a:solidFill>
            <a:srgbClr val="0F1E30"/>
          </a:solidFill>
          <a:ln w="12700">
            <a:solidFill>
              <a:srgbClr val="0F1E30"/>
            </a:solidFill>
            <a:prstDash val="solid"/>
          </a:ln>
        </p:spPr>
        <p:txBody>
          <a:bodyPr/>
          <a:lstStyle/>
          <a:p>
            <a:endParaRPr lang="el-GR"/>
          </a:p>
        </p:txBody>
      </p:sp>
      <p:sp>
        <p:nvSpPr>
          <p:cNvPr id="8" name="Text 6"/>
          <p:cNvSpPr txBox="1"/>
          <p:nvPr/>
        </p:nvSpPr>
        <p:spPr>
          <a:xfrm>
            <a:off x="640080" y="1737360"/>
            <a:ext cx="3520440" cy="1078992"/>
          </a:xfrm>
          <a:prstGeom prst="rect">
            <a:avLst/>
          </a:prstGeom>
          <a:noFill/>
          <a:ln/>
        </p:spPr>
        <p:txBody>
          <a:bodyPr wrap="square" lIns="0" tIns="0" rIns="0" bIns="0" rtlCol="0" anchor="t"/>
          <a:lstStyle/>
          <a:p>
            <a:pPr marL="0" indent="0">
              <a:lnSpc>
                <a:spcPct val="105000"/>
              </a:lnSpc>
              <a:buNone/>
            </a:pPr>
            <a:r>
              <a:rPr lang="en-US" sz="1050" b="1" dirty="0">
                <a:solidFill>
                  <a:srgbClr val="4FD1C5"/>
                </a:solidFill>
                <a:latin typeface="Courier New" pitchFamily="34" charset="0"/>
                <a:ea typeface="Courier New" pitchFamily="34" charset="-122"/>
                <a:cs typeface="Courier New" pitchFamily="34" charset="-120"/>
              </a:rPr>
              <a:t>CREATE</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TABLE</a:t>
            </a:r>
            <a:r>
              <a:rPr lang="en-US" sz="1050" dirty="0">
                <a:solidFill>
                  <a:srgbClr val="E6EDF3"/>
                </a:solidFill>
                <a:latin typeface="Courier New" pitchFamily="34" charset="0"/>
                <a:ea typeface="Courier New" pitchFamily="34" charset="-122"/>
                <a:cs typeface="Courier New" pitchFamily="34" charset="-120"/>
              </a:rPr>
              <a:t> Companies (</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CompanyID </a:t>
            </a:r>
            <a:r>
              <a:rPr lang="en-US" sz="1050" b="1" dirty="0">
                <a:solidFill>
                  <a:srgbClr val="4FD1C5"/>
                </a:solidFill>
                <a:latin typeface="Courier New" pitchFamily="34" charset="0"/>
                <a:ea typeface="Courier New" pitchFamily="34" charset="-122"/>
                <a:cs typeface="Courier New" pitchFamily="34" charset="-120"/>
              </a:rPr>
              <a:t>INT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NOT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NULL</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PRIMARY</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KEY</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Ticker    </a:t>
            </a:r>
            <a:r>
              <a:rPr lang="en-US" sz="1050" b="1" dirty="0">
                <a:solidFill>
                  <a:srgbClr val="4FD1C5"/>
                </a:solidFill>
                <a:latin typeface="Courier New" pitchFamily="34" charset="0"/>
                <a:ea typeface="Courier New" pitchFamily="34" charset="-122"/>
                <a:cs typeface="Courier New" pitchFamily="34" charset="-120"/>
              </a:rPr>
              <a:t>VARCHAR</a:t>
            </a:r>
            <a:r>
              <a:rPr lang="en-US" sz="1050" dirty="0">
                <a:solidFill>
                  <a:srgbClr val="E6EDF3"/>
                </a:solidFill>
                <a:latin typeface="Courier New" pitchFamily="34" charset="0"/>
                <a:ea typeface="Courier New" pitchFamily="34" charset="-122"/>
                <a:cs typeface="Courier New" pitchFamily="34" charset="-120"/>
              </a:rPr>
              <a:t>(</a:t>
            </a:r>
            <a:r>
              <a:rPr lang="en-US" sz="1050" dirty="0">
                <a:solidFill>
                  <a:srgbClr val="F28B82"/>
                </a:solidFill>
                <a:latin typeface="Courier New" pitchFamily="34" charset="0"/>
                <a:ea typeface="Courier New" pitchFamily="34" charset="-122"/>
                <a:cs typeface="Courier New" pitchFamily="34" charset="-120"/>
              </a:rPr>
              <a:t>10</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NOT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NULL</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UNIQUE</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p:txBody>
      </p:sp>
      <p:sp>
        <p:nvSpPr>
          <p:cNvPr id="9" name="Text 7"/>
          <p:cNvSpPr txBox="1"/>
          <p:nvPr/>
        </p:nvSpPr>
        <p:spPr>
          <a:xfrm>
            <a:off x="4663440" y="1280160"/>
            <a:ext cx="4023360" cy="274320"/>
          </a:xfrm>
          <a:prstGeom prst="rect">
            <a:avLst/>
          </a:prstGeom>
          <a:noFill/>
          <a:ln/>
        </p:spPr>
        <p:txBody>
          <a:bodyPr wrap="square" lIns="0" tIns="0" rIns="0" bIns="0" rtlCol="0" anchor="t"/>
          <a:lstStyle/>
          <a:p>
            <a:pPr marL="0" indent="0">
              <a:buNone/>
            </a:pPr>
            <a:r>
              <a:rPr lang="en-US" sz="1400" b="1" dirty="0">
                <a:solidFill>
                  <a:srgbClr val="C0304A"/>
                </a:solidFill>
                <a:latin typeface="Calibri" pitchFamily="34" charset="0"/>
                <a:ea typeface="Calibri" pitchFamily="34" charset="-122"/>
                <a:cs typeface="Calibri" pitchFamily="34" charset="-120"/>
              </a:rPr>
              <a:t>Σύνθετο κλειδί (composite)</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663440" y="1600200"/>
          <a:ext cx="402336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CompanyID</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C030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TradeDate</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C030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ClosePrice</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C0304A"/>
                    </a:solidFill>
                  </a:tcPr>
                </a:tc>
                <a:extLst>
                  <a:ext uri="{0D108BD9-81ED-4DB2-BD59-A6C34878D82A}">
                    <a16:rowId xmlns:a16="http://schemas.microsoft.com/office/drawing/2014/main" val="10000"/>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1</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2025-12-30</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1.38</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1</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2025-12-31</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1.38</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2</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2025-12-31</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12.24</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Text 8"/>
          <p:cNvSpPr txBox="1"/>
          <p:nvPr/>
        </p:nvSpPr>
        <p:spPr>
          <a:xfrm>
            <a:off x="4663440" y="2926080"/>
            <a:ext cx="4023360" cy="45720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Ούτε το CompanyID ούτε το TradeDate είναι μοναδικά μόνα τους — ο συνδυασμός τους είναι.</a:t>
            </a:r>
            <a:endParaRPr lang="en-US" sz="1150" dirty="0"/>
          </a:p>
        </p:txBody>
      </p:sp>
      <p:sp>
        <p:nvSpPr>
          <p:cNvPr id="12" name="Shape 9"/>
          <p:cNvSpPr/>
          <p:nvPr/>
        </p:nvSpPr>
        <p:spPr>
          <a:xfrm>
            <a:off x="457200" y="3611880"/>
            <a:ext cx="8229600" cy="822960"/>
          </a:xfrm>
          <a:prstGeom prst="roundRect">
            <a:avLst>
              <a:gd name="adj" fmla="val 8889"/>
            </a:avLst>
          </a:prstGeom>
          <a:solidFill>
            <a:srgbClr val="EEF3F8"/>
          </a:solidFill>
          <a:ln w="12700">
            <a:solidFill>
              <a:srgbClr val="EEF3F8"/>
            </a:solidFill>
            <a:prstDash val="solid"/>
          </a:ln>
        </p:spPr>
        <p:txBody>
          <a:bodyPr/>
          <a:lstStyle/>
          <a:p>
            <a:endParaRPr lang="el-GR"/>
          </a:p>
        </p:txBody>
      </p:sp>
      <p:pic>
        <p:nvPicPr>
          <p:cNvPr id="13" name="Image 0" descr="preencoded.png"/>
          <p:cNvPicPr>
            <a:picLocks noChangeAspect="1"/>
          </p:cNvPicPr>
          <p:nvPr/>
        </p:nvPicPr>
        <p:blipFill>
          <a:blip r:embed="rId3"/>
          <a:stretch>
            <a:fillRect/>
          </a:stretch>
        </p:blipFill>
        <p:spPr>
          <a:xfrm>
            <a:off x="640080" y="3867912"/>
            <a:ext cx="310896" cy="310896"/>
          </a:xfrm>
          <a:prstGeom prst="rect">
            <a:avLst/>
          </a:prstGeom>
        </p:spPr>
      </p:pic>
      <p:sp>
        <p:nvSpPr>
          <p:cNvPr id="14" name="Text 10"/>
          <p:cNvSpPr txBox="1"/>
          <p:nvPr/>
        </p:nvSpPr>
        <p:spPr>
          <a:xfrm>
            <a:off x="1097280" y="3611880"/>
            <a:ext cx="7452360" cy="822960"/>
          </a:xfrm>
          <a:prstGeom prst="rect">
            <a:avLst/>
          </a:prstGeom>
          <a:noFill/>
          <a:ln/>
        </p:spPr>
        <p:txBody>
          <a:bodyPr wrap="square" lIns="0" tIns="0" rIns="0" bIns="0" rtlCol="0" anchor="ctr"/>
          <a:lstStyle/>
          <a:p>
            <a:pPr marL="0" indent="0">
              <a:buNone/>
            </a:pPr>
            <a:r>
              <a:rPr lang="en-US" sz="1200" b="1" dirty="0">
                <a:solidFill>
                  <a:srgbClr val="12233A"/>
                </a:solidFill>
                <a:latin typeface="Calibri" pitchFamily="34" charset="0"/>
                <a:ea typeface="Calibri" pitchFamily="34" charset="-122"/>
                <a:cs typeface="Calibri" pitchFamily="34" charset="-120"/>
              </a:rPr>
              <a:t>Γιατί CompanyID και όχι Ticker ως κλειδί; </a:t>
            </a:r>
            <a:endParaRPr lang="en-US" sz="1200" dirty="0"/>
          </a:p>
          <a:p>
            <a:pPr marL="0" indent="0">
              <a:buNone/>
            </a:pPr>
            <a:r>
              <a:rPr lang="en-US" sz="1200" dirty="0">
                <a:solidFill>
                  <a:srgbClr val="5B6B7F"/>
                </a:solidFill>
                <a:latin typeface="Calibri" pitchFamily="34" charset="0"/>
                <a:ea typeface="Calibri" pitchFamily="34" charset="-122"/>
                <a:cs typeface="Calibri" pitchFamily="34" charset="-120"/>
              </a:rPr>
              <a:t>Τα tickers μπορεί να αλλάξουν (συγχωνεύσεις, μετονομασίες). Ένα τεχνητό κλειδί (surrogate key) δεν αλλάζει ποτέ — το Ticker μένει UNIQUE.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Ξένο κλειδί (FOREIGN KEY)</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Αναφορική ακεραιότητα: κάθε Companies.SectorID πρέπει να υπάρχει στο Sectors.SectorID</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2743200" cy="914400"/>
        </p:xfrm>
        <a:graphic>
          <a:graphicData uri="http://schemas.openxmlformats.org/drawingml/2006/table">
            <a:tbl>
              <a:tblPr/>
              <a:tblGrid>
                <a:gridCol w="10058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SectorID</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SectorName</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1</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Τράπεζες</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2</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Ενέργεια</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3</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Τεχνολογία</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9</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Βιοτεχνολογία</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txBox="1"/>
          <p:nvPr/>
        </p:nvSpPr>
        <p:spPr>
          <a:xfrm>
            <a:off x="457200" y="3246120"/>
            <a:ext cx="2743200" cy="228600"/>
          </a:xfrm>
          <a:prstGeom prst="rect">
            <a:avLst/>
          </a:prstGeom>
          <a:noFill/>
          <a:ln/>
        </p:spPr>
        <p:txBody>
          <a:bodyPr wrap="square" lIns="0" tIns="0" rIns="0" bIns="0" rtlCol="0" anchor="t"/>
          <a:lstStyle/>
          <a:p>
            <a:pPr marL="0" indent="0">
              <a:buNone/>
            </a:pPr>
            <a:r>
              <a:rPr lang="en-US" sz="1000" i="1" dirty="0">
                <a:solidFill>
                  <a:srgbClr val="5B6B7F"/>
                </a:solidFill>
                <a:latin typeface="Calibri" pitchFamily="34" charset="0"/>
                <a:ea typeface="Calibri" pitchFamily="34" charset="-122"/>
                <a:cs typeface="Calibri" pitchFamily="34" charset="-120"/>
              </a:rPr>
              <a:t>Sectors (γονικός πίνακας)</a:t>
            </a:r>
            <a:endParaRPr lang="en-US" sz="1000" dirty="0"/>
          </a:p>
        </p:txBody>
      </p:sp>
      <p:pic>
        <p:nvPicPr>
          <p:cNvPr id="8" name="Image 0" descr="preencoded.png"/>
          <p:cNvPicPr>
            <a:picLocks noChangeAspect="1"/>
          </p:cNvPicPr>
          <p:nvPr/>
        </p:nvPicPr>
        <p:blipFill>
          <a:blip r:embed="rId3"/>
          <a:stretch>
            <a:fillRect/>
          </a:stretch>
        </p:blipFill>
        <p:spPr>
          <a:xfrm>
            <a:off x="3401568" y="2103120"/>
            <a:ext cx="365760" cy="365760"/>
          </a:xfrm>
          <a:prstGeom prst="rect">
            <a:avLst/>
          </a:prstGeom>
        </p:spPr>
      </p:pic>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3977640" y="1325880"/>
          <a:ext cx="47091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CompanyID</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C030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CompanyName</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C030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SectorID</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C0304A"/>
                    </a:solidFill>
                  </a:tcPr>
                </a:tc>
                <a:extLst>
                  <a:ext uri="{0D108BD9-81ED-4DB2-BD59-A6C34878D82A}">
                    <a16:rowId xmlns:a16="http://schemas.microsoft.com/office/drawing/2014/main" val="10000"/>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1</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Atlas Bank</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1</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4</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Olympus Energy</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2</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7</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Athena Software</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3</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310896">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25</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New Company</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99 ✗</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5"/>
          <p:cNvSpPr txBox="1"/>
          <p:nvPr/>
        </p:nvSpPr>
        <p:spPr>
          <a:xfrm>
            <a:off x="3977640" y="3246120"/>
            <a:ext cx="4709160" cy="228600"/>
          </a:xfrm>
          <a:prstGeom prst="rect">
            <a:avLst/>
          </a:prstGeom>
          <a:noFill/>
          <a:ln/>
        </p:spPr>
        <p:txBody>
          <a:bodyPr wrap="square" lIns="0" tIns="0" rIns="0" bIns="0" rtlCol="0" anchor="t"/>
          <a:lstStyle/>
          <a:p>
            <a:pPr marL="0" indent="0">
              <a:buNone/>
            </a:pPr>
            <a:r>
              <a:rPr lang="en-US" sz="1000" i="1" dirty="0">
                <a:solidFill>
                  <a:srgbClr val="5B6B7F"/>
                </a:solidFill>
                <a:latin typeface="Calibri" pitchFamily="34" charset="0"/>
                <a:ea typeface="Calibri" pitchFamily="34" charset="-122"/>
                <a:cs typeface="Calibri" pitchFamily="34" charset="-120"/>
              </a:rPr>
              <a:t>Companies (θυγατρικός πίνακας)</a:t>
            </a:r>
            <a:endParaRPr lang="en-US" sz="1000" dirty="0"/>
          </a:p>
        </p:txBody>
      </p:sp>
      <p:sp>
        <p:nvSpPr>
          <p:cNvPr id="11" name="Text 6"/>
          <p:cNvSpPr txBox="1"/>
          <p:nvPr/>
        </p:nvSpPr>
        <p:spPr>
          <a:xfrm>
            <a:off x="457200" y="3611880"/>
            <a:ext cx="8229600" cy="822960"/>
          </a:xfrm>
          <a:prstGeom prst="rect">
            <a:avLst/>
          </a:prstGeom>
          <a:noFill/>
          <a:ln/>
        </p:spPr>
        <p:txBody>
          <a:bodyPr wrap="square" lIns="0" tIns="0" rIns="0" bIns="0" rtlCol="0" anchor="t"/>
          <a:lstStyle/>
          <a:p>
            <a:pPr marL="342900" indent="-342900">
              <a:spcAft>
                <a:spcPts val="600"/>
              </a:spcAft>
              <a:buSzPct val="100000"/>
              <a:buChar char="•"/>
            </a:pPr>
            <a:r>
              <a:rPr lang="en-US" sz="1300" b="1" dirty="0">
                <a:solidFill>
                  <a:srgbClr val="12233A"/>
                </a:solidFill>
                <a:latin typeface="Calibri" pitchFamily="34" charset="0"/>
                <a:ea typeface="Calibri" pitchFamily="34" charset="-122"/>
                <a:cs typeface="Calibri" pitchFamily="34" charset="-120"/>
              </a:rPr>
              <a:t>Αποτρέπει «ορφανές» εγγραφές:</a:t>
            </a:r>
            <a:r>
              <a:rPr lang="en-US" sz="1300" dirty="0">
                <a:solidFill>
                  <a:srgbClr val="12233A"/>
                </a:solidFill>
                <a:latin typeface="Calibri" pitchFamily="34" charset="0"/>
                <a:ea typeface="Calibri" pitchFamily="34" charset="-122"/>
                <a:cs typeface="Calibri" pitchFamily="34" charset="-120"/>
              </a:rPr>
              <a:t> δεν μπαίνει εταιρεία σε κλάδο που δεν υπάρχει</a:t>
            </a:r>
            <a:endParaRPr lang="en-US" sz="1300" dirty="0"/>
          </a:p>
          <a:p>
            <a:pPr marL="342900" indent="-342900">
              <a:spcAft>
                <a:spcPts val="600"/>
              </a:spcAft>
              <a:buSzPct val="100000"/>
              <a:buChar char="•"/>
            </a:pPr>
            <a:r>
              <a:rPr lang="en-US" sz="1300" b="1" dirty="0">
                <a:solidFill>
                  <a:srgbClr val="12233A"/>
                </a:solidFill>
                <a:latin typeface="Calibri" pitchFamily="34" charset="0"/>
                <a:ea typeface="Calibri" pitchFamily="34" charset="-122"/>
                <a:cs typeface="Calibri" pitchFamily="34" charset="-120"/>
              </a:rPr>
              <a:t>Προστατεύει και τη διαγραφή:</a:t>
            </a:r>
            <a:r>
              <a:rPr lang="en-US" sz="1300" dirty="0">
                <a:solidFill>
                  <a:srgbClr val="12233A"/>
                </a:solidFill>
                <a:latin typeface="Calibri" pitchFamily="34" charset="0"/>
                <a:ea typeface="Calibri" pitchFamily="34" charset="-122"/>
                <a:cs typeface="Calibri" pitchFamily="34" charset="-120"/>
              </a:rPr>
              <a:t> δεν σβήνει κλάδος που έχει εταιρείες</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CHECK &amp; DEFAULT</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Επιχειρηματικοί κανόνες μέσα στη βάση</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457200" y="1234440"/>
            <a:ext cx="4754880" cy="3291840"/>
          </a:xfrm>
          <a:prstGeom prst="roundRect">
            <a:avLst>
              <a:gd name="adj" fmla="val 2222"/>
            </a:avLst>
          </a:prstGeom>
          <a:solidFill>
            <a:srgbClr val="0F1E30"/>
          </a:solidFill>
          <a:ln w="12700">
            <a:solidFill>
              <a:srgbClr val="0F1E30"/>
            </a:solidFill>
            <a:prstDash val="solid"/>
          </a:ln>
        </p:spPr>
        <p:txBody>
          <a:bodyPr/>
          <a:lstStyle/>
          <a:p>
            <a:endParaRPr lang="el-GR"/>
          </a:p>
        </p:txBody>
      </p:sp>
      <p:sp>
        <p:nvSpPr>
          <p:cNvPr id="7" name="Text 5"/>
          <p:cNvSpPr txBox="1"/>
          <p:nvPr/>
        </p:nvSpPr>
        <p:spPr>
          <a:xfrm>
            <a:off x="640080" y="1371600"/>
            <a:ext cx="4434840" cy="3044952"/>
          </a:xfrm>
          <a:prstGeom prst="rect">
            <a:avLst/>
          </a:prstGeom>
          <a:noFill/>
          <a:ln/>
        </p:spPr>
        <p:txBody>
          <a:bodyPr wrap="square" lIns="0" tIns="0" rIns="0" bIns="0" rtlCol="0" anchor="t"/>
          <a:lstStyle/>
          <a:p>
            <a:pPr marL="0" indent="0">
              <a:lnSpc>
                <a:spcPct val="105000"/>
              </a:lnSpc>
              <a:buNone/>
            </a:pPr>
            <a:r>
              <a:rPr lang="en-US" sz="1050" b="1" dirty="0">
                <a:solidFill>
                  <a:srgbClr val="4FD1C5"/>
                </a:solidFill>
                <a:latin typeface="Courier New" pitchFamily="34" charset="0"/>
                <a:ea typeface="Courier New" pitchFamily="34" charset="-122"/>
                <a:cs typeface="Courier New" pitchFamily="34" charset="-120"/>
              </a:rPr>
              <a:t>CREATE</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TABLE</a:t>
            </a:r>
            <a:r>
              <a:rPr lang="en-US" sz="1050" dirty="0">
                <a:solidFill>
                  <a:srgbClr val="E6EDF3"/>
                </a:solidFill>
                <a:latin typeface="Courier New" pitchFamily="34" charset="0"/>
                <a:ea typeface="Courier New" pitchFamily="34" charset="-122"/>
                <a:cs typeface="Courier New" pitchFamily="34" charset="-120"/>
              </a:rPr>
              <a:t> StockPrices (</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CompanyID  </a:t>
            </a:r>
            <a:r>
              <a:rPr lang="en-US" sz="1050" b="1" dirty="0">
                <a:solidFill>
                  <a:srgbClr val="4FD1C5"/>
                </a:solidFill>
                <a:latin typeface="Courier New" pitchFamily="34" charset="0"/>
                <a:ea typeface="Courier New" pitchFamily="34" charset="-122"/>
                <a:cs typeface="Courier New" pitchFamily="34" charset="-120"/>
              </a:rPr>
              <a:t>INT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NOT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NULL</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REFERENCES</a:t>
            </a:r>
            <a:r>
              <a:rPr lang="en-US" sz="1050" dirty="0">
                <a:solidFill>
                  <a:srgbClr val="E6EDF3"/>
                </a:solidFill>
                <a:latin typeface="Courier New" pitchFamily="34" charset="0"/>
                <a:ea typeface="Courier New" pitchFamily="34" charset="-122"/>
                <a:cs typeface="Courier New" pitchFamily="34" charset="-120"/>
              </a:rPr>
              <a:t> Companies(CompanyID),</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TradeDate  </a:t>
            </a:r>
            <a:r>
              <a:rPr lang="en-US" sz="1050" b="1" dirty="0">
                <a:solidFill>
                  <a:srgbClr val="4FD1C5"/>
                </a:solidFill>
                <a:latin typeface="Courier New" pitchFamily="34" charset="0"/>
                <a:ea typeface="Courier New" pitchFamily="34" charset="-122"/>
                <a:cs typeface="Courier New" pitchFamily="34" charset="-120"/>
              </a:rPr>
              <a:t>DATE</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NOT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NULL</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HighPrice  </a:t>
            </a:r>
            <a:r>
              <a:rPr lang="en-US" sz="1050" b="1" dirty="0">
                <a:solidFill>
                  <a:srgbClr val="4FD1C5"/>
                </a:solidFill>
                <a:latin typeface="Courier New" pitchFamily="34" charset="0"/>
                <a:ea typeface="Courier New" pitchFamily="34" charset="-122"/>
                <a:cs typeface="Courier New" pitchFamily="34" charset="-120"/>
              </a:rPr>
              <a:t>DECIMAL</a:t>
            </a:r>
            <a:r>
              <a:rPr lang="en-US" sz="1050" dirty="0">
                <a:solidFill>
                  <a:srgbClr val="E6EDF3"/>
                </a:solidFill>
                <a:latin typeface="Courier New" pitchFamily="34" charset="0"/>
                <a:ea typeface="Courier New" pitchFamily="34" charset="-122"/>
                <a:cs typeface="Courier New" pitchFamily="34" charset="-120"/>
              </a:rPr>
              <a:t>(</a:t>
            </a:r>
            <a:r>
              <a:rPr lang="en-US" sz="1050" dirty="0">
                <a:solidFill>
                  <a:srgbClr val="F28B82"/>
                </a:solidFill>
                <a:latin typeface="Courier New" pitchFamily="34" charset="0"/>
                <a:ea typeface="Courier New" pitchFamily="34" charset="-122"/>
                <a:cs typeface="Courier New" pitchFamily="34" charset="-120"/>
              </a:rPr>
              <a:t>10</a:t>
            </a:r>
            <a:r>
              <a:rPr lang="en-US" sz="1050" dirty="0">
                <a:solidFill>
                  <a:srgbClr val="E6EDF3"/>
                </a:solidFill>
                <a:latin typeface="Courier New" pitchFamily="34" charset="0"/>
                <a:ea typeface="Courier New" pitchFamily="34" charset="-122"/>
                <a:cs typeface="Courier New" pitchFamily="34" charset="-120"/>
              </a:rPr>
              <a:t>,</a:t>
            </a:r>
            <a:r>
              <a:rPr lang="en-US" sz="1050" dirty="0">
                <a:solidFill>
                  <a:srgbClr val="F28B82"/>
                </a:solidFill>
                <a:latin typeface="Courier New" pitchFamily="34" charset="0"/>
                <a:ea typeface="Courier New" pitchFamily="34" charset="-122"/>
                <a:cs typeface="Courier New" pitchFamily="34" charset="-120"/>
              </a:rPr>
              <a:t>2</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NOT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NULL</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LowPrice   </a:t>
            </a:r>
            <a:r>
              <a:rPr lang="en-US" sz="1050" b="1" dirty="0">
                <a:solidFill>
                  <a:srgbClr val="4FD1C5"/>
                </a:solidFill>
                <a:latin typeface="Courier New" pitchFamily="34" charset="0"/>
                <a:ea typeface="Courier New" pitchFamily="34" charset="-122"/>
                <a:cs typeface="Courier New" pitchFamily="34" charset="-120"/>
              </a:rPr>
              <a:t>DECIMAL</a:t>
            </a:r>
            <a:r>
              <a:rPr lang="en-US" sz="1050" dirty="0">
                <a:solidFill>
                  <a:srgbClr val="E6EDF3"/>
                </a:solidFill>
                <a:latin typeface="Courier New" pitchFamily="34" charset="0"/>
                <a:ea typeface="Courier New" pitchFamily="34" charset="-122"/>
                <a:cs typeface="Courier New" pitchFamily="34" charset="-120"/>
              </a:rPr>
              <a:t>(</a:t>
            </a:r>
            <a:r>
              <a:rPr lang="en-US" sz="1050" dirty="0">
                <a:solidFill>
                  <a:srgbClr val="F28B82"/>
                </a:solidFill>
                <a:latin typeface="Courier New" pitchFamily="34" charset="0"/>
                <a:ea typeface="Courier New" pitchFamily="34" charset="-122"/>
                <a:cs typeface="Courier New" pitchFamily="34" charset="-120"/>
              </a:rPr>
              <a:t>10</a:t>
            </a:r>
            <a:r>
              <a:rPr lang="en-US" sz="1050" dirty="0">
                <a:solidFill>
                  <a:srgbClr val="E6EDF3"/>
                </a:solidFill>
                <a:latin typeface="Courier New" pitchFamily="34" charset="0"/>
                <a:ea typeface="Courier New" pitchFamily="34" charset="-122"/>
                <a:cs typeface="Courier New" pitchFamily="34" charset="-120"/>
              </a:rPr>
              <a:t>,</a:t>
            </a:r>
            <a:r>
              <a:rPr lang="en-US" sz="1050" dirty="0">
                <a:solidFill>
                  <a:srgbClr val="F28B82"/>
                </a:solidFill>
                <a:latin typeface="Courier New" pitchFamily="34" charset="0"/>
                <a:ea typeface="Courier New" pitchFamily="34" charset="-122"/>
                <a:cs typeface="Courier New" pitchFamily="34" charset="-120"/>
              </a:rPr>
              <a:t>2</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NOT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NULL</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ClosePrice </a:t>
            </a:r>
            <a:r>
              <a:rPr lang="en-US" sz="1050" b="1" dirty="0">
                <a:solidFill>
                  <a:srgbClr val="4FD1C5"/>
                </a:solidFill>
                <a:latin typeface="Courier New" pitchFamily="34" charset="0"/>
                <a:ea typeface="Courier New" pitchFamily="34" charset="-122"/>
                <a:cs typeface="Courier New" pitchFamily="34" charset="-120"/>
              </a:rPr>
              <a:t>DECIMAL</a:t>
            </a:r>
            <a:r>
              <a:rPr lang="en-US" sz="1050" dirty="0">
                <a:solidFill>
                  <a:srgbClr val="E6EDF3"/>
                </a:solidFill>
                <a:latin typeface="Courier New" pitchFamily="34" charset="0"/>
                <a:ea typeface="Courier New" pitchFamily="34" charset="-122"/>
                <a:cs typeface="Courier New" pitchFamily="34" charset="-120"/>
              </a:rPr>
              <a:t>(</a:t>
            </a:r>
            <a:r>
              <a:rPr lang="en-US" sz="1050" dirty="0">
                <a:solidFill>
                  <a:srgbClr val="F28B82"/>
                </a:solidFill>
                <a:latin typeface="Courier New" pitchFamily="34" charset="0"/>
                <a:ea typeface="Courier New" pitchFamily="34" charset="-122"/>
                <a:cs typeface="Courier New" pitchFamily="34" charset="-120"/>
              </a:rPr>
              <a:t>10</a:t>
            </a:r>
            <a:r>
              <a:rPr lang="en-US" sz="1050" dirty="0">
                <a:solidFill>
                  <a:srgbClr val="E6EDF3"/>
                </a:solidFill>
                <a:latin typeface="Courier New" pitchFamily="34" charset="0"/>
                <a:ea typeface="Courier New" pitchFamily="34" charset="-122"/>
                <a:cs typeface="Courier New" pitchFamily="34" charset="-120"/>
              </a:rPr>
              <a:t>,</a:t>
            </a:r>
            <a:r>
              <a:rPr lang="en-US" sz="1050" dirty="0">
                <a:solidFill>
                  <a:srgbClr val="F28B82"/>
                </a:solidFill>
                <a:latin typeface="Courier New" pitchFamily="34" charset="0"/>
                <a:ea typeface="Courier New" pitchFamily="34" charset="-122"/>
                <a:cs typeface="Courier New" pitchFamily="34" charset="-120"/>
              </a:rPr>
              <a:t>2</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NOT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NULL</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Volume     </a:t>
            </a:r>
            <a:r>
              <a:rPr lang="en-US" sz="1050" b="1" dirty="0">
                <a:solidFill>
                  <a:srgbClr val="4FD1C5"/>
                </a:solidFill>
                <a:latin typeface="Courier New" pitchFamily="34" charset="0"/>
                <a:ea typeface="Courier New" pitchFamily="34" charset="-122"/>
                <a:cs typeface="Courier New" pitchFamily="34" charset="-120"/>
              </a:rPr>
              <a:t>BIGINT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NOT</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NULL</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CHECK</a:t>
            </a:r>
            <a:r>
              <a:rPr lang="en-US" sz="1050" dirty="0">
                <a:solidFill>
                  <a:srgbClr val="E6EDF3"/>
                </a:solidFill>
                <a:latin typeface="Courier New" pitchFamily="34" charset="0"/>
                <a:ea typeface="Courier New" pitchFamily="34" charset="-122"/>
                <a:cs typeface="Courier New" pitchFamily="34" charset="-120"/>
              </a:rPr>
              <a:t> (Volume &gt;= </a:t>
            </a:r>
            <a:r>
              <a:rPr lang="en-US" sz="1050" dirty="0">
                <a:solidFill>
                  <a:srgbClr val="F28B82"/>
                </a:solidFill>
                <a:latin typeface="Courier New" pitchFamily="34" charset="0"/>
                <a:ea typeface="Courier New" pitchFamily="34" charset="-122"/>
                <a:cs typeface="Courier New" pitchFamily="34" charset="-120"/>
              </a:rPr>
              <a:t>0</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CONSTRAINT</a:t>
            </a:r>
            <a:r>
              <a:rPr lang="en-US" sz="1050" dirty="0">
                <a:solidFill>
                  <a:srgbClr val="E6EDF3"/>
                </a:solidFill>
                <a:latin typeface="Courier New" pitchFamily="34" charset="0"/>
                <a:ea typeface="Courier New" pitchFamily="34" charset="-122"/>
                <a:cs typeface="Courier New" pitchFamily="34" charset="-120"/>
              </a:rPr>
              <a:t> PK_StockPrices</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PRIMARY</a:t>
            </a: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KEY</a:t>
            </a:r>
            <a:r>
              <a:rPr lang="en-US" sz="1050" dirty="0">
                <a:solidFill>
                  <a:srgbClr val="E6EDF3"/>
                </a:solidFill>
                <a:latin typeface="Courier New" pitchFamily="34" charset="0"/>
                <a:ea typeface="Courier New" pitchFamily="34" charset="-122"/>
                <a:cs typeface="Courier New" pitchFamily="34" charset="-120"/>
              </a:rPr>
              <a:t> (CompanyID, TradeDate),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CONSTRAINT</a:t>
            </a:r>
            <a:r>
              <a:rPr lang="en-US" sz="1050" dirty="0">
                <a:solidFill>
                  <a:srgbClr val="E6EDF3"/>
                </a:solidFill>
                <a:latin typeface="Courier New" pitchFamily="34" charset="0"/>
                <a:ea typeface="Courier New" pitchFamily="34" charset="-122"/>
                <a:cs typeface="Courier New" pitchFamily="34" charset="-120"/>
              </a:rPr>
              <a:t> CK_HighLow</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    </a:t>
            </a:r>
            <a:r>
              <a:rPr lang="en-US" sz="1050" b="1" dirty="0">
                <a:solidFill>
                  <a:srgbClr val="4FD1C5"/>
                </a:solidFill>
                <a:latin typeface="Courier New" pitchFamily="34" charset="0"/>
                <a:ea typeface="Courier New" pitchFamily="34" charset="-122"/>
                <a:cs typeface="Courier New" pitchFamily="34" charset="-120"/>
              </a:rPr>
              <a:t>CHECK</a:t>
            </a:r>
            <a:r>
              <a:rPr lang="en-US" sz="1050" dirty="0">
                <a:solidFill>
                  <a:srgbClr val="E6EDF3"/>
                </a:solidFill>
                <a:latin typeface="Courier New" pitchFamily="34" charset="0"/>
                <a:ea typeface="Courier New" pitchFamily="34" charset="-122"/>
                <a:cs typeface="Courier New" pitchFamily="34" charset="-120"/>
              </a:rPr>
              <a:t> (HighPrice &gt;= LowPrice)</a:t>
            </a:r>
            <a:endParaRPr lang="en-US" sz="1050" dirty="0"/>
          </a:p>
          <a:p>
            <a:pPr marL="0" indent="0">
              <a:lnSpc>
                <a:spcPct val="105000"/>
              </a:lnSpc>
              <a:buNone/>
            </a:pPr>
            <a:r>
              <a:rPr lang="en-US" sz="1050" dirty="0">
                <a:solidFill>
                  <a:srgbClr val="E6EDF3"/>
                </a:solidFill>
                <a:latin typeface="Courier New" pitchFamily="34" charset="0"/>
                <a:ea typeface="Courier New" pitchFamily="34" charset="-122"/>
                <a:cs typeface="Courier New" pitchFamily="34" charset="-120"/>
              </a:rPr>
              <a:t>);</a:t>
            </a:r>
            <a:endParaRPr lang="en-US" sz="1050" dirty="0"/>
          </a:p>
        </p:txBody>
      </p:sp>
      <p:sp>
        <p:nvSpPr>
          <p:cNvPr id="8" name="Shape 6"/>
          <p:cNvSpPr/>
          <p:nvPr/>
        </p:nvSpPr>
        <p:spPr>
          <a:xfrm>
            <a:off x="5486400" y="1234440"/>
            <a:ext cx="3200400" cy="713232"/>
          </a:xfrm>
          <a:prstGeom prst="roundRect">
            <a:avLst>
              <a:gd name="adj" fmla="val 10256"/>
            </a:avLst>
          </a:prstGeom>
          <a:solidFill>
            <a:srgbClr val="EEF3F8"/>
          </a:solidFill>
          <a:ln w="12700">
            <a:solidFill>
              <a:srgbClr val="EEF3F8"/>
            </a:solidFill>
            <a:prstDash val="solid"/>
          </a:ln>
        </p:spPr>
        <p:txBody>
          <a:bodyPr/>
          <a:lstStyle/>
          <a:p>
            <a:endParaRPr lang="el-GR"/>
          </a:p>
        </p:txBody>
      </p:sp>
      <p:sp>
        <p:nvSpPr>
          <p:cNvPr id="9" name="Text 7"/>
          <p:cNvSpPr txBox="1"/>
          <p:nvPr/>
        </p:nvSpPr>
        <p:spPr>
          <a:xfrm>
            <a:off x="5623560" y="1307592"/>
            <a:ext cx="2971800" cy="594360"/>
          </a:xfrm>
          <a:prstGeom prst="rect">
            <a:avLst/>
          </a:prstGeom>
          <a:noFill/>
          <a:ln/>
        </p:spPr>
        <p:txBody>
          <a:bodyPr wrap="square" lIns="0" tIns="0" rIns="0" bIns="0" rtlCol="0" anchor="ctr"/>
          <a:lstStyle/>
          <a:p>
            <a:pPr marL="0" indent="0">
              <a:buNone/>
            </a:pPr>
            <a:r>
              <a:rPr lang="en-US" sz="1000" b="1" dirty="0">
                <a:solidFill>
                  <a:srgbClr val="1A9E92"/>
                </a:solidFill>
                <a:latin typeface="Courier New" pitchFamily="34" charset="0"/>
                <a:ea typeface="Courier New" pitchFamily="34" charset="-122"/>
                <a:cs typeface="Courier New" pitchFamily="34" charset="-120"/>
              </a:rPr>
              <a:t>CHECK (Volume &gt;= 0)</a:t>
            </a:r>
            <a:endParaRPr lang="en-US" sz="1400" dirty="0"/>
          </a:p>
          <a:p>
            <a:pPr marL="0" indent="0">
              <a:buNone/>
            </a:pPr>
            <a:r>
              <a:rPr lang="en-US" sz="1200" dirty="0">
                <a:solidFill>
                  <a:srgbClr val="12233A"/>
                </a:solidFill>
                <a:latin typeface="Calibri" pitchFamily="34" charset="0"/>
                <a:ea typeface="Calibri" pitchFamily="34" charset="-122"/>
                <a:cs typeface="Calibri" pitchFamily="34" charset="-120"/>
              </a:rPr>
              <a:t>Δεν υπάρχει αρνητικός όγκος</a:t>
            </a:r>
            <a:endParaRPr lang="en-US" sz="1400" dirty="0"/>
          </a:p>
        </p:txBody>
      </p:sp>
      <p:sp>
        <p:nvSpPr>
          <p:cNvPr id="10" name="Shape 8"/>
          <p:cNvSpPr/>
          <p:nvPr/>
        </p:nvSpPr>
        <p:spPr>
          <a:xfrm>
            <a:off x="5486400" y="2057400"/>
            <a:ext cx="3200400" cy="713232"/>
          </a:xfrm>
          <a:prstGeom prst="roundRect">
            <a:avLst>
              <a:gd name="adj" fmla="val 10256"/>
            </a:avLst>
          </a:prstGeom>
          <a:solidFill>
            <a:srgbClr val="EEF3F8"/>
          </a:solidFill>
          <a:ln w="12700">
            <a:solidFill>
              <a:srgbClr val="EEF3F8"/>
            </a:solidFill>
            <a:prstDash val="solid"/>
          </a:ln>
        </p:spPr>
        <p:txBody>
          <a:bodyPr/>
          <a:lstStyle/>
          <a:p>
            <a:endParaRPr lang="el-GR"/>
          </a:p>
        </p:txBody>
      </p:sp>
      <p:sp>
        <p:nvSpPr>
          <p:cNvPr id="11" name="Text 9"/>
          <p:cNvSpPr txBox="1"/>
          <p:nvPr/>
        </p:nvSpPr>
        <p:spPr>
          <a:xfrm>
            <a:off x="5623560" y="2130552"/>
            <a:ext cx="2971800" cy="594360"/>
          </a:xfrm>
          <a:prstGeom prst="rect">
            <a:avLst/>
          </a:prstGeom>
          <a:noFill/>
          <a:ln/>
        </p:spPr>
        <p:txBody>
          <a:bodyPr wrap="square" lIns="0" tIns="0" rIns="0" bIns="0" rtlCol="0" anchor="ctr"/>
          <a:lstStyle/>
          <a:p>
            <a:pPr marL="0" indent="0">
              <a:buNone/>
            </a:pPr>
            <a:r>
              <a:rPr lang="en-US" sz="1000" b="1" dirty="0">
                <a:solidFill>
                  <a:srgbClr val="1A9E92"/>
                </a:solidFill>
                <a:latin typeface="Courier New" pitchFamily="34" charset="0"/>
                <a:ea typeface="Courier New" pitchFamily="34" charset="-122"/>
                <a:cs typeface="Courier New" pitchFamily="34" charset="-120"/>
              </a:rPr>
              <a:t>CHECK (HighPrice &gt;= LowPrice)</a:t>
            </a:r>
            <a:endParaRPr lang="en-US" sz="1400" dirty="0"/>
          </a:p>
          <a:p>
            <a:pPr marL="0" indent="0">
              <a:buNone/>
            </a:pPr>
            <a:r>
              <a:rPr lang="en-US" sz="1200" dirty="0">
                <a:solidFill>
                  <a:srgbClr val="12233A"/>
                </a:solidFill>
                <a:latin typeface="Calibri" pitchFamily="34" charset="0"/>
                <a:ea typeface="Calibri" pitchFamily="34" charset="-122"/>
                <a:cs typeface="Calibri" pitchFamily="34" charset="-120"/>
              </a:rPr>
              <a:t>Το υψηλό της ημέρας ≥ το χαμηλό</a:t>
            </a:r>
            <a:endParaRPr lang="en-US" sz="1400" dirty="0"/>
          </a:p>
        </p:txBody>
      </p:sp>
      <p:sp>
        <p:nvSpPr>
          <p:cNvPr id="12" name="Shape 10"/>
          <p:cNvSpPr/>
          <p:nvPr/>
        </p:nvSpPr>
        <p:spPr>
          <a:xfrm>
            <a:off x="5486400" y="2880360"/>
            <a:ext cx="3200400" cy="713232"/>
          </a:xfrm>
          <a:prstGeom prst="roundRect">
            <a:avLst>
              <a:gd name="adj" fmla="val 10256"/>
            </a:avLst>
          </a:prstGeom>
          <a:solidFill>
            <a:srgbClr val="EEF3F8"/>
          </a:solidFill>
          <a:ln w="12700">
            <a:solidFill>
              <a:srgbClr val="EEF3F8"/>
            </a:solidFill>
            <a:prstDash val="solid"/>
          </a:ln>
        </p:spPr>
        <p:txBody>
          <a:bodyPr/>
          <a:lstStyle/>
          <a:p>
            <a:endParaRPr lang="el-GR"/>
          </a:p>
        </p:txBody>
      </p:sp>
      <p:sp>
        <p:nvSpPr>
          <p:cNvPr id="13" name="Text 11"/>
          <p:cNvSpPr txBox="1"/>
          <p:nvPr/>
        </p:nvSpPr>
        <p:spPr>
          <a:xfrm>
            <a:off x="5623560" y="2953512"/>
            <a:ext cx="2971800" cy="594360"/>
          </a:xfrm>
          <a:prstGeom prst="rect">
            <a:avLst/>
          </a:prstGeom>
          <a:noFill/>
          <a:ln/>
        </p:spPr>
        <p:txBody>
          <a:bodyPr wrap="square" lIns="0" tIns="0" rIns="0" bIns="0" rtlCol="0" anchor="ctr"/>
          <a:lstStyle/>
          <a:p>
            <a:pPr marL="0" indent="0">
              <a:buNone/>
            </a:pPr>
            <a:r>
              <a:rPr lang="en-US" sz="1000" b="1" dirty="0">
                <a:solidFill>
                  <a:srgbClr val="1A9E92"/>
                </a:solidFill>
                <a:latin typeface="Courier New" pitchFamily="34" charset="0"/>
                <a:ea typeface="Courier New" pitchFamily="34" charset="-122"/>
                <a:cs typeface="Courier New" pitchFamily="34" charset="-120"/>
              </a:rPr>
              <a:t>DEFAULT N'Ελλάδα'</a:t>
            </a:r>
            <a:endParaRPr lang="en-US" sz="1400" dirty="0"/>
          </a:p>
          <a:p>
            <a:pPr marL="0" indent="0">
              <a:buNone/>
            </a:pPr>
            <a:r>
              <a:rPr lang="en-US" sz="1200" dirty="0">
                <a:solidFill>
                  <a:srgbClr val="12233A"/>
                </a:solidFill>
                <a:latin typeface="Calibri" pitchFamily="34" charset="0"/>
                <a:ea typeface="Calibri" pitchFamily="34" charset="-122"/>
                <a:cs typeface="Calibri" pitchFamily="34" charset="-120"/>
              </a:rPr>
              <a:t>Στον πίνακα Companies: αν δεν δοθεί χώρα</a:t>
            </a:r>
            <a:endParaRPr lang="en-US" sz="1400" dirty="0"/>
          </a:p>
        </p:txBody>
      </p:sp>
      <p:sp>
        <p:nvSpPr>
          <p:cNvPr id="14" name="Shape 12"/>
          <p:cNvSpPr/>
          <p:nvPr/>
        </p:nvSpPr>
        <p:spPr>
          <a:xfrm>
            <a:off x="5486400" y="3703320"/>
            <a:ext cx="3200400" cy="713232"/>
          </a:xfrm>
          <a:prstGeom prst="roundRect">
            <a:avLst>
              <a:gd name="adj" fmla="val 10256"/>
            </a:avLst>
          </a:prstGeom>
          <a:solidFill>
            <a:srgbClr val="EEF3F8"/>
          </a:solidFill>
          <a:ln w="12700">
            <a:solidFill>
              <a:srgbClr val="EEF3F8"/>
            </a:solidFill>
            <a:prstDash val="solid"/>
          </a:ln>
        </p:spPr>
        <p:txBody>
          <a:bodyPr/>
          <a:lstStyle/>
          <a:p>
            <a:endParaRPr lang="el-GR"/>
          </a:p>
        </p:txBody>
      </p:sp>
      <p:sp>
        <p:nvSpPr>
          <p:cNvPr id="15" name="Text 13"/>
          <p:cNvSpPr txBox="1"/>
          <p:nvPr/>
        </p:nvSpPr>
        <p:spPr>
          <a:xfrm>
            <a:off x="5623560" y="3776472"/>
            <a:ext cx="2971800" cy="594360"/>
          </a:xfrm>
          <a:prstGeom prst="rect">
            <a:avLst/>
          </a:prstGeom>
          <a:noFill/>
          <a:ln/>
        </p:spPr>
        <p:txBody>
          <a:bodyPr wrap="square" lIns="0" tIns="0" rIns="0" bIns="0" rtlCol="0" anchor="ctr"/>
          <a:lstStyle/>
          <a:p>
            <a:pPr marL="0" indent="0">
              <a:buNone/>
            </a:pPr>
            <a:r>
              <a:rPr lang="en-US" sz="1000" b="1" dirty="0">
                <a:solidFill>
                  <a:srgbClr val="1A9E92"/>
                </a:solidFill>
                <a:latin typeface="Courier New" pitchFamily="34" charset="0"/>
                <a:ea typeface="Courier New" pitchFamily="34" charset="-122"/>
                <a:cs typeface="Courier New" pitchFamily="34" charset="-120"/>
              </a:rPr>
              <a:t>CONSTRAINT όνομα</a:t>
            </a:r>
            <a:endParaRPr lang="en-US" sz="1400" dirty="0"/>
          </a:p>
          <a:p>
            <a:pPr marL="0" indent="0">
              <a:buNone/>
            </a:pPr>
            <a:r>
              <a:rPr lang="en-US" sz="1200" dirty="0">
                <a:solidFill>
                  <a:srgbClr val="12233A"/>
                </a:solidFill>
                <a:latin typeface="Calibri" pitchFamily="34" charset="0"/>
                <a:ea typeface="Calibri" pitchFamily="34" charset="-122"/>
                <a:cs typeface="Calibri" pitchFamily="34" charset="-120"/>
              </a:rPr>
              <a:t>Δίνουμε όνομα → κατανοητά μηνύματα λάθους</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Τι γίνεται όταν παραβιάζεται ένας κανόνας;</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Ο SQL Server απορρίπτει την εντολή — και λέει ακριβώς γιατί</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457200" y="1280160"/>
            <a:ext cx="8229600" cy="1188720"/>
          </a:xfrm>
          <a:prstGeom prst="roundRect">
            <a:avLst>
              <a:gd name="adj" fmla="val 6154"/>
            </a:avLst>
          </a:prstGeom>
          <a:solidFill>
            <a:srgbClr val="0F1E30"/>
          </a:solidFill>
          <a:ln w="12700">
            <a:solidFill>
              <a:srgbClr val="0F1E30"/>
            </a:solidFill>
            <a:prstDash val="solid"/>
          </a:ln>
        </p:spPr>
        <p:txBody>
          <a:bodyPr/>
          <a:lstStyle/>
          <a:p>
            <a:endParaRPr lang="el-GR"/>
          </a:p>
        </p:txBody>
      </p:sp>
      <p:sp>
        <p:nvSpPr>
          <p:cNvPr id="7" name="Text 5"/>
          <p:cNvSpPr txBox="1"/>
          <p:nvPr/>
        </p:nvSpPr>
        <p:spPr>
          <a:xfrm>
            <a:off x="640080" y="1417320"/>
            <a:ext cx="7909560" cy="941832"/>
          </a:xfrm>
          <a:prstGeom prst="rect">
            <a:avLst/>
          </a:prstGeom>
          <a:noFill/>
          <a:ln/>
        </p:spPr>
        <p:txBody>
          <a:bodyPr wrap="square" lIns="0" tIns="0" rIns="0" bIns="0" rtlCol="0" anchor="t"/>
          <a:lstStyle/>
          <a:p>
            <a:pPr marL="0" indent="0">
              <a:lnSpc>
                <a:spcPct val="105000"/>
              </a:lnSpc>
              <a:buNone/>
            </a:pPr>
            <a:r>
              <a:rPr lang="en-US" sz="1200" b="1" dirty="0">
                <a:solidFill>
                  <a:srgbClr val="4FD1C5"/>
                </a:solidFill>
                <a:latin typeface="Courier New" pitchFamily="34" charset="0"/>
                <a:ea typeface="Courier New" pitchFamily="34" charset="-122"/>
                <a:cs typeface="Courier New" pitchFamily="34" charset="-120"/>
              </a:rPr>
              <a:t>INSERT</a:t>
            </a:r>
            <a:r>
              <a:rPr lang="en-US" sz="1200" dirty="0">
                <a:solidFill>
                  <a:srgbClr val="E6EDF3"/>
                </a:solidFill>
                <a:latin typeface="Courier New" pitchFamily="34" charset="0"/>
                <a:ea typeface="Courier New" pitchFamily="34" charset="-122"/>
                <a:cs typeface="Courier New" pitchFamily="34" charset="-120"/>
              </a:rPr>
              <a:t> </a:t>
            </a:r>
            <a:r>
              <a:rPr lang="en-US" sz="1200" b="1" dirty="0">
                <a:solidFill>
                  <a:srgbClr val="4FD1C5"/>
                </a:solidFill>
                <a:latin typeface="Courier New" pitchFamily="34" charset="0"/>
                <a:ea typeface="Courier New" pitchFamily="34" charset="-122"/>
                <a:cs typeface="Courier New" pitchFamily="34" charset="-120"/>
              </a:rPr>
              <a:t>INTO</a:t>
            </a:r>
            <a:r>
              <a:rPr lang="en-US" sz="1200" dirty="0">
                <a:solidFill>
                  <a:srgbClr val="E6EDF3"/>
                </a:solidFill>
                <a:latin typeface="Courier New" pitchFamily="34" charset="0"/>
                <a:ea typeface="Courier New" pitchFamily="34" charset="-122"/>
                <a:cs typeface="Courier New" pitchFamily="34" charset="-120"/>
              </a:rPr>
              <a:t> Companies</a:t>
            </a:r>
            <a:endParaRPr lang="en-US" sz="1200" dirty="0"/>
          </a:p>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  (CompanyID, Ticker, CompanyName, SectorID, ListingDate)</a:t>
            </a:r>
            <a:endParaRPr lang="en-US" sz="1200" dirty="0"/>
          </a:p>
          <a:p>
            <a:pPr marL="0" indent="0">
              <a:lnSpc>
                <a:spcPct val="105000"/>
              </a:lnSpc>
              <a:buNone/>
            </a:pPr>
            <a:r>
              <a:rPr lang="en-US" sz="1200" b="1" dirty="0">
                <a:solidFill>
                  <a:srgbClr val="4FD1C5"/>
                </a:solidFill>
                <a:latin typeface="Courier New" pitchFamily="34" charset="0"/>
                <a:ea typeface="Courier New" pitchFamily="34" charset="-122"/>
                <a:cs typeface="Courier New" pitchFamily="34" charset="-120"/>
              </a:rPr>
              <a:t>VALUES</a:t>
            </a:r>
            <a:endParaRPr lang="en-US" sz="1200" dirty="0"/>
          </a:p>
          <a:p>
            <a:pPr marL="0" indent="0">
              <a:lnSpc>
                <a:spcPct val="105000"/>
              </a:lnSpc>
              <a:buNone/>
            </a:pPr>
            <a:r>
              <a:rPr lang="en-US" sz="1200" dirty="0">
                <a:solidFill>
                  <a:srgbClr val="E6EDF3"/>
                </a:solidFill>
                <a:latin typeface="Courier New" pitchFamily="34" charset="0"/>
                <a:ea typeface="Courier New" pitchFamily="34" charset="-122"/>
                <a:cs typeface="Courier New" pitchFamily="34" charset="-120"/>
              </a:rPr>
              <a:t>  (</a:t>
            </a:r>
            <a:r>
              <a:rPr lang="en-US" sz="1200" dirty="0">
                <a:solidFill>
                  <a:srgbClr val="F28B82"/>
                </a:solidFill>
                <a:latin typeface="Courier New" pitchFamily="34" charset="0"/>
                <a:ea typeface="Courier New" pitchFamily="34" charset="-122"/>
                <a:cs typeface="Courier New" pitchFamily="34" charset="-120"/>
              </a:rPr>
              <a:t>25</a:t>
            </a:r>
            <a:r>
              <a:rPr lang="en-US" sz="1200" dirty="0">
                <a:solidFill>
                  <a:srgbClr val="E6EDF3"/>
                </a:solidFill>
                <a:latin typeface="Courier New" pitchFamily="34" charset="0"/>
                <a:ea typeface="Courier New" pitchFamily="34" charset="-122"/>
                <a:cs typeface="Courier New" pitchFamily="34" charset="-120"/>
              </a:rPr>
              <a:t>, </a:t>
            </a:r>
            <a:r>
              <a:rPr lang="en-US" sz="1200" dirty="0">
                <a:solidFill>
                  <a:srgbClr val="F2B134"/>
                </a:solidFill>
                <a:latin typeface="Courier New" pitchFamily="34" charset="0"/>
                <a:ea typeface="Courier New" pitchFamily="34" charset="-122"/>
                <a:cs typeface="Courier New" pitchFamily="34" charset="-120"/>
              </a:rPr>
              <a:t>'NEWC'</a:t>
            </a:r>
            <a:r>
              <a:rPr lang="en-US" sz="1200" dirty="0">
                <a:solidFill>
                  <a:srgbClr val="E6EDF3"/>
                </a:solidFill>
                <a:latin typeface="Courier New" pitchFamily="34" charset="0"/>
                <a:ea typeface="Courier New" pitchFamily="34" charset="-122"/>
                <a:cs typeface="Courier New" pitchFamily="34" charset="-120"/>
              </a:rPr>
              <a:t>, </a:t>
            </a:r>
            <a:r>
              <a:rPr lang="en-US" sz="1200" dirty="0">
                <a:solidFill>
                  <a:srgbClr val="F2B134"/>
                </a:solidFill>
                <a:latin typeface="Courier New" pitchFamily="34" charset="0"/>
                <a:ea typeface="Courier New" pitchFamily="34" charset="-122"/>
                <a:cs typeface="Courier New" pitchFamily="34" charset="-120"/>
              </a:rPr>
              <a:t>N'New Company'</a:t>
            </a:r>
            <a:r>
              <a:rPr lang="en-US" sz="1200" dirty="0">
                <a:solidFill>
                  <a:srgbClr val="E6EDF3"/>
                </a:solidFill>
                <a:latin typeface="Courier New" pitchFamily="34" charset="0"/>
                <a:ea typeface="Courier New" pitchFamily="34" charset="-122"/>
                <a:cs typeface="Courier New" pitchFamily="34" charset="-120"/>
              </a:rPr>
              <a:t>, </a:t>
            </a:r>
            <a:r>
              <a:rPr lang="en-US" sz="1200" dirty="0">
                <a:solidFill>
                  <a:srgbClr val="F28B82"/>
                </a:solidFill>
                <a:latin typeface="Courier New" pitchFamily="34" charset="0"/>
                <a:ea typeface="Courier New" pitchFamily="34" charset="-122"/>
                <a:cs typeface="Courier New" pitchFamily="34" charset="-120"/>
              </a:rPr>
              <a:t>99</a:t>
            </a:r>
            <a:r>
              <a:rPr lang="en-US" sz="1200" dirty="0">
                <a:solidFill>
                  <a:srgbClr val="E6EDF3"/>
                </a:solidFill>
                <a:latin typeface="Courier New" pitchFamily="34" charset="0"/>
                <a:ea typeface="Courier New" pitchFamily="34" charset="-122"/>
                <a:cs typeface="Courier New" pitchFamily="34" charset="-120"/>
              </a:rPr>
              <a:t>, </a:t>
            </a:r>
            <a:r>
              <a:rPr lang="en-US" sz="1200" dirty="0">
                <a:solidFill>
                  <a:srgbClr val="F2B134"/>
                </a:solidFill>
                <a:latin typeface="Courier New" pitchFamily="34" charset="0"/>
                <a:ea typeface="Courier New" pitchFamily="34" charset="-122"/>
                <a:cs typeface="Courier New" pitchFamily="34" charset="-120"/>
              </a:rPr>
              <a:t>'2026-01-01'</a:t>
            </a:r>
            <a:r>
              <a:rPr lang="en-US" sz="1200" dirty="0">
                <a:solidFill>
                  <a:srgbClr val="E6EDF3"/>
                </a:solidFill>
                <a:latin typeface="Courier New" pitchFamily="34" charset="0"/>
                <a:ea typeface="Courier New" pitchFamily="34" charset="-122"/>
                <a:cs typeface="Courier New" pitchFamily="34" charset="-120"/>
              </a:rPr>
              <a:t>);</a:t>
            </a:r>
            <a:endParaRPr lang="en-US" sz="1200" dirty="0"/>
          </a:p>
        </p:txBody>
      </p:sp>
      <p:sp>
        <p:nvSpPr>
          <p:cNvPr id="8" name="Shape 6"/>
          <p:cNvSpPr/>
          <p:nvPr/>
        </p:nvSpPr>
        <p:spPr>
          <a:xfrm>
            <a:off x="457200" y="2651760"/>
            <a:ext cx="8229600" cy="1051560"/>
          </a:xfrm>
          <a:prstGeom prst="roundRect">
            <a:avLst>
              <a:gd name="adj" fmla="val 6957"/>
            </a:avLst>
          </a:prstGeom>
          <a:solidFill>
            <a:srgbClr val="FDECEE"/>
          </a:solidFill>
          <a:ln w="12700">
            <a:solidFill>
              <a:srgbClr val="FDECEE"/>
            </a:solidFill>
            <a:prstDash val="solid"/>
          </a:ln>
        </p:spPr>
        <p:txBody>
          <a:bodyPr/>
          <a:lstStyle/>
          <a:p>
            <a:endParaRPr lang="el-GR"/>
          </a:p>
        </p:txBody>
      </p:sp>
      <p:sp>
        <p:nvSpPr>
          <p:cNvPr id="9" name="Text 7"/>
          <p:cNvSpPr txBox="1"/>
          <p:nvPr/>
        </p:nvSpPr>
        <p:spPr>
          <a:xfrm>
            <a:off x="640080" y="2743200"/>
            <a:ext cx="7863840" cy="868680"/>
          </a:xfrm>
          <a:prstGeom prst="rect">
            <a:avLst/>
          </a:prstGeom>
          <a:noFill/>
          <a:ln/>
        </p:spPr>
        <p:txBody>
          <a:bodyPr wrap="square" lIns="0" tIns="0" rIns="0" bIns="0" rtlCol="0" anchor="ctr"/>
          <a:lstStyle/>
          <a:p>
            <a:pPr marL="0" indent="0">
              <a:buNone/>
            </a:pPr>
            <a:r>
              <a:rPr lang="en-US" sz="1050" b="1" dirty="0">
                <a:solidFill>
                  <a:srgbClr val="B3261E"/>
                </a:solidFill>
                <a:latin typeface="Courier New" pitchFamily="34" charset="0"/>
                <a:ea typeface="Courier New" pitchFamily="34" charset="-122"/>
                <a:cs typeface="Courier New" pitchFamily="34" charset="-120"/>
              </a:rPr>
              <a:t>Msg 547, Level 16, State 0</a:t>
            </a:r>
            <a:endParaRPr lang="en-US" sz="1050" dirty="0"/>
          </a:p>
          <a:p>
            <a:pPr marL="0" indent="0">
              <a:buNone/>
            </a:pPr>
            <a:r>
              <a:rPr lang="en-US" sz="1050" dirty="0">
                <a:solidFill>
                  <a:srgbClr val="7A1B14"/>
                </a:solidFill>
                <a:latin typeface="Courier New" pitchFamily="34" charset="0"/>
                <a:ea typeface="Courier New" pitchFamily="34" charset="-122"/>
                <a:cs typeface="Courier New" pitchFamily="34" charset="-120"/>
              </a:rPr>
              <a:t>The INSERT statement conflicted with the FOREIGN KEY constraint "FK__Companies__Secto__…". The conflict occurred in database "StockMarketDB", table "dbo.Sectors", column 'SectorID'.</a:t>
            </a:r>
            <a:endParaRPr lang="en-US" sz="1050" dirty="0"/>
          </a:p>
        </p:txBody>
      </p:sp>
      <p:sp>
        <p:nvSpPr>
          <p:cNvPr id="10" name="Shape 8"/>
          <p:cNvSpPr/>
          <p:nvPr/>
        </p:nvSpPr>
        <p:spPr>
          <a:xfrm>
            <a:off x="457200" y="3931920"/>
            <a:ext cx="8229600" cy="548640"/>
          </a:xfrm>
          <a:prstGeom prst="roundRect">
            <a:avLst>
              <a:gd name="adj" fmla="val 13333"/>
            </a:avLst>
          </a:prstGeom>
          <a:solidFill>
            <a:srgbClr val="F2B134"/>
          </a:solidFill>
          <a:ln w="12700">
            <a:solidFill>
              <a:srgbClr val="F2B134"/>
            </a:solidFill>
            <a:prstDash val="solid"/>
          </a:ln>
        </p:spPr>
        <p:txBody>
          <a:bodyPr/>
          <a:lstStyle/>
          <a:p>
            <a:endParaRPr lang="el-GR"/>
          </a:p>
        </p:txBody>
      </p:sp>
      <p:pic>
        <p:nvPicPr>
          <p:cNvPr id="11" name="Image 0" descr="preencoded.png"/>
          <p:cNvPicPr>
            <a:picLocks noChangeAspect="1"/>
          </p:cNvPicPr>
          <p:nvPr/>
        </p:nvPicPr>
        <p:blipFill>
          <a:blip r:embed="rId3"/>
          <a:stretch>
            <a:fillRect/>
          </a:stretch>
        </p:blipFill>
        <p:spPr>
          <a:xfrm>
            <a:off x="640080" y="4050792"/>
            <a:ext cx="310896" cy="310896"/>
          </a:xfrm>
          <a:prstGeom prst="rect">
            <a:avLst/>
          </a:prstGeom>
        </p:spPr>
      </p:pic>
      <p:sp>
        <p:nvSpPr>
          <p:cNvPr id="12" name="Text 9"/>
          <p:cNvSpPr txBox="1"/>
          <p:nvPr/>
        </p:nvSpPr>
        <p:spPr>
          <a:xfrm>
            <a:off x="1097280" y="3931920"/>
            <a:ext cx="7452360" cy="548640"/>
          </a:xfrm>
          <a:prstGeom prst="rect">
            <a:avLst/>
          </a:prstGeom>
          <a:noFill/>
          <a:ln/>
        </p:spPr>
        <p:txBody>
          <a:bodyPr wrap="square" lIns="0" tIns="0" rIns="0" bIns="0" rtlCol="0" anchor="ctr"/>
          <a:lstStyle/>
          <a:p>
            <a:pPr marL="0" indent="0">
              <a:buNone/>
            </a:pPr>
            <a:r>
              <a:rPr lang="en-US" sz="1250" b="1" dirty="0">
                <a:solidFill>
                  <a:srgbClr val="12233A"/>
                </a:solidFill>
                <a:latin typeface="Calibri" pitchFamily="34" charset="0"/>
                <a:ea typeface="Calibri" pitchFamily="34" charset="-122"/>
                <a:cs typeface="Calibri" pitchFamily="34" charset="-120"/>
              </a:rPr>
              <a:t>Διαβάζουμε το μήνυμα: </a:t>
            </a:r>
            <a:r>
              <a:rPr lang="en-US" sz="1250" dirty="0">
                <a:solidFill>
                  <a:srgbClr val="12233A"/>
                </a:solidFill>
                <a:latin typeface="Calibri" pitchFamily="34" charset="0"/>
                <a:ea typeface="Calibri" pitchFamily="34" charset="-122"/>
                <a:cs typeface="Calibri" pitchFamily="34" charset="-120"/>
              </a:rPr>
              <a:t>ποιος περιορισμός (FOREIGN KEY) · ποιος πίνακας (Sectors) · ποια στήλη (SectorID).</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flipV="1">
            <a:off x="6422746" y="1302106"/>
            <a:ext cx="510235" cy="226771"/>
          </a:xfrm>
          <a:prstGeom prst="line">
            <a:avLst/>
          </a:prstGeom>
          <a:noFill/>
          <a:ln w="12700">
            <a:solidFill>
              <a:srgbClr val="2EC4B6">
                <a:alpha val="22500"/>
              </a:srgbClr>
            </a:solidFill>
            <a:prstDash val="solid"/>
          </a:ln>
        </p:spPr>
        <p:txBody>
          <a:bodyPr/>
          <a:lstStyle/>
          <a:p>
            <a:endParaRPr lang="el-GR"/>
          </a:p>
        </p:txBody>
      </p:sp>
      <p:sp>
        <p:nvSpPr>
          <p:cNvPr id="3" name="Shape 1"/>
          <p:cNvSpPr/>
          <p:nvPr/>
        </p:nvSpPr>
        <p:spPr>
          <a:xfrm>
            <a:off x="6932981" y="1302106"/>
            <a:ext cx="510235" cy="396850"/>
          </a:xfrm>
          <a:prstGeom prst="line">
            <a:avLst/>
          </a:prstGeom>
          <a:noFill/>
          <a:ln w="12700">
            <a:solidFill>
              <a:srgbClr val="2EC4B6">
                <a:alpha val="22500"/>
              </a:srgbClr>
            </a:solidFill>
            <a:prstDash val="solid"/>
          </a:ln>
        </p:spPr>
        <p:txBody>
          <a:bodyPr/>
          <a:lstStyle/>
          <a:p>
            <a:endParaRPr lang="el-GR"/>
          </a:p>
        </p:txBody>
      </p:sp>
      <p:sp>
        <p:nvSpPr>
          <p:cNvPr id="4" name="Shape 2"/>
          <p:cNvSpPr/>
          <p:nvPr/>
        </p:nvSpPr>
        <p:spPr>
          <a:xfrm flipV="1">
            <a:off x="7443216" y="1415491"/>
            <a:ext cx="623621" cy="283464"/>
          </a:xfrm>
          <a:prstGeom prst="line">
            <a:avLst/>
          </a:prstGeom>
          <a:noFill/>
          <a:ln w="12700">
            <a:solidFill>
              <a:srgbClr val="2EC4B6">
                <a:alpha val="22500"/>
              </a:srgbClr>
            </a:solidFill>
            <a:prstDash val="solid"/>
          </a:ln>
        </p:spPr>
        <p:txBody>
          <a:bodyPr/>
          <a:lstStyle/>
          <a:p>
            <a:endParaRPr lang="el-GR"/>
          </a:p>
        </p:txBody>
      </p:sp>
      <p:sp>
        <p:nvSpPr>
          <p:cNvPr id="5" name="Shape 3"/>
          <p:cNvSpPr/>
          <p:nvPr/>
        </p:nvSpPr>
        <p:spPr>
          <a:xfrm>
            <a:off x="8066837" y="1415491"/>
            <a:ext cx="453542" cy="510235"/>
          </a:xfrm>
          <a:prstGeom prst="line">
            <a:avLst/>
          </a:prstGeom>
          <a:noFill/>
          <a:ln w="12700">
            <a:solidFill>
              <a:srgbClr val="2EC4B6">
                <a:alpha val="22500"/>
              </a:srgbClr>
            </a:solidFill>
            <a:prstDash val="solid"/>
          </a:ln>
        </p:spPr>
        <p:txBody>
          <a:bodyPr/>
          <a:lstStyle/>
          <a:p>
            <a:endParaRPr lang="el-GR"/>
          </a:p>
        </p:txBody>
      </p:sp>
      <p:sp>
        <p:nvSpPr>
          <p:cNvPr id="6" name="Shape 4"/>
          <p:cNvSpPr/>
          <p:nvPr/>
        </p:nvSpPr>
        <p:spPr>
          <a:xfrm>
            <a:off x="6422746" y="1528877"/>
            <a:ext cx="283464" cy="566928"/>
          </a:xfrm>
          <a:prstGeom prst="line">
            <a:avLst/>
          </a:prstGeom>
          <a:noFill/>
          <a:ln w="12700">
            <a:solidFill>
              <a:srgbClr val="2EC4B6">
                <a:alpha val="22500"/>
              </a:srgbClr>
            </a:solidFill>
            <a:prstDash val="solid"/>
          </a:ln>
        </p:spPr>
        <p:txBody>
          <a:bodyPr/>
          <a:lstStyle/>
          <a:p>
            <a:endParaRPr lang="el-GR"/>
          </a:p>
        </p:txBody>
      </p:sp>
      <p:sp>
        <p:nvSpPr>
          <p:cNvPr id="7" name="Shape 5"/>
          <p:cNvSpPr/>
          <p:nvPr/>
        </p:nvSpPr>
        <p:spPr>
          <a:xfrm>
            <a:off x="6706210" y="2095805"/>
            <a:ext cx="566928" cy="283464"/>
          </a:xfrm>
          <a:prstGeom prst="line">
            <a:avLst/>
          </a:prstGeom>
          <a:noFill/>
          <a:ln w="12700">
            <a:solidFill>
              <a:srgbClr val="2EC4B6">
                <a:alpha val="22500"/>
              </a:srgbClr>
            </a:solidFill>
            <a:prstDash val="solid"/>
          </a:ln>
        </p:spPr>
        <p:txBody>
          <a:bodyPr/>
          <a:lstStyle/>
          <a:p>
            <a:endParaRPr lang="el-GR"/>
          </a:p>
        </p:txBody>
      </p:sp>
      <p:sp>
        <p:nvSpPr>
          <p:cNvPr id="8" name="Shape 6"/>
          <p:cNvSpPr/>
          <p:nvPr/>
        </p:nvSpPr>
        <p:spPr>
          <a:xfrm>
            <a:off x="6932981" y="1302106"/>
            <a:ext cx="340157" cy="1077163"/>
          </a:xfrm>
          <a:prstGeom prst="line">
            <a:avLst/>
          </a:prstGeom>
          <a:noFill/>
          <a:ln w="12700">
            <a:solidFill>
              <a:srgbClr val="2EC4B6">
                <a:alpha val="22500"/>
              </a:srgbClr>
            </a:solidFill>
            <a:prstDash val="solid"/>
          </a:ln>
        </p:spPr>
        <p:txBody>
          <a:bodyPr/>
          <a:lstStyle/>
          <a:p>
            <a:endParaRPr lang="el-GR"/>
          </a:p>
        </p:txBody>
      </p:sp>
      <p:sp>
        <p:nvSpPr>
          <p:cNvPr id="9" name="Shape 7"/>
          <p:cNvSpPr/>
          <p:nvPr/>
        </p:nvSpPr>
        <p:spPr>
          <a:xfrm>
            <a:off x="7443216" y="1698955"/>
            <a:ext cx="453542" cy="510235"/>
          </a:xfrm>
          <a:prstGeom prst="line">
            <a:avLst/>
          </a:prstGeom>
          <a:noFill/>
          <a:ln w="12700">
            <a:solidFill>
              <a:srgbClr val="2EC4B6">
                <a:alpha val="22500"/>
              </a:srgbClr>
            </a:solidFill>
            <a:prstDash val="solid"/>
          </a:ln>
        </p:spPr>
        <p:txBody>
          <a:bodyPr/>
          <a:lstStyle/>
          <a:p>
            <a:endParaRPr lang="el-GR"/>
          </a:p>
        </p:txBody>
      </p:sp>
      <p:sp>
        <p:nvSpPr>
          <p:cNvPr id="10" name="Shape 8"/>
          <p:cNvSpPr/>
          <p:nvPr/>
        </p:nvSpPr>
        <p:spPr>
          <a:xfrm flipV="1">
            <a:off x="7273138" y="2209190"/>
            <a:ext cx="623621" cy="170078"/>
          </a:xfrm>
          <a:prstGeom prst="line">
            <a:avLst/>
          </a:prstGeom>
          <a:noFill/>
          <a:ln w="12700">
            <a:solidFill>
              <a:srgbClr val="2EC4B6">
                <a:alpha val="22500"/>
              </a:srgbClr>
            </a:solidFill>
            <a:prstDash val="solid"/>
          </a:ln>
        </p:spPr>
        <p:txBody>
          <a:bodyPr/>
          <a:lstStyle/>
          <a:p>
            <a:endParaRPr lang="el-GR"/>
          </a:p>
        </p:txBody>
      </p:sp>
      <p:sp>
        <p:nvSpPr>
          <p:cNvPr id="11" name="Shape 9"/>
          <p:cNvSpPr/>
          <p:nvPr/>
        </p:nvSpPr>
        <p:spPr>
          <a:xfrm flipV="1">
            <a:off x="7896758" y="1925726"/>
            <a:ext cx="623621" cy="283464"/>
          </a:xfrm>
          <a:prstGeom prst="line">
            <a:avLst/>
          </a:prstGeom>
          <a:noFill/>
          <a:ln w="12700">
            <a:solidFill>
              <a:srgbClr val="2EC4B6">
                <a:alpha val="22500"/>
              </a:srgbClr>
            </a:solidFill>
            <a:prstDash val="solid"/>
          </a:ln>
        </p:spPr>
        <p:txBody>
          <a:bodyPr/>
          <a:lstStyle/>
          <a:p>
            <a:endParaRPr lang="el-GR"/>
          </a:p>
        </p:txBody>
      </p:sp>
      <p:sp>
        <p:nvSpPr>
          <p:cNvPr id="12" name="Shape 10"/>
          <p:cNvSpPr/>
          <p:nvPr/>
        </p:nvSpPr>
        <p:spPr>
          <a:xfrm>
            <a:off x="7896758" y="2209190"/>
            <a:ext cx="453542" cy="453542"/>
          </a:xfrm>
          <a:prstGeom prst="line">
            <a:avLst/>
          </a:prstGeom>
          <a:noFill/>
          <a:ln w="12700">
            <a:solidFill>
              <a:srgbClr val="2EC4B6">
                <a:alpha val="22500"/>
              </a:srgbClr>
            </a:solidFill>
            <a:prstDash val="solid"/>
          </a:ln>
        </p:spPr>
        <p:txBody>
          <a:bodyPr/>
          <a:lstStyle/>
          <a:p>
            <a:endParaRPr lang="el-GR"/>
          </a:p>
        </p:txBody>
      </p:sp>
      <p:sp>
        <p:nvSpPr>
          <p:cNvPr id="13" name="Shape 11"/>
          <p:cNvSpPr/>
          <p:nvPr/>
        </p:nvSpPr>
        <p:spPr>
          <a:xfrm flipV="1">
            <a:off x="8350301" y="1925726"/>
            <a:ext cx="170078" cy="737006"/>
          </a:xfrm>
          <a:prstGeom prst="line">
            <a:avLst/>
          </a:prstGeom>
          <a:noFill/>
          <a:ln w="12700">
            <a:solidFill>
              <a:srgbClr val="2EC4B6">
                <a:alpha val="22500"/>
              </a:srgbClr>
            </a:solidFill>
            <a:prstDash val="solid"/>
          </a:ln>
        </p:spPr>
        <p:txBody>
          <a:bodyPr/>
          <a:lstStyle/>
          <a:p>
            <a:endParaRPr lang="el-GR"/>
          </a:p>
        </p:txBody>
      </p:sp>
      <p:sp>
        <p:nvSpPr>
          <p:cNvPr id="14" name="Shape 12"/>
          <p:cNvSpPr/>
          <p:nvPr/>
        </p:nvSpPr>
        <p:spPr>
          <a:xfrm flipV="1">
            <a:off x="6536131" y="2095805"/>
            <a:ext cx="170078" cy="737006"/>
          </a:xfrm>
          <a:prstGeom prst="line">
            <a:avLst/>
          </a:prstGeom>
          <a:noFill/>
          <a:ln w="12700">
            <a:solidFill>
              <a:srgbClr val="2EC4B6">
                <a:alpha val="22500"/>
              </a:srgbClr>
            </a:solidFill>
            <a:prstDash val="solid"/>
          </a:ln>
        </p:spPr>
        <p:txBody>
          <a:bodyPr/>
          <a:lstStyle/>
          <a:p>
            <a:endParaRPr lang="el-GR"/>
          </a:p>
        </p:txBody>
      </p:sp>
      <p:sp>
        <p:nvSpPr>
          <p:cNvPr id="15" name="Shape 13"/>
          <p:cNvSpPr/>
          <p:nvPr/>
        </p:nvSpPr>
        <p:spPr>
          <a:xfrm>
            <a:off x="6536131" y="2832811"/>
            <a:ext cx="566928" cy="226771"/>
          </a:xfrm>
          <a:prstGeom prst="line">
            <a:avLst/>
          </a:prstGeom>
          <a:noFill/>
          <a:ln w="12700">
            <a:solidFill>
              <a:srgbClr val="2EC4B6">
                <a:alpha val="22500"/>
              </a:srgbClr>
            </a:solidFill>
            <a:prstDash val="solid"/>
          </a:ln>
        </p:spPr>
        <p:txBody>
          <a:bodyPr/>
          <a:lstStyle/>
          <a:p>
            <a:endParaRPr lang="el-GR"/>
          </a:p>
        </p:txBody>
      </p:sp>
      <p:sp>
        <p:nvSpPr>
          <p:cNvPr id="16" name="Shape 14"/>
          <p:cNvSpPr/>
          <p:nvPr/>
        </p:nvSpPr>
        <p:spPr>
          <a:xfrm flipV="1">
            <a:off x="7103059" y="2379269"/>
            <a:ext cx="170078" cy="680314"/>
          </a:xfrm>
          <a:prstGeom prst="line">
            <a:avLst/>
          </a:prstGeom>
          <a:noFill/>
          <a:ln w="12700">
            <a:solidFill>
              <a:srgbClr val="2EC4B6">
                <a:alpha val="22500"/>
              </a:srgbClr>
            </a:solidFill>
            <a:prstDash val="solid"/>
          </a:ln>
        </p:spPr>
        <p:txBody>
          <a:bodyPr/>
          <a:lstStyle/>
          <a:p>
            <a:endParaRPr lang="el-GR"/>
          </a:p>
        </p:txBody>
      </p:sp>
      <p:sp>
        <p:nvSpPr>
          <p:cNvPr id="17" name="Shape 15"/>
          <p:cNvSpPr/>
          <p:nvPr/>
        </p:nvSpPr>
        <p:spPr>
          <a:xfrm flipV="1">
            <a:off x="7103059" y="2889504"/>
            <a:ext cx="623621" cy="170078"/>
          </a:xfrm>
          <a:prstGeom prst="line">
            <a:avLst/>
          </a:prstGeom>
          <a:noFill/>
          <a:ln w="12700">
            <a:solidFill>
              <a:srgbClr val="2EC4B6">
                <a:alpha val="22500"/>
              </a:srgbClr>
            </a:solidFill>
            <a:prstDash val="solid"/>
          </a:ln>
        </p:spPr>
        <p:txBody>
          <a:bodyPr/>
          <a:lstStyle/>
          <a:p>
            <a:endParaRPr lang="el-GR"/>
          </a:p>
        </p:txBody>
      </p:sp>
      <p:sp>
        <p:nvSpPr>
          <p:cNvPr id="18" name="Shape 16"/>
          <p:cNvSpPr/>
          <p:nvPr/>
        </p:nvSpPr>
        <p:spPr>
          <a:xfrm flipV="1">
            <a:off x="7726680" y="2209190"/>
            <a:ext cx="170078" cy="680314"/>
          </a:xfrm>
          <a:prstGeom prst="line">
            <a:avLst/>
          </a:prstGeom>
          <a:noFill/>
          <a:ln w="12700">
            <a:solidFill>
              <a:srgbClr val="2EC4B6">
                <a:alpha val="22500"/>
              </a:srgbClr>
            </a:solidFill>
            <a:prstDash val="solid"/>
          </a:ln>
        </p:spPr>
        <p:txBody>
          <a:bodyPr/>
          <a:lstStyle/>
          <a:p>
            <a:endParaRPr lang="el-GR"/>
          </a:p>
        </p:txBody>
      </p:sp>
      <p:sp>
        <p:nvSpPr>
          <p:cNvPr id="19" name="Shape 17"/>
          <p:cNvSpPr/>
          <p:nvPr/>
        </p:nvSpPr>
        <p:spPr>
          <a:xfrm flipV="1">
            <a:off x="7726680" y="2662733"/>
            <a:ext cx="623621" cy="226771"/>
          </a:xfrm>
          <a:prstGeom prst="line">
            <a:avLst/>
          </a:prstGeom>
          <a:noFill/>
          <a:ln w="12700">
            <a:solidFill>
              <a:srgbClr val="2EC4B6">
                <a:alpha val="22500"/>
              </a:srgbClr>
            </a:solidFill>
            <a:prstDash val="solid"/>
          </a:ln>
        </p:spPr>
        <p:txBody>
          <a:bodyPr/>
          <a:lstStyle/>
          <a:p>
            <a:endParaRPr lang="el-GR"/>
          </a:p>
        </p:txBody>
      </p:sp>
      <p:sp>
        <p:nvSpPr>
          <p:cNvPr id="20" name="Shape 18"/>
          <p:cNvSpPr/>
          <p:nvPr/>
        </p:nvSpPr>
        <p:spPr>
          <a:xfrm>
            <a:off x="7726680" y="2889504"/>
            <a:ext cx="453542" cy="396850"/>
          </a:xfrm>
          <a:prstGeom prst="line">
            <a:avLst/>
          </a:prstGeom>
          <a:noFill/>
          <a:ln w="12700">
            <a:solidFill>
              <a:srgbClr val="2EC4B6">
                <a:alpha val="22500"/>
              </a:srgbClr>
            </a:solidFill>
            <a:prstDash val="solid"/>
          </a:ln>
        </p:spPr>
        <p:txBody>
          <a:bodyPr/>
          <a:lstStyle/>
          <a:p>
            <a:endParaRPr lang="el-GR"/>
          </a:p>
        </p:txBody>
      </p:sp>
      <p:sp>
        <p:nvSpPr>
          <p:cNvPr id="21" name="Shape 19"/>
          <p:cNvSpPr/>
          <p:nvPr/>
        </p:nvSpPr>
        <p:spPr>
          <a:xfrm flipV="1">
            <a:off x="8180222" y="2662733"/>
            <a:ext cx="170078" cy="623621"/>
          </a:xfrm>
          <a:prstGeom prst="line">
            <a:avLst/>
          </a:prstGeom>
          <a:noFill/>
          <a:ln w="12700">
            <a:solidFill>
              <a:srgbClr val="2EC4B6">
                <a:alpha val="22500"/>
              </a:srgbClr>
            </a:solidFill>
            <a:prstDash val="solid"/>
          </a:ln>
        </p:spPr>
        <p:txBody>
          <a:bodyPr/>
          <a:lstStyle/>
          <a:p>
            <a:endParaRPr lang="el-GR"/>
          </a:p>
        </p:txBody>
      </p:sp>
      <p:sp>
        <p:nvSpPr>
          <p:cNvPr id="22" name="Shape 20"/>
          <p:cNvSpPr/>
          <p:nvPr/>
        </p:nvSpPr>
        <p:spPr>
          <a:xfrm>
            <a:off x="7103059" y="3059582"/>
            <a:ext cx="340157" cy="396850"/>
          </a:xfrm>
          <a:prstGeom prst="line">
            <a:avLst/>
          </a:prstGeom>
          <a:noFill/>
          <a:ln w="12700">
            <a:solidFill>
              <a:srgbClr val="2EC4B6">
                <a:alpha val="22500"/>
              </a:srgbClr>
            </a:solidFill>
            <a:prstDash val="solid"/>
          </a:ln>
        </p:spPr>
        <p:txBody>
          <a:bodyPr/>
          <a:lstStyle/>
          <a:p>
            <a:endParaRPr lang="el-GR"/>
          </a:p>
        </p:txBody>
      </p:sp>
      <p:sp>
        <p:nvSpPr>
          <p:cNvPr id="23" name="Shape 21"/>
          <p:cNvSpPr/>
          <p:nvPr/>
        </p:nvSpPr>
        <p:spPr>
          <a:xfrm flipV="1">
            <a:off x="7443216" y="3286354"/>
            <a:ext cx="737006" cy="170078"/>
          </a:xfrm>
          <a:prstGeom prst="line">
            <a:avLst/>
          </a:prstGeom>
          <a:noFill/>
          <a:ln w="12700">
            <a:solidFill>
              <a:srgbClr val="2EC4B6">
                <a:alpha val="22500"/>
              </a:srgbClr>
            </a:solidFill>
            <a:prstDash val="solid"/>
          </a:ln>
        </p:spPr>
        <p:txBody>
          <a:bodyPr/>
          <a:lstStyle/>
          <a:p>
            <a:endParaRPr lang="el-GR"/>
          </a:p>
        </p:txBody>
      </p:sp>
      <p:sp>
        <p:nvSpPr>
          <p:cNvPr id="24" name="Shape 22"/>
          <p:cNvSpPr/>
          <p:nvPr/>
        </p:nvSpPr>
        <p:spPr>
          <a:xfrm flipV="1">
            <a:off x="8180222" y="3116275"/>
            <a:ext cx="396850" cy="170078"/>
          </a:xfrm>
          <a:prstGeom prst="line">
            <a:avLst/>
          </a:prstGeom>
          <a:noFill/>
          <a:ln w="12700">
            <a:solidFill>
              <a:srgbClr val="2EC4B6">
                <a:alpha val="22500"/>
              </a:srgbClr>
            </a:solidFill>
            <a:prstDash val="solid"/>
          </a:ln>
        </p:spPr>
        <p:txBody>
          <a:bodyPr/>
          <a:lstStyle/>
          <a:p>
            <a:endParaRPr lang="el-GR"/>
          </a:p>
        </p:txBody>
      </p:sp>
      <p:sp>
        <p:nvSpPr>
          <p:cNvPr id="25" name="Shape 23"/>
          <p:cNvSpPr/>
          <p:nvPr/>
        </p:nvSpPr>
        <p:spPr>
          <a:xfrm>
            <a:off x="8350301" y="2662733"/>
            <a:ext cx="226771" cy="453542"/>
          </a:xfrm>
          <a:prstGeom prst="line">
            <a:avLst/>
          </a:prstGeom>
          <a:noFill/>
          <a:ln w="12700">
            <a:solidFill>
              <a:srgbClr val="2EC4B6">
                <a:alpha val="22500"/>
              </a:srgbClr>
            </a:solidFill>
            <a:prstDash val="solid"/>
          </a:ln>
        </p:spPr>
        <p:txBody>
          <a:bodyPr/>
          <a:lstStyle/>
          <a:p>
            <a:endParaRPr lang="el-GR"/>
          </a:p>
        </p:txBody>
      </p:sp>
      <p:sp>
        <p:nvSpPr>
          <p:cNvPr id="26" name="Shape 24"/>
          <p:cNvSpPr/>
          <p:nvPr/>
        </p:nvSpPr>
        <p:spPr>
          <a:xfrm flipV="1">
            <a:off x="7273138" y="1698955"/>
            <a:ext cx="170078" cy="680314"/>
          </a:xfrm>
          <a:prstGeom prst="line">
            <a:avLst/>
          </a:prstGeom>
          <a:noFill/>
          <a:ln w="12700">
            <a:solidFill>
              <a:srgbClr val="2EC4B6">
                <a:alpha val="22500"/>
              </a:srgbClr>
            </a:solidFill>
            <a:prstDash val="solid"/>
          </a:ln>
        </p:spPr>
        <p:txBody>
          <a:bodyPr/>
          <a:lstStyle/>
          <a:p>
            <a:endParaRPr lang="el-GR"/>
          </a:p>
        </p:txBody>
      </p:sp>
      <p:sp>
        <p:nvSpPr>
          <p:cNvPr id="27" name="Shape 25"/>
          <p:cNvSpPr/>
          <p:nvPr/>
        </p:nvSpPr>
        <p:spPr>
          <a:xfrm>
            <a:off x="6388730" y="1494861"/>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28" name="Shape 26"/>
          <p:cNvSpPr/>
          <p:nvPr/>
        </p:nvSpPr>
        <p:spPr>
          <a:xfrm>
            <a:off x="6898965" y="1268090"/>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29" name="Shape 27"/>
          <p:cNvSpPr/>
          <p:nvPr/>
        </p:nvSpPr>
        <p:spPr>
          <a:xfrm>
            <a:off x="7380854" y="1636593"/>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0" name="Shape 28"/>
          <p:cNvSpPr/>
          <p:nvPr/>
        </p:nvSpPr>
        <p:spPr>
          <a:xfrm>
            <a:off x="8032821" y="1381476"/>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1" name="Shape 29"/>
          <p:cNvSpPr/>
          <p:nvPr/>
        </p:nvSpPr>
        <p:spPr>
          <a:xfrm>
            <a:off x="8486364" y="1891711"/>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2" name="Shape 30"/>
          <p:cNvSpPr/>
          <p:nvPr/>
        </p:nvSpPr>
        <p:spPr>
          <a:xfrm>
            <a:off x="6672194" y="2061789"/>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3" name="Shape 31"/>
          <p:cNvSpPr/>
          <p:nvPr/>
        </p:nvSpPr>
        <p:spPr>
          <a:xfrm>
            <a:off x="7239122" y="2345253"/>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4" name="Shape 32"/>
          <p:cNvSpPr/>
          <p:nvPr/>
        </p:nvSpPr>
        <p:spPr>
          <a:xfrm>
            <a:off x="7834396" y="2146828"/>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5" name="Shape 33"/>
          <p:cNvSpPr/>
          <p:nvPr/>
        </p:nvSpPr>
        <p:spPr>
          <a:xfrm>
            <a:off x="8316285" y="2628717"/>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6" name="Shape 34"/>
          <p:cNvSpPr/>
          <p:nvPr/>
        </p:nvSpPr>
        <p:spPr>
          <a:xfrm>
            <a:off x="6502116" y="2798796"/>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37" name="Shape 35"/>
          <p:cNvSpPr/>
          <p:nvPr/>
        </p:nvSpPr>
        <p:spPr>
          <a:xfrm>
            <a:off x="7069044" y="3025567"/>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38" name="Shape 36"/>
          <p:cNvSpPr/>
          <p:nvPr/>
        </p:nvSpPr>
        <p:spPr>
          <a:xfrm>
            <a:off x="7664318" y="2827142"/>
            <a:ext cx="124724" cy="124724"/>
          </a:xfrm>
          <a:prstGeom prst="ellipse">
            <a:avLst/>
          </a:prstGeom>
          <a:solidFill>
            <a:srgbClr val="C0304A">
              <a:alpha val="55000"/>
            </a:srgbClr>
          </a:solidFill>
          <a:ln w="12700">
            <a:solidFill>
              <a:srgbClr val="C0304A"/>
            </a:solidFill>
            <a:prstDash val="solid"/>
          </a:ln>
        </p:spPr>
        <p:txBody>
          <a:bodyPr/>
          <a:lstStyle/>
          <a:p>
            <a:endParaRPr lang="el-GR"/>
          </a:p>
        </p:txBody>
      </p:sp>
      <p:sp>
        <p:nvSpPr>
          <p:cNvPr id="39" name="Shape 37"/>
          <p:cNvSpPr/>
          <p:nvPr/>
        </p:nvSpPr>
        <p:spPr>
          <a:xfrm>
            <a:off x="8146207" y="3252338"/>
            <a:ext cx="68031" cy="68031"/>
          </a:xfrm>
          <a:prstGeom prst="ellipse">
            <a:avLst/>
          </a:prstGeom>
          <a:solidFill>
            <a:srgbClr val="F2B134">
              <a:alpha val="55000"/>
            </a:srgbClr>
          </a:solidFill>
          <a:ln w="12700">
            <a:solidFill>
              <a:srgbClr val="F2B134"/>
            </a:solidFill>
            <a:prstDash val="solid"/>
          </a:ln>
        </p:spPr>
        <p:txBody>
          <a:bodyPr/>
          <a:lstStyle/>
          <a:p>
            <a:endParaRPr lang="el-GR"/>
          </a:p>
        </p:txBody>
      </p:sp>
      <p:sp>
        <p:nvSpPr>
          <p:cNvPr id="40" name="Shape 38"/>
          <p:cNvSpPr/>
          <p:nvPr/>
        </p:nvSpPr>
        <p:spPr>
          <a:xfrm>
            <a:off x="7409200" y="3422416"/>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41" name="Shape 39"/>
          <p:cNvSpPr/>
          <p:nvPr/>
        </p:nvSpPr>
        <p:spPr>
          <a:xfrm>
            <a:off x="8543056" y="3082260"/>
            <a:ext cx="68031" cy="68031"/>
          </a:xfrm>
          <a:prstGeom prst="ellipse">
            <a:avLst/>
          </a:prstGeom>
          <a:solidFill>
            <a:srgbClr val="2EC4B6">
              <a:alpha val="55000"/>
            </a:srgbClr>
          </a:solidFill>
          <a:ln w="12700">
            <a:solidFill>
              <a:srgbClr val="2EC4B6"/>
            </a:solidFill>
            <a:prstDash val="solid"/>
          </a:ln>
        </p:spPr>
        <p:txBody>
          <a:bodyPr/>
          <a:lstStyle/>
          <a:p>
            <a:endParaRPr lang="el-GR"/>
          </a:p>
        </p:txBody>
      </p:sp>
      <p:sp>
        <p:nvSpPr>
          <p:cNvPr id="42" name="Text 40"/>
          <p:cNvSpPr txBox="1"/>
          <p:nvPr/>
        </p:nvSpPr>
        <p:spPr>
          <a:xfrm>
            <a:off x="548640" y="1280160"/>
            <a:ext cx="2286000" cy="1005840"/>
          </a:xfrm>
          <a:prstGeom prst="rect">
            <a:avLst/>
          </a:prstGeom>
          <a:noFill/>
          <a:ln/>
        </p:spPr>
        <p:txBody>
          <a:bodyPr wrap="square" lIns="0" tIns="0" rIns="0" bIns="0" rtlCol="0" anchor="ctr"/>
          <a:lstStyle/>
          <a:p>
            <a:pPr marL="0" indent="0">
              <a:buNone/>
            </a:pPr>
            <a:r>
              <a:rPr lang="en-US" sz="6600" b="1" dirty="0">
                <a:solidFill>
                  <a:srgbClr val="2EC4B6"/>
                </a:solidFill>
                <a:latin typeface="Arial" pitchFamily="34" charset="0"/>
                <a:ea typeface="Arial" pitchFamily="34" charset="-122"/>
                <a:cs typeface="Arial" pitchFamily="34" charset="-120"/>
              </a:rPr>
              <a:t>05</a:t>
            </a:r>
            <a:endParaRPr lang="en-US" sz="6600" dirty="0"/>
          </a:p>
        </p:txBody>
      </p:sp>
      <p:sp>
        <p:nvSpPr>
          <p:cNvPr id="43" name="Text 41"/>
          <p:cNvSpPr txBox="1"/>
          <p:nvPr/>
        </p:nvSpPr>
        <p:spPr>
          <a:xfrm>
            <a:off x="548640" y="2240280"/>
            <a:ext cx="5669280" cy="960120"/>
          </a:xfrm>
          <a:prstGeom prst="rect">
            <a:avLst/>
          </a:prstGeom>
          <a:noFill/>
          <a:ln/>
        </p:spPr>
        <p:txBody>
          <a:bodyPr wrap="square" lIns="0" tIns="0" rIns="0" bIns="0" rtlCol="0" anchor="b"/>
          <a:lstStyle/>
          <a:p>
            <a:pPr marL="0" indent="0">
              <a:buNone/>
            </a:pPr>
            <a:r>
              <a:rPr lang="en-US" sz="2800" b="1" dirty="0">
                <a:solidFill>
                  <a:srgbClr val="FFFFFF"/>
                </a:solidFill>
                <a:latin typeface="Arial" pitchFamily="34" charset="0"/>
                <a:ea typeface="Arial" pitchFamily="34" charset="-122"/>
                <a:cs typeface="Arial" pitchFamily="34" charset="-120"/>
              </a:rPr>
              <a:t>Εργαστήριο</a:t>
            </a:r>
            <a:endParaRPr lang="en-US" sz="2800" dirty="0"/>
          </a:p>
        </p:txBody>
      </p:sp>
      <p:sp>
        <p:nvSpPr>
          <p:cNvPr id="44" name="Text 42"/>
          <p:cNvSpPr txBox="1"/>
          <p:nvPr/>
        </p:nvSpPr>
        <p:spPr>
          <a:xfrm>
            <a:off x="548640" y="3291840"/>
            <a:ext cx="5486400" cy="548640"/>
          </a:xfrm>
          <a:prstGeom prst="rect">
            <a:avLst/>
          </a:prstGeom>
          <a:noFill/>
          <a:ln/>
        </p:spPr>
        <p:txBody>
          <a:bodyPr wrap="square" lIns="0" tIns="0" rIns="0" bIns="0" rtlCol="0" anchor="t"/>
          <a:lstStyle/>
          <a:p>
            <a:pPr marL="0" indent="0">
              <a:buNone/>
            </a:pPr>
            <a:r>
              <a:rPr lang="en-US" sz="1500" dirty="0">
                <a:solidFill>
                  <a:srgbClr val="A9B8CC"/>
                </a:solidFill>
                <a:latin typeface="Calibri" pitchFamily="34" charset="0"/>
                <a:ea typeface="Calibri" pitchFamily="34" charset="-122"/>
                <a:cs typeface="Calibri" pitchFamily="34" charset="-120"/>
              </a:rPr>
              <a:t>Στήνουμε τη βάση StockMarketDB και «δοκιμάζουμε» τους κανόνες της</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Ξεκινάμε: η βάση σε 4 βήματα</a:t>
            </a:r>
            <a:endParaRPr lang="en-US" sz="2600" dirty="0"/>
          </a:p>
        </p:txBody>
      </p:sp>
      <p:sp>
        <p:nvSpPr>
          <p:cNvPr id="3" name="Text 1"/>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25</a:t>
            </a:r>
            <a:endParaRPr lang="en-US" sz="900" dirty="0"/>
          </a:p>
        </p:txBody>
      </p:sp>
      <p:sp>
        <p:nvSpPr>
          <p:cNvPr id="5" name="Shape 3"/>
          <p:cNvSpPr/>
          <p:nvPr/>
        </p:nvSpPr>
        <p:spPr>
          <a:xfrm>
            <a:off x="457200" y="1188720"/>
            <a:ext cx="1920240" cy="2331720"/>
          </a:xfrm>
          <a:prstGeom prst="roundRect">
            <a:avLst>
              <a:gd name="adj" fmla="val 3810"/>
            </a:avLst>
          </a:prstGeom>
          <a:solidFill>
            <a:srgbClr val="EEF3F8"/>
          </a:solidFill>
          <a:ln w="12700">
            <a:solidFill>
              <a:srgbClr val="EEF3F8"/>
            </a:solidFill>
            <a:prstDash val="solid"/>
          </a:ln>
        </p:spPr>
        <p:txBody>
          <a:bodyPr/>
          <a:lstStyle/>
          <a:p>
            <a:endParaRPr lang="el-GR"/>
          </a:p>
        </p:txBody>
      </p:sp>
      <p:sp>
        <p:nvSpPr>
          <p:cNvPr id="6" name="Text 4"/>
          <p:cNvSpPr txBox="1"/>
          <p:nvPr/>
        </p:nvSpPr>
        <p:spPr>
          <a:xfrm>
            <a:off x="640080" y="1298448"/>
            <a:ext cx="731520" cy="640080"/>
          </a:xfrm>
          <a:prstGeom prst="rect">
            <a:avLst/>
          </a:prstGeom>
          <a:noFill/>
          <a:ln/>
        </p:spPr>
        <p:txBody>
          <a:bodyPr wrap="square" lIns="0" tIns="0" rIns="0" bIns="0" rtlCol="0" anchor="t"/>
          <a:lstStyle/>
          <a:p>
            <a:pPr marL="0" indent="0">
              <a:buNone/>
            </a:pPr>
            <a:r>
              <a:rPr lang="en-US" sz="3600" b="1" dirty="0">
                <a:solidFill>
                  <a:srgbClr val="1A9E92"/>
                </a:solidFill>
                <a:latin typeface="Arial" pitchFamily="34" charset="0"/>
                <a:ea typeface="Arial" pitchFamily="34" charset="-122"/>
                <a:cs typeface="Arial" pitchFamily="34" charset="-120"/>
              </a:rPr>
              <a:t>1</a:t>
            </a:r>
            <a:endParaRPr lang="en-US" sz="3600" dirty="0"/>
          </a:p>
        </p:txBody>
      </p:sp>
      <p:sp>
        <p:nvSpPr>
          <p:cNvPr id="7" name="Text 5"/>
          <p:cNvSpPr txBox="1"/>
          <p:nvPr/>
        </p:nvSpPr>
        <p:spPr>
          <a:xfrm>
            <a:off x="640080" y="1938528"/>
            <a:ext cx="1645920" cy="320040"/>
          </a:xfrm>
          <a:prstGeom prst="rect">
            <a:avLst/>
          </a:prstGeom>
          <a:noFill/>
          <a:ln/>
        </p:spPr>
        <p:txBody>
          <a:bodyPr wrap="square" lIns="0" tIns="0" rIns="0" bIns="0" rtlCol="0" anchor="t"/>
          <a:lstStyle/>
          <a:p>
            <a:pPr marL="0" indent="0">
              <a:buNone/>
            </a:pPr>
            <a:r>
              <a:rPr lang="en-US" sz="1500" b="1" dirty="0">
                <a:solidFill>
                  <a:srgbClr val="12233A"/>
                </a:solidFill>
                <a:latin typeface="Calibri" pitchFamily="34" charset="0"/>
                <a:ea typeface="Calibri" pitchFamily="34" charset="-122"/>
                <a:cs typeface="Calibri" pitchFamily="34" charset="-120"/>
              </a:rPr>
              <a:t>Σύνδεση</a:t>
            </a:r>
            <a:endParaRPr lang="en-US" sz="1500" dirty="0"/>
          </a:p>
        </p:txBody>
      </p:sp>
      <p:sp>
        <p:nvSpPr>
          <p:cNvPr id="8" name="Text 6"/>
          <p:cNvSpPr txBox="1"/>
          <p:nvPr/>
        </p:nvSpPr>
        <p:spPr>
          <a:xfrm>
            <a:off x="640080" y="2286000"/>
            <a:ext cx="1600200" cy="118872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Ανοίξτε το SSMS → Connect. Server: localhost ή .\SQLEXPRESS · Windows Authentication</a:t>
            </a:r>
            <a:endParaRPr lang="en-US" sz="1150" dirty="0"/>
          </a:p>
        </p:txBody>
      </p:sp>
      <p:sp>
        <p:nvSpPr>
          <p:cNvPr id="9" name="Shape 7"/>
          <p:cNvSpPr/>
          <p:nvPr/>
        </p:nvSpPr>
        <p:spPr>
          <a:xfrm>
            <a:off x="2560320" y="1188720"/>
            <a:ext cx="1920240" cy="2331720"/>
          </a:xfrm>
          <a:prstGeom prst="roundRect">
            <a:avLst>
              <a:gd name="adj" fmla="val 3810"/>
            </a:avLst>
          </a:prstGeom>
          <a:solidFill>
            <a:srgbClr val="EEF3F8"/>
          </a:solidFill>
          <a:ln w="12700">
            <a:solidFill>
              <a:srgbClr val="EEF3F8"/>
            </a:solidFill>
            <a:prstDash val="solid"/>
          </a:ln>
        </p:spPr>
        <p:txBody>
          <a:bodyPr/>
          <a:lstStyle/>
          <a:p>
            <a:endParaRPr lang="el-GR"/>
          </a:p>
        </p:txBody>
      </p:sp>
      <p:sp>
        <p:nvSpPr>
          <p:cNvPr id="10" name="Text 8"/>
          <p:cNvSpPr txBox="1"/>
          <p:nvPr/>
        </p:nvSpPr>
        <p:spPr>
          <a:xfrm>
            <a:off x="2743200" y="1298448"/>
            <a:ext cx="731520" cy="640080"/>
          </a:xfrm>
          <a:prstGeom prst="rect">
            <a:avLst/>
          </a:prstGeom>
          <a:noFill/>
          <a:ln/>
        </p:spPr>
        <p:txBody>
          <a:bodyPr wrap="square" lIns="0" tIns="0" rIns="0" bIns="0" rtlCol="0" anchor="t"/>
          <a:lstStyle/>
          <a:p>
            <a:pPr marL="0" indent="0">
              <a:buNone/>
            </a:pPr>
            <a:r>
              <a:rPr lang="en-US" sz="3600" b="1" dirty="0">
                <a:solidFill>
                  <a:srgbClr val="1A9E92"/>
                </a:solidFill>
                <a:latin typeface="Arial" pitchFamily="34" charset="0"/>
                <a:ea typeface="Arial" pitchFamily="34" charset="-122"/>
                <a:cs typeface="Arial" pitchFamily="34" charset="-120"/>
              </a:rPr>
              <a:t>2</a:t>
            </a:r>
            <a:endParaRPr lang="en-US" sz="3600" dirty="0"/>
          </a:p>
        </p:txBody>
      </p:sp>
      <p:sp>
        <p:nvSpPr>
          <p:cNvPr id="11" name="Text 9"/>
          <p:cNvSpPr txBox="1"/>
          <p:nvPr/>
        </p:nvSpPr>
        <p:spPr>
          <a:xfrm>
            <a:off x="2743200" y="1938528"/>
            <a:ext cx="1645920" cy="320040"/>
          </a:xfrm>
          <a:prstGeom prst="rect">
            <a:avLst/>
          </a:prstGeom>
          <a:noFill/>
          <a:ln/>
        </p:spPr>
        <p:txBody>
          <a:bodyPr wrap="square" lIns="0" tIns="0" rIns="0" bIns="0" rtlCol="0" anchor="t"/>
          <a:lstStyle/>
          <a:p>
            <a:pPr marL="0" indent="0">
              <a:buNone/>
            </a:pPr>
            <a:r>
              <a:rPr lang="en-US" sz="1500" b="1" dirty="0">
                <a:solidFill>
                  <a:srgbClr val="12233A"/>
                </a:solidFill>
                <a:latin typeface="Calibri" pitchFamily="34" charset="0"/>
                <a:ea typeface="Calibri" pitchFamily="34" charset="-122"/>
                <a:cs typeface="Calibri" pitchFamily="34" charset="-120"/>
              </a:rPr>
              <a:t>Script</a:t>
            </a:r>
            <a:endParaRPr lang="en-US" sz="1500" dirty="0"/>
          </a:p>
        </p:txBody>
      </p:sp>
      <p:sp>
        <p:nvSpPr>
          <p:cNvPr id="12" name="Text 10"/>
          <p:cNvSpPr txBox="1"/>
          <p:nvPr/>
        </p:nvSpPr>
        <p:spPr>
          <a:xfrm>
            <a:off x="2743200" y="2286000"/>
            <a:ext cx="1600200" cy="118872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File → Open → StockMarketDB.sql (από το eclass)</a:t>
            </a:r>
            <a:endParaRPr lang="en-US" sz="1150" dirty="0"/>
          </a:p>
        </p:txBody>
      </p:sp>
      <p:sp>
        <p:nvSpPr>
          <p:cNvPr id="13" name="Shape 11"/>
          <p:cNvSpPr/>
          <p:nvPr/>
        </p:nvSpPr>
        <p:spPr>
          <a:xfrm>
            <a:off x="4663440" y="1188720"/>
            <a:ext cx="1920240" cy="2331720"/>
          </a:xfrm>
          <a:prstGeom prst="roundRect">
            <a:avLst>
              <a:gd name="adj" fmla="val 3810"/>
            </a:avLst>
          </a:prstGeom>
          <a:solidFill>
            <a:srgbClr val="EEF3F8"/>
          </a:solidFill>
          <a:ln w="12700">
            <a:solidFill>
              <a:srgbClr val="EEF3F8"/>
            </a:solidFill>
            <a:prstDash val="solid"/>
          </a:ln>
        </p:spPr>
        <p:txBody>
          <a:bodyPr/>
          <a:lstStyle/>
          <a:p>
            <a:endParaRPr lang="el-GR"/>
          </a:p>
        </p:txBody>
      </p:sp>
      <p:sp>
        <p:nvSpPr>
          <p:cNvPr id="14" name="Text 12"/>
          <p:cNvSpPr txBox="1"/>
          <p:nvPr/>
        </p:nvSpPr>
        <p:spPr>
          <a:xfrm>
            <a:off x="4846320" y="1298448"/>
            <a:ext cx="731520" cy="640080"/>
          </a:xfrm>
          <a:prstGeom prst="rect">
            <a:avLst/>
          </a:prstGeom>
          <a:noFill/>
          <a:ln/>
        </p:spPr>
        <p:txBody>
          <a:bodyPr wrap="square" lIns="0" tIns="0" rIns="0" bIns="0" rtlCol="0" anchor="t"/>
          <a:lstStyle/>
          <a:p>
            <a:pPr marL="0" indent="0">
              <a:buNone/>
            </a:pPr>
            <a:r>
              <a:rPr lang="en-US" sz="3600" b="1" dirty="0">
                <a:solidFill>
                  <a:srgbClr val="C0304A"/>
                </a:solidFill>
                <a:latin typeface="Arial" pitchFamily="34" charset="0"/>
                <a:ea typeface="Arial" pitchFamily="34" charset="-122"/>
                <a:cs typeface="Arial" pitchFamily="34" charset="-120"/>
              </a:rPr>
              <a:t>3</a:t>
            </a:r>
            <a:endParaRPr lang="en-US" sz="3600" dirty="0"/>
          </a:p>
        </p:txBody>
      </p:sp>
      <p:sp>
        <p:nvSpPr>
          <p:cNvPr id="15" name="Text 13"/>
          <p:cNvSpPr txBox="1"/>
          <p:nvPr/>
        </p:nvSpPr>
        <p:spPr>
          <a:xfrm>
            <a:off x="4846320" y="1938528"/>
            <a:ext cx="1645920" cy="320040"/>
          </a:xfrm>
          <a:prstGeom prst="rect">
            <a:avLst/>
          </a:prstGeom>
          <a:noFill/>
          <a:ln/>
        </p:spPr>
        <p:txBody>
          <a:bodyPr wrap="square" lIns="0" tIns="0" rIns="0" bIns="0" rtlCol="0" anchor="t"/>
          <a:lstStyle/>
          <a:p>
            <a:pPr marL="0" indent="0">
              <a:buNone/>
            </a:pPr>
            <a:r>
              <a:rPr lang="en-US" sz="1500" b="1" dirty="0">
                <a:solidFill>
                  <a:srgbClr val="12233A"/>
                </a:solidFill>
                <a:latin typeface="Calibri" pitchFamily="34" charset="0"/>
                <a:ea typeface="Calibri" pitchFamily="34" charset="-122"/>
                <a:cs typeface="Calibri" pitchFamily="34" charset="-120"/>
              </a:rPr>
              <a:t>Εκτέλεση</a:t>
            </a:r>
            <a:endParaRPr lang="en-US" sz="1500" dirty="0"/>
          </a:p>
        </p:txBody>
      </p:sp>
      <p:sp>
        <p:nvSpPr>
          <p:cNvPr id="16" name="Text 14"/>
          <p:cNvSpPr txBox="1"/>
          <p:nvPr/>
        </p:nvSpPr>
        <p:spPr>
          <a:xfrm>
            <a:off x="4846320" y="2286000"/>
            <a:ext cx="1600200" cy="118872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Execute (F5). Στο τέλος εμφανίζεται το πλήθος γραμμών κάθε πίνακα</a:t>
            </a:r>
            <a:endParaRPr lang="en-US" sz="1150" dirty="0"/>
          </a:p>
        </p:txBody>
      </p:sp>
      <p:sp>
        <p:nvSpPr>
          <p:cNvPr id="17" name="Shape 15"/>
          <p:cNvSpPr/>
          <p:nvPr/>
        </p:nvSpPr>
        <p:spPr>
          <a:xfrm>
            <a:off x="6766560" y="1188720"/>
            <a:ext cx="1920240" cy="2331720"/>
          </a:xfrm>
          <a:prstGeom prst="roundRect">
            <a:avLst>
              <a:gd name="adj" fmla="val 3810"/>
            </a:avLst>
          </a:prstGeom>
          <a:solidFill>
            <a:srgbClr val="EEF3F8"/>
          </a:solidFill>
          <a:ln w="12700">
            <a:solidFill>
              <a:srgbClr val="EEF3F8"/>
            </a:solidFill>
            <a:prstDash val="solid"/>
          </a:ln>
        </p:spPr>
        <p:txBody>
          <a:bodyPr/>
          <a:lstStyle/>
          <a:p>
            <a:endParaRPr lang="el-GR"/>
          </a:p>
        </p:txBody>
      </p:sp>
      <p:sp>
        <p:nvSpPr>
          <p:cNvPr id="18" name="Text 16"/>
          <p:cNvSpPr txBox="1"/>
          <p:nvPr/>
        </p:nvSpPr>
        <p:spPr>
          <a:xfrm>
            <a:off x="6949440" y="1298448"/>
            <a:ext cx="731520" cy="640080"/>
          </a:xfrm>
          <a:prstGeom prst="rect">
            <a:avLst/>
          </a:prstGeom>
          <a:noFill/>
          <a:ln/>
        </p:spPr>
        <p:txBody>
          <a:bodyPr wrap="square" lIns="0" tIns="0" rIns="0" bIns="0" rtlCol="0" anchor="t"/>
          <a:lstStyle/>
          <a:p>
            <a:pPr marL="0" indent="0">
              <a:buNone/>
            </a:pPr>
            <a:r>
              <a:rPr lang="en-US" sz="3600" b="1" dirty="0">
                <a:solidFill>
                  <a:srgbClr val="1A9E92"/>
                </a:solidFill>
                <a:latin typeface="Arial" pitchFamily="34" charset="0"/>
                <a:ea typeface="Arial" pitchFamily="34" charset="-122"/>
                <a:cs typeface="Arial" pitchFamily="34" charset="-120"/>
              </a:rPr>
              <a:t>4</a:t>
            </a:r>
            <a:endParaRPr lang="en-US" sz="3600" dirty="0"/>
          </a:p>
        </p:txBody>
      </p:sp>
      <p:sp>
        <p:nvSpPr>
          <p:cNvPr id="19" name="Text 17"/>
          <p:cNvSpPr txBox="1"/>
          <p:nvPr/>
        </p:nvSpPr>
        <p:spPr>
          <a:xfrm>
            <a:off x="6949440" y="1938528"/>
            <a:ext cx="1645920" cy="320040"/>
          </a:xfrm>
          <a:prstGeom prst="rect">
            <a:avLst/>
          </a:prstGeom>
          <a:noFill/>
          <a:ln/>
        </p:spPr>
        <p:txBody>
          <a:bodyPr wrap="square" lIns="0" tIns="0" rIns="0" bIns="0" rtlCol="0" anchor="t"/>
          <a:lstStyle/>
          <a:p>
            <a:pPr marL="0" indent="0">
              <a:buNone/>
            </a:pPr>
            <a:r>
              <a:rPr lang="en-US" sz="1500" b="1" dirty="0">
                <a:solidFill>
                  <a:srgbClr val="12233A"/>
                </a:solidFill>
                <a:latin typeface="Calibri" pitchFamily="34" charset="0"/>
                <a:ea typeface="Calibri" pitchFamily="34" charset="-122"/>
                <a:cs typeface="Calibri" pitchFamily="34" charset="-120"/>
              </a:rPr>
              <a:t>Εξερεύνηση</a:t>
            </a:r>
            <a:endParaRPr lang="en-US" sz="1500" dirty="0"/>
          </a:p>
        </p:txBody>
      </p:sp>
      <p:sp>
        <p:nvSpPr>
          <p:cNvPr id="20" name="Text 18"/>
          <p:cNvSpPr txBox="1"/>
          <p:nvPr/>
        </p:nvSpPr>
        <p:spPr>
          <a:xfrm>
            <a:off x="6949440" y="2286000"/>
            <a:ext cx="1600200" cy="118872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Object Explorer → Refresh → Databases → StockMarketDB → Tables</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3749040"/>
          <a:ext cx="822960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Πίνακας</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Sectors</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Companies</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StockPrices</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MarketIndex</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Financials</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Dividends</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310896">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Γραμμές</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12.264</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511</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2" name="Text 19"/>
          <p:cNvSpPr txBox="1"/>
          <p:nvPr/>
        </p:nvSpPr>
        <p:spPr>
          <a:xfrm>
            <a:off x="457200" y="4407408"/>
            <a:ext cx="8229600" cy="228600"/>
          </a:xfrm>
          <a:prstGeom prst="rect">
            <a:avLst/>
          </a:prstGeom>
          <a:noFill/>
          <a:ln/>
        </p:spPr>
        <p:txBody>
          <a:bodyPr wrap="square" lIns="0" tIns="0" rIns="0" bIns="0" rtlCol="0" anchor="t"/>
          <a:lstStyle/>
          <a:p>
            <a:pPr marL="0" indent="0" algn="r">
              <a:buNone/>
            </a:pPr>
            <a:r>
              <a:rPr lang="en-US" sz="950" i="1" dirty="0">
                <a:solidFill>
                  <a:srgbClr val="5B6B7F"/>
                </a:solidFill>
                <a:latin typeface="Calibri" pitchFamily="34" charset="0"/>
                <a:ea typeface="Calibri" pitchFamily="34" charset="-122"/>
                <a:cs typeface="Calibri" pitchFamily="34" charset="-120"/>
              </a:rPr>
              <a:t>Αναμενόμενο αποτέλεσμα ελέγχου</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Άσκηση 1 · Εξερεύνηση της βάσης</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15 λεπτά · Object Explorer ή INFORMATION_SCHEMA</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26</a:t>
            </a:r>
            <a:endParaRPr lang="en-US" sz="900" dirty="0"/>
          </a:p>
        </p:txBody>
      </p:sp>
      <p:sp>
        <p:nvSpPr>
          <p:cNvPr id="6" name="Text 4"/>
          <p:cNvSpPr txBox="1"/>
          <p:nvPr/>
        </p:nvSpPr>
        <p:spPr>
          <a:xfrm>
            <a:off x="457200" y="1280160"/>
            <a:ext cx="4023360" cy="3200400"/>
          </a:xfrm>
          <a:prstGeom prst="rect">
            <a:avLst/>
          </a:prstGeom>
          <a:noFill/>
          <a:ln/>
        </p:spPr>
        <p:txBody>
          <a:bodyPr wrap="square" lIns="0" tIns="0" rIns="0" bIns="0" rtlCol="0" anchor="t"/>
          <a:lstStyle/>
          <a:p>
            <a:pPr marL="342900" indent="-342900">
              <a:spcAft>
                <a:spcPts val="1200"/>
              </a:spcAft>
              <a:buSzPct val="100000"/>
              <a:buChar char="•"/>
            </a:pPr>
            <a:r>
              <a:rPr lang="en-US" sz="1400" b="1" dirty="0">
                <a:solidFill>
                  <a:srgbClr val="12233A"/>
                </a:solidFill>
                <a:latin typeface="Calibri" pitchFamily="34" charset="0"/>
                <a:ea typeface="Calibri" pitchFamily="34" charset="-122"/>
                <a:cs typeface="Calibri" pitchFamily="34" charset="-120"/>
              </a:rPr>
              <a:t>α)</a:t>
            </a:r>
            <a:r>
              <a:rPr lang="en-US" sz="1400" dirty="0">
                <a:solidFill>
                  <a:srgbClr val="12233A"/>
                </a:solidFill>
                <a:latin typeface="Calibri" pitchFamily="34" charset="0"/>
                <a:ea typeface="Calibri" pitchFamily="34" charset="-122"/>
                <a:cs typeface="Calibri" pitchFamily="34" charset="-120"/>
              </a:rPr>
              <a:t> Πόσους πίνακες έχει η βάση;</a:t>
            </a:r>
            <a:endParaRPr lang="en-US" sz="1400" dirty="0"/>
          </a:p>
          <a:p>
            <a:pPr marL="342900" indent="-342900">
              <a:spcAft>
                <a:spcPts val="1200"/>
              </a:spcAft>
              <a:buSzPct val="100000"/>
              <a:buChar char="•"/>
            </a:pPr>
            <a:r>
              <a:rPr lang="en-US" sz="1400" b="1" dirty="0">
                <a:solidFill>
                  <a:srgbClr val="12233A"/>
                </a:solidFill>
                <a:latin typeface="Calibri" pitchFamily="34" charset="0"/>
                <a:ea typeface="Calibri" pitchFamily="34" charset="-122"/>
                <a:cs typeface="Calibri" pitchFamily="34" charset="-120"/>
              </a:rPr>
              <a:t>β)</a:t>
            </a:r>
            <a:r>
              <a:rPr lang="en-US" sz="1400" dirty="0">
                <a:solidFill>
                  <a:srgbClr val="12233A"/>
                </a:solidFill>
                <a:latin typeface="Calibri" pitchFamily="34" charset="0"/>
                <a:ea typeface="Calibri" pitchFamily="34" charset="-122"/>
                <a:cs typeface="Calibri" pitchFamily="34" charset="-120"/>
              </a:rPr>
              <a:t> Ποιο είναι το πρωτεύον κλειδί του StockPrices; Γιατί είναι σύνθετο;</a:t>
            </a:r>
            <a:endParaRPr lang="en-US" sz="1400" dirty="0"/>
          </a:p>
          <a:p>
            <a:pPr marL="342900" indent="-342900">
              <a:spcAft>
                <a:spcPts val="1200"/>
              </a:spcAft>
              <a:buSzPct val="100000"/>
              <a:buChar char="•"/>
            </a:pPr>
            <a:r>
              <a:rPr lang="en-US" sz="1400" b="1" dirty="0">
                <a:solidFill>
                  <a:srgbClr val="12233A"/>
                </a:solidFill>
                <a:latin typeface="Calibri" pitchFamily="34" charset="0"/>
                <a:ea typeface="Calibri" pitchFamily="34" charset="-122"/>
                <a:cs typeface="Calibri" pitchFamily="34" charset="-120"/>
              </a:rPr>
              <a:t>γ)</a:t>
            </a:r>
            <a:r>
              <a:rPr lang="en-US" sz="1400" dirty="0">
                <a:solidFill>
                  <a:srgbClr val="12233A"/>
                </a:solidFill>
                <a:latin typeface="Calibri" pitchFamily="34" charset="0"/>
                <a:ea typeface="Calibri" pitchFamily="34" charset="-122"/>
                <a:cs typeface="Calibri" pitchFamily="34" charset="-120"/>
              </a:rPr>
              <a:t> Ποιοι πίνακες έχουν ξένο κλειδί προς το Companies;</a:t>
            </a:r>
            <a:endParaRPr lang="en-US" sz="1400" dirty="0"/>
          </a:p>
          <a:p>
            <a:pPr marL="342900" indent="-342900">
              <a:spcAft>
                <a:spcPts val="1200"/>
              </a:spcAft>
              <a:buSzPct val="100000"/>
              <a:buChar char="•"/>
            </a:pPr>
            <a:r>
              <a:rPr lang="en-US" sz="1400" b="1" dirty="0">
                <a:solidFill>
                  <a:srgbClr val="12233A"/>
                </a:solidFill>
                <a:latin typeface="Calibri" pitchFamily="34" charset="0"/>
                <a:ea typeface="Calibri" pitchFamily="34" charset="-122"/>
                <a:cs typeface="Calibri" pitchFamily="34" charset="-120"/>
              </a:rPr>
              <a:t>δ)</a:t>
            </a:r>
            <a:r>
              <a:rPr lang="en-US" sz="1400" dirty="0">
                <a:solidFill>
                  <a:srgbClr val="12233A"/>
                </a:solidFill>
                <a:latin typeface="Calibri" pitchFamily="34" charset="0"/>
                <a:ea typeface="Calibri" pitchFamily="34" charset="-122"/>
                <a:cs typeface="Calibri" pitchFamily="34" charset="-120"/>
              </a:rPr>
              <a:t> Τι τύπο έχει η στήλη Volume και γιατί;</a:t>
            </a:r>
            <a:endParaRPr lang="en-US" sz="1400" dirty="0"/>
          </a:p>
          <a:p>
            <a:pPr marL="342900" indent="-342900">
              <a:spcAft>
                <a:spcPts val="1200"/>
              </a:spcAft>
              <a:buSzPct val="100000"/>
              <a:buChar char="•"/>
            </a:pPr>
            <a:r>
              <a:rPr lang="en-US" sz="1400" b="1" dirty="0">
                <a:solidFill>
                  <a:srgbClr val="12233A"/>
                </a:solidFill>
                <a:latin typeface="Calibri" pitchFamily="34" charset="0"/>
                <a:ea typeface="Calibri" pitchFamily="34" charset="-122"/>
                <a:cs typeface="Calibri" pitchFamily="34" charset="-120"/>
              </a:rPr>
              <a:t>ε)</a:t>
            </a:r>
            <a:r>
              <a:rPr lang="en-US" sz="1400" dirty="0">
                <a:solidFill>
                  <a:srgbClr val="12233A"/>
                </a:solidFill>
                <a:latin typeface="Calibri" pitchFamily="34" charset="0"/>
                <a:ea typeface="Calibri" pitchFamily="34" charset="-122"/>
                <a:cs typeface="Calibri" pitchFamily="34" charset="-120"/>
              </a:rPr>
              <a:t> Ποιες στήλες του Companies δέχονται NULL;</a:t>
            </a:r>
            <a:endParaRPr lang="en-US" sz="1400" dirty="0"/>
          </a:p>
        </p:txBody>
      </p:sp>
      <p:sp>
        <p:nvSpPr>
          <p:cNvPr id="7" name="Shape 5"/>
          <p:cNvSpPr/>
          <p:nvPr/>
        </p:nvSpPr>
        <p:spPr>
          <a:xfrm>
            <a:off x="4754880" y="1280160"/>
            <a:ext cx="3931920" cy="3246120"/>
          </a:xfrm>
          <a:prstGeom prst="roundRect">
            <a:avLst>
              <a:gd name="adj" fmla="val 2254"/>
            </a:avLst>
          </a:prstGeom>
          <a:solidFill>
            <a:srgbClr val="0F1E30"/>
          </a:solidFill>
          <a:ln w="12700">
            <a:solidFill>
              <a:srgbClr val="0F1E30"/>
            </a:solidFill>
            <a:prstDash val="solid"/>
          </a:ln>
        </p:spPr>
        <p:txBody>
          <a:bodyPr/>
          <a:lstStyle/>
          <a:p>
            <a:endParaRPr lang="el-GR"/>
          </a:p>
        </p:txBody>
      </p:sp>
      <p:sp>
        <p:nvSpPr>
          <p:cNvPr id="8" name="Text 6"/>
          <p:cNvSpPr txBox="1"/>
          <p:nvPr/>
        </p:nvSpPr>
        <p:spPr>
          <a:xfrm>
            <a:off x="4937760" y="1371600"/>
            <a:ext cx="3566160" cy="228600"/>
          </a:xfrm>
          <a:prstGeom prst="rect">
            <a:avLst/>
          </a:prstGeom>
          <a:noFill/>
          <a:ln/>
        </p:spPr>
        <p:txBody>
          <a:bodyPr wrap="square" lIns="0" tIns="0" rIns="0" bIns="0" rtlCol="0" anchor="ctr"/>
          <a:lstStyle/>
          <a:p>
            <a:pPr marL="0" indent="0">
              <a:buNone/>
            </a:pPr>
            <a:r>
              <a:rPr lang="en-US" sz="900" b="1" kern="0" spc="100" dirty="0">
                <a:solidFill>
                  <a:srgbClr val="2EC4B6"/>
                </a:solidFill>
                <a:latin typeface="Calibri" pitchFamily="34" charset="0"/>
                <a:ea typeface="Calibri" pitchFamily="34" charset="-122"/>
                <a:cs typeface="Calibri" pitchFamily="34" charset="-120"/>
              </a:rPr>
              <a:t>ΒΟΗΘΕΙΑ</a:t>
            </a:r>
            <a:endParaRPr lang="en-US" sz="900" dirty="0"/>
          </a:p>
        </p:txBody>
      </p:sp>
      <p:sp>
        <p:nvSpPr>
          <p:cNvPr id="9" name="Text 7"/>
          <p:cNvSpPr txBox="1"/>
          <p:nvPr/>
        </p:nvSpPr>
        <p:spPr>
          <a:xfrm>
            <a:off x="4937760" y="1645920"/>
            <a:ext cx="3611880" cy="2770632"/>
          </a:xfrm>
          <a:prstGeom prst="rect">
            <a:avLst/>
          </a:prstGeom>
          <a:noFill/>
          <a:ln/>
        </p:spPr>
        <p:txBody>
          <a:bodyPr wrap="square" lIns="0" tIns="0" rIns="0" bIns="0" rtlCol="0" anchor="t"/>
          <a:lstStyle/>
          <a:p>
            <a:pPr marL="0" indent="0">
              <a:lnSpc>
                <a:spcPct val="105000"/>
              </a:lnSpc>
              <a:buNone/>
            </a:pPr>
            <a:r>
              <a:rPr lang="en-US" sz="1000" dirty="0">
                <a:solidFill>
                  <a:srgbClr val="8393A8"/>
                </a:solidFill>
                <a:latin typeface="Courier New" pitchFamily="34" charset="0"/>
                <a:ea typeface="Courier New" pitchFamily="34" charset="-122"/>
                <a:cs typeface="Courier New" pitchFamily="34" charset="-120"/>
              </a:rPr>
              <a:t>-- Όλοι οι πίνακες</a:t>
            </a:r>
            <a:endParaRPr lang="en-US" sz="1000" dirty="0"/>
          </a:p>
          <a:p>
            <a:pPr marL="0" indent="0">
              <a:lnSpc>
                <a:spcPct val="105000"/>
              </a:lnSpc>
              <a:buNone/>
            </a:pPr>
            <a:r>
              <a:rPr lang="en-US" sz="1000" b="1" dirty="0">
                <a:solidFill>
                  <a:srgbClr val="4FD1C5"/>
                </a:solidFill>
                <a:latin typeface="Courier New" pitchFamily="34" charset="0"/>
                <a:ea typeface="Courier New" pitchFamily="34" charset="-122"/>
                <a:cs typeface="Courier New" pitchFamily="34" charset="-120"/>
              </a:rPr>
              <a:t>SELECT</a:t>
            </a:r>
            <a:r>
              <a:rPr lang="en-US" sz="1000" dirty="0">
                <a:solidFill>
                  <a:srgbClr val="E6EDF3"/>
                </a:solidFill>
                <a:latin typeface="Courier New" pitchFamily="34" charset="0"/>
                <a:ea typeface="Courier New" pitchFamily="34" charset="-122"/>
                <a:cs typeface="Courier New" pitchFamily="34" charset="-120"/>
              </a:rPr>
              <a:t> TABLE_NAME</a:t>
            </a:r>
            <a:endParaRPr lang="en-US" sz="1000" dirty="0"/>
          </a:p>
          <a:p>
            <a:pPr marL="0" indent="0">
              <a:lnSpc>
                <a:spcPct val="105000"/>
              </a:lnSpc>
              <a:buNone/>
            </a:pPr>
            <a:r>
              <a:rPr lang="en-US" sz="1000" b="1" dirty="0">
                <a:solidFill>
                  <a:srgbClr val="4FD1C5"/>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INFORMATION_SCHEMA.TABLES;</a:t>
            </a:r>
            <a:endParaRPr lang="en-US" sz="1000" dirty="0"/>
          </a:p>
          <a:p>
            <a:pPr marL="0" indent="0">
              <a:lnSpc>
                <a:spcPct val="105000"/>
              </a:lnSpc>
              <a:buNone/>
            </a:pPr>
            <a:r>
              <a:rPr lang="en-US" sz="1000" dirty="0">
                <a:solidFill>
                  <a:srgbClr val="00000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8393A8"/>
                </a:solidFill>
                <a:latin typeface="Courier New" pitchFamily="34" charset="0"/>
                <a:ea typeface="Courier New" pitchFamily="34" charset="-122"/>
                <a:cs typeface="Courier New" pitchFamily="34" charset="-120"/>
              </a:rPr>
              <a:t>-- Στήλες &amp; τύποι ενός πίνακα</a:t>
            </a:r>
            <a:endParaRPr lang="en-US" sz="1000" dirty="0"/>
          </a:p>
          <a:p>
            <a:pPr marL="0" indent="0">
              <a:lnSpc>
                <a:spcPct val="105000"/>
              </a:lnSpc>
              <a:buNone/>
            </a:pPr>
            <a:r>
              <a:rPr lang="en-US" sz="1000" b="1" dirty="0">
                <a:solidFill>
                  <a:srgbClr val="4FD1C5"/>
                </a:solidFill>
                <a:latin typeface="Courier New" pitchFamily="34" charset="0"/>
                <a:ea typeface="Courier New" pitchFamily="34" charset="-122"/>
                <a:cs typeface="Courier New" pitchFamily="34" charset="-120"/>
              </a:rPr>
              <a:t>SELECT</a:t>
            </a:r>
            <a:r>
              <a:rPr lang="en-US" sz="1000" dirty="0">
                <a:solidFill>
                  <a:srgbClr val="E6EDF3"/>
                </a:solidFill>
                <a:latin typeface="Courier New" pitchFamily="34" charset="0"/>
                <a:ea typeface="Courier New" pitchFamily="34" charset="-122"/>
                <a:cs typeface="Courier New" pitchFamily="34" charset="-120"/>
              </a:rPr>
              <a:t> COLUMN_NAME, DATA_TYPE,</a:t>
            </a:r>
            <a:endParaRPr lang="en-US" sz="1000" dirty="0"/>
          </a:p>
          <a:p>
            <a:pPr marL="0" indent="0">
              <a:lnSpc>
                <a:spcPct val="105000"/>
              </a:lnSpc>
              <a:buNone/>
            </a:pPr>
            <a:r>
              <a:rPr lang="en-US" sz="1000" dirty="0">
                <a:solidFill>
                  <a:srgbClr val="E6EDF3"/>
                </a:solidFill>
                <a:latin typeface="Courier New" pitchFamily="34" charset="0"/>
                <a:ea typeface="Courier New" pitchFamily="34" charset="-122"/>
                <a:cs typeface="Courier New" pitchFamily="34" charset="-120"/>
              </a:rPr>
              <a:t>       IS_NULLABLE</a:t>
            </a:r>
            <a:endParaRPr lang="en-US" sz="1000" dirty="0"/>
          </a:p>
          <a:p>
            <a:pPr marL="0" indent="0">
              <a:lnSpc>
                <a:spcPct val="105000"/>
              </a:lnSpc>
              <a:buNone/>
            </a:pPr>
            <a:r>
              <a:rPr lang="en-US" sz="1000" b="1" dirty="0">
                <a:solidFill>
                  <a:srgbClr val="4FD1C5"/>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INFORMATION_SCHEMA.COLUMNS</a:t>
            </a:r>
            <a:endParaRPr lang="en-US" sz="1000" dirty="0"/>
          </a:p>
          <a:p>
            <a:pPr marL="0" indent="0">
              <a:lnSpc>
                <a:spcPct val="105000"/>
              </a:lnSpc>
              <a:buNone/>
            </a:pPr>
            <a:r>
              <a:rPr lang="en-US" sz="1000" b="1" dirty="0">
                <a:solidFill>
                  <a:srgbClr val="4FD1C5"/>
                </a:solidFill>
                <a:latin typeface="Courier New" pitchFamily="34" charset="0"/>
                <a:ea typeface="Courier New" pitchFamily="34" charset="-122"/>
                <a:cs typeface="Courier New" pitchFamily="34" charset="-120"/>
              </a:rPr>
              <a:t>WHERE</a:t>
            </a:r>
            <a:r>
              <a:rPr lang="en-US" sz="1000" dirty="0">
                <a:solidFill>
                  <a:srgbClr val="E6EDF3"/>
                </a:solidFill>
                <a:latin typeface="Courier New" pitchFamily="34" charset="0"/>
                <a:ea typeface="Courier New" pitchFamily="34" charset="-122"/>
                <a:cs typeface="Courier New" pitchFamily="34" charset="-120"/>
              </a:rPr>
              <a:t> TABLE_NAME = </a:t>
            </a:r>
            <a:r>
              <a:rPr lang="en-US" sz="1000" dirty="0">
                <a:solidFill>
                  <a:srgbClr val="F2B134"/>
                </a:solidFill>
                <a:latin typeface="Courier New" pitchFamily="34" charset="0"/>
                <a:ea typeface="Courier New" pitchFamily="34" charset="-122"/>
                <a:cs typeface="Courier New" pitchFamily="34" charset="-120"/>
              </a:rPr>
              <a:t>'Companies'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00000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8393A8"/>
                </a:solidFill>
                <a:latin typeface="Courier New" pitchFamily="34" charset="0"/>
                <a:ea typeface="Courier New" pitchFamily="34" charset="-122"/>
                <a:cs typeface="Courier New" pitchFamily="34" charset="-120"/>
              </a:rPr>
              <a:t>-- Όλοι οι περιορισμοί</a:t>
            </a:r>
            <a:endParaRPr lang="en-US" sz="1000" dirty="0"/>
          </a:p>
          <a:p>
            <a:pPr marL="0" indent="0">
              <a:lnSpc>
                <a:spcPct val="105000"/>
              </a:lnSpc>
              <a:buNone/>
            </a:pPr>
            <a:r>
              <a:rPr lang="en-US" sz="1000" b="1" dirty="0">
                <a:solidFill>
                  <a:srgbClr val="4FD1C5"/>
                </a:solidFill>
                <a:latin typeface="Courier New" pitchFamily="34" charset="0"/>
                <a:ea typeface="Courier New" pitchFamily="34" charset="-122"/>
                <a:cs typeface="Courier New" pitchFamily="34" charset="-120"/>
              </a:rPr>
              <a:t>SELECT</a:t>
            </a:r>
            <a:r>
              <a:rPr lang="en-US" sz="1000" dirty="0">
                <a:solidFill>
                  <a:srgbClr val="E6EDF3"/>
                </a:solidFill>
                <a:latin typeface="Courier New" pitchFamily="34" charset="0"/>
                <a:ea typeface="Courier New" pitchFamily="34" charset="-122"/>
                <a:cs typeface="Courier New" pitchFamily="34" charset="-120"/>
              </a:rPr>
              <a:t> TABLE_NAME, CONSTRAINT_TYPE</a:t>
            </a:r>
            <a:endParaRPr lang="en-US" sz="1000" dirty="0"/>
          </a:p>
          <a:p>
            <a:pPr marL="0" indent="0">
              <a:lnSpc>
                <a:spcPct val="105000"/>
              </a:lnSpc>
              <a:buNone/>
            </a:pPr>
            <a:r>
              <a:rPr lang="en-US" sz="1000" b="1" dirty="0">
                <a:solidFill>
                  <a:srgbClr val="4FD1C5"/>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INFORMATION_SCHEMA.TABLE_CONSTRAINTS;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Άσκηση 2 · Σχεδιάστε δύο νέους πίνακες</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30 λεπτά · Συστάσεις αναλυτών για τις μετοχές της βάσης</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27</a:t>
            </a:r>
            <a:endParaRPr lang="en-US" sz="900" dirty="0"/>
          </a:p>
        </p:txBody>
      </p:sp>
      <p:sp>
        <p:nvSpPr>
          <p:cNvPr id="6" name="Text 4"/>
          <p:cNvSpPr txBox="1"/>
          <p:nvPr/>
        </p:nvSpPr>
        <p:spPr>
          <a:xfrm>
            <a:off x="457200" y="1234440"/>
            <a:ext cx="3931920" cy="274320"/>
          </a:xfrm>
          <a:prstGeom prst="rect">
            <a:avLst/>
          </a:prstGeom>
          <a:noFill/>
          <a:ln/>
        </p:spPr>
        <p:txBody>
          <a:bodyPr wrap="square" lIns="0" tIns="0" rIns="0" bIns="0" rtlCol="0" anchor="t"/>
          <a:lstStyle/>
          <a:p>
            <a:pPr marL="0" indent="0">
              <a:buNone/>
            </a:pPr>
            <a:r>
              <a:rPr lang="en-US" sz="1400" b="1" dirty="0">
                <a:solidFill>
                  <a:srgbClr val="1A9E92"/>
                </a:solidFill>
                <a:latin typeface="Courier New" pitchFamily="34" charset="0"/>
                <a:ea typeface="Courier New" pitchFamily="34" charset="-122"/>
                <a:cs typeface="Courier New" pitchFamily="34" charset="-120"/>
              </a:rPr>
              <a:t>Analysts</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3931920" cy="914400"/>
        </p:xfrm>
        <a:graphic>
          <a:graphicData uri="http://schemas.openxmlformats.org/drawingml/2006/table">
            <a:tbl>
              <a:tblPr/>
              <a:tblGrid>
                <a:gridCol w="123444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Στήλη</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Απαίτηση</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AnalystID</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ακέραιος, πρωτεύον κλειδί</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FullName</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ελληνικό κείμενο, υποχρεωτικό</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Email</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μοναδικό, υποχρεωτικό</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Firm</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προαιρετικό</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HireDate</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ημερομηνία, προεπιλογή: σήμερα</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txBox="1"/>
          <p:nvPr/>
        </p:nvSpPr>
        <p:spPr>
          <a:xfrm>
            <a:off x="4754880" y="1234440"/>
            <a:ext cx="3931920" cy="274320"/>
          </a:xfrm>
          <a:prstGeom prst="rect">
            <a:avLst/>
          </a:prstGeom>
          <a:noFill/>
          <a:ln/>
        </p:spPr>
        <p:txBody>
          <a:bodyPr wrap="square" lIns="0" tIns="0" rIns="0" bIns="0" rtlCol="0" anchor="t"/>
          <a:lstStyle/>
          <a:p>
            <a:pPr marL="0" indent="0">
              <a:buNone/>
            </a:pPr>
            <a:r>
              <a:rPr lang="en-US" sz="1400" b="1" dirty="0">
                <a:solidFill>
                  <a:srgbClr val="C0304A"/>
                </a:solidFill>
                <a:latin typeface="Courier New" pitchFamily="34" charset="0"/>
                <a:ea typeface="Courier New" pitchFamily="34" charset="-122"/>
                <a:cs typeface="Courier New" pitchFamily="34" charset="-120"/>
              </a:rPr>
              <a:t>Recommendations</a:t>
            </a:r>
            <a:endParaRPr lang="en-US" sz="140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4754880" y="1554480"/>
          <a:ext cx="3931920" cy="914400"/>
        </p:xfrm>
        <a:graphic>
          <a:graphicData uri="http://schemas.openxmlformats.org/drawingml/2006/table">
            <a:tbl>
              <a:tblPr/>
              <a:tblGrid>
                <a:gridCol w="123444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Στήλη</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C0304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Απαίτηση</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C0304A"/>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RecID</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ακέραιος, πρωτεύον κλειδί</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AnalystID</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 Analysts</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CompanyID</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 Companies</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RecDate</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ημερομηνία, υποχρεωτική</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Rating</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μόνο 'BUY', 'HOLD', 'SELL'</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000" dirty="0">
                          <a:solidFill>
                            <a:srgbClr val="12233A"/>
                          </a:solidFill>
                          <a:latin typeface="Courier New" pitchFamily="34" charset="0"/>
                          <a:ea typeface="Courier New" pitchFamily="34" charset="-122"/>
                          <a:cs typeface="Courier New" pitchFamily="34" charset="-120"/>
                        </a:rPr>
                        <a:t>TargetPrice</a:t>
                      </a:r>
                      <a:endParaRPr lang="en-US" sz="1000" dirty="0">
                        <a:latin typeface="Courier New" charset="0"/>
                        <a:ea typeface="Courier New" charset="0"/>
                        <a:cs typeface="Courier New"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100" dirty="0">
                          <a:solidFill>
                            <a:srgbClr val="12233A"/>
                          </a:solidFill>
                          <a:latin typeface="Calibri" pitchFamily="34" charset="0"/>
                          <a:ea typeface="Calibri" pitchFamily="34" charset="-122"/>
                          <a:cs typeface="Calibri" pitchFamily="34" charset="-120"/>
                        </a:rPr>
                        <a:t>χρηματικό ποσό &gt; 0</a:t>
                      </a:r>
                      <a:endParaRPr lang="en-US" sz="11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6"/>
                  </a:ext>
                </a:extLst>
              </a:tr>
            </a:tbl>
          </a:graphicData>
        </a:graphic>
      </p:graphicFrame>
      <p:sp>
        <p:nvSpPr>
          <p:cNvPr id="10" name="Shape 6"/>
          <p:cNvSpPr/>
          <p:nvPr/>
        </p:nvSpPr>
        <p:spPr>
          <a:xfrm>
            <a:off x="457200" y="4023360"/>
            <a:ext cx="8229600" cy="502920"/>
          </a:xfrm>
          <a:prstGeom prst="roundRect">
            <a:avLst>
              <a:gd name="adj" fmla="val 14545"/>
            </a:avLst>
          </a:prstGeom>
          <a:solidFill>
            <a:srgbClr val="F2B134"/>
          </a:solidFill>
          <a:ln w="12700">
            <a:solidFill>
              <a:srgbClr val="F2B134"/>
            </a:solidFill>
            <a:prstDash val="solid"/>
          </a:ln>
        </p:spPr>
        <p:txBody>
          <a:bodyPr/>
          <a:lstStyle/>
          <a:p>
            <a:endParaRPr lang="el-GR"/>
          </a:p>
        </p:txBody>
      </p:sp>
      <p:pic>
        <p:nvPicPr>
          <p:cNvPr id="11" name="Image 0" descr="preencoded.png"/>
          <p:cNvPicPr>
            <a:picLocks noChangeAspect="1"/>
          </p:cNvPicPr>
          <p:nvPr/>
        </p:nvPicPr>
        <p:blipFill>
          <a:blip r:embed="rId3"/>
          <a:stretch>
            <a:fillRect/>
          </a:stretch>
        </p:blipFill>
        <p:spPr>
          <a:xfrm>
            <a:off x="640080" y="4119372"/>
            <a:ext cx="310896" cy="310896"/>
          </a:xfrm>
          <a:prstGeom prst="rect">
            <a:avLst/>
          </a:prstGeom>
        </p:spPr>
      </p:pic>
      <p:sp>
        <p:nvSpPr>
          <p:cNvPr id="12" name="Text 7"/>
          <p:cNvSpPr txBox="1"/>
          <p:nvPr/>
        </p:nvSpPr>
        <p:spPr>
          <a:xfrm>
            <a:off x="1097280" y="4023360"/>
            <a:ext cx="7452360" cy="502920"/>
          </a:xfrm>
          <a:prstGeom prst="rect">
            <a:avLst/>
          </a:prstGeom>
          <a:noFill/>
          <a:ln/>
        </p:spPr>
        <p:txBody>
          <a:bodyPr wrap="square" lIns="0" tIns="0" rIns="0" bIns="0" rtlCol="0" anchor="ctr"/>
          <a:lstStyle/>
          <a:p>
            <a:pPr marL="0" indent="0">
              <a:buNone/>
            </a:pPr>
            <a:r>
              <a:rPr lang="en-US" sz="1200" b="1" dirty="0">
                <a:solidFill>
                  <a:srgbClr val="12233A"/>
                </a:solidFill>
                <a:latin typeface="Calibri" pitchFamily="34" charset="0"/>
                <a:ea typeface="Calibri" pitchFamily="34" charset="-122"/>
                <a:cs typeface="Calibri" pitchFamily="34" charset="-120"/>
              </a:rPr>
              <a:t>Υπόδειξη: </a:t>
            </a:r>
            <a:r>
              <a:rPr lang="en-US" sz="1200" dirty="0">
                <a:solidFill>
                  <a:srgbClr val="12233A"/>
                </a:solidFill>
                <a:latin typeface="Calibri" pitchFamily="34" charset="0"/>
                <a:ea typeface="Calibri" pitchFamily="34" charset="-122"/>
                <a:cs typeface="Calibri" pitchFamily="34" charset="-120"/>
              </a:rPr>
              <a:t>CHECK (Rating IN ('BUY', 'HOLD', 'SELL')) · DEFAULT GETDATE() · δοκιμάστε με ένα INSERT σε κάθε πίνακα</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Άσκηση 3 · «Σπάμε» τους κανόνες</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20 λεπτά · Πριν τρέξετε κάθε εντολή: περνάει ή όχι; Ποιος περιορισμός την εμποδίζει;</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457200" y="1280160"/>
            <a:ext cx="8229600" cy="3246120"/>
          </a:xfrm>
          <a:prstGeom prst="roundRect">
            <a:avLst>
              <a:gd name="adj" fmla="val 2254"/>
            </a:avLst>
          </a:prstGeom>
          <a:solidFill>
            <a:srgbClr val="0F1E30"/>
          </a:solidFill>
          <a:ln w="12700">
            <a:solidFill>
              <a:srgbClr val="0F1E30"/>
            </a:solidFill>
            <a:prstDash val="solid"/>
          </a:ln>
        </p:spPr>
        <p:txBody>
          <a:bodyPr/>
          <a:lstStyle/>
          <a:p>
            <a:endParaRPr lang="el-GR"/>
          </a:p>
        </p:txBody>
      </p:sp>
      <p:sp>
        <p:nvSpPr>
          <p:cNvPr id="7" name="Text 5"/>
          <p:cNvSpPr txBox="1"/>
          <p:nvPr/>
        </p:nvSpPr>
        <p:spPr>
          <a:xfrm>
            <a:off x="640080" y="1417320"/>
            <a:ext cx="7909560" cy="2999232"/>
          </a:xfrm>
          <a:prstGeom prst="rect">
            <a:avLst/>
          </a:prstGeom>
          <a:noFill/>
          <a:ln/>
        </p:spPr>
        <p:txBody>
          <a:bodyPr wrap="square" lIns="0" tIns="0" rIns="0" bIns="0" rtlCol="0" anchor="t"/>
          <a:lstStyle/>
          <a:p>
            <a:pPr marL="0" indent="0">
              <a:lnSpc>
                <a:spcPct val="105000"/>
              </a:lnSpc>
              <a:buNone/>
            </a:pPr>
            <a:r>
              <a:rPr lang="en-US" sz="1150" dirty="0">
                <a:solidFill>
                  <a:srgbClr val="8393A8"/>
                </a:solidFill>
                <a:latin typeface="Courier New" pitchFamily="34" charset="0"/>
                <a:ea typeface="Courier New" pitchFamily="34" charset="-122"/>
                <a:cs typeface="Courier New" pitchFamily="34" charset="-120"/>
              </a:rPr>
              <a:t>-- α)</a:t>
            </a:r>
            <a:endParaRPr lang="en-US" sz="1150" dirty="0"/>
          </a:p>
          <a:p>
            <a:pPr marL="0" indent="0">
              <a:lnSpc>
                <a:spcPct val="105000"/>
              </a:lnSpc>
              <a:buNone/>
            </a:pPr>
            <a:r>
              <a:rPr lang="en-US" sz="1150" b="1" dirty="0">
                <a:solidFill>
                  <a:srgbClr val="4FD1C5"/>
                </a:solidFill>
                <a:latin typeface="Courier New" pitchFamily="34" charset="0"/>
                <a:ea typeface="Courier New" pitchFamily="34" charset="-122"/>
                <a:cs typeface="Courier New" pitchFamily="34" charset="-120"/>
              </a:rPr>
              <a:t>INSERT</a:t>
            </a:r>
            <a:r>
              <a:rPr lang="en-US" sz="1150" dirty="0">
                <a:solidFill>
                  <a:srgbClr val="E6EDF3"/>
                </a:solidFill>
                <a:latin typeface="Courier New" pitchFamily="34" charset="0"/>
                <a:ea typeface="Courier New" pitchFamily="34" charset="-122"/>
                <a:cs typeface="Courier New" pitchFamily="34" charset="-120"/>
              </a:rPr>
              <a:t> </a:t>
            </a:r>
            <a:r>
              <a:rPr lang="en-US" sz="1150" b="1" dirty="0">
                <a:solidFill>
                  <a:srgbClr val="4FD1C5"/>
                </a:solidFill>
                <a:latin typeface="Courier New" pitchFamily="34" charset="0"/>
                <a:ea typeface="Courier New" pitchFamily="34" charset="-122"/>
                <a:cs typeface="Courier New" pitchFamily="34" charset="-120"/>
              </a:rPr>
              <a:t>INTO</a:t>
            </a:r>
            <a:r>
              <a:rPr lang="en-US" sz="1150" dirty="0">
                <a:solidFill>
                  <a:srgbClr val="E6EDF3"/>
                </a:solidFill>
                <a:latin typeface="Courier New" pitchFamily="34" charset="0"/>
                <a:ea typeface="Courier New" pitchFamily="34" charset="-122"/>
                <a:cs typeface="Courier New" pitchFamily="34" charset="-120"/>
              </a:rPr>
              <a:t> Sectors (SectorID, SectorName) </a:t>
            </a:r>
            <a:r>
              <a:rPr lang="en-US" sz="1150" b="1" dirty="0">
                <a:solidFill>
                  <a:srgbClr val="4FD1C5"/>
                </a:solidFill>
                <a:latin typeface="Courier New" pitchFamily="34" charset="0"/>
                <a:ea typeface="Courier New" pitchFamily="34" charset="-122"/>
                <a:cs typeface="Courier New" pitchFamily="34" charset="-120"/>
              </a:rPr>
              <a:t>VALUES</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10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B134"/>
                </a:solidFill>
                <a:latin typeface="Courier New" pitchFamily="34" charset="0"/>
                <a:ea typeface="Courier New" pitchFamily="34" charset="-122"/>
                <a:cs typeface="Courier New" pitchFamily="34" charset="-120"/>
              </a:rPr>
              <a:t>N'Τράπεζες'</a:t>
            </a: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marL="0" indent="0">
              <a:lnSpc>
                <a:spcPct val="105000"/>
              </a:lnSpc>
              <a:buNone/>
            </a:pPr>
            <a:r>
              <a:rPr lang="en-US" sz="1150" dirty="0">
                <a:solidFill>
                  <a:srgbClr val="8393A8"/>
                </a:solidFill>
                <a:latin typeface="Courier New" pitchFamily="34" charset="0"/>
                <a:ea typeface="Courier New" pitchFamily="34" charset="-122"/>
                <a:cs typeface="Courier New" pitchFamily="34" charset="-120"/>
              </a:rPr>
              <a:t>-- β)</a:t>
            </a:r>
            <a:endParaRPr lang="en-US" sz="1150" dirty="0"/>
          </a:p>
          <a:p>
            <a:pPr marL="0" indent="0">
              <a:lnSpc>
                <a:spcPct val="105000"/>
              </a:lnSpc>
              <a:buNone/>
            </a:pPr>
            <a:r>
              <a:rPr lang="en-US" sz="1150" b="1" dirty="0">
                <a:solidFill>
                  <a:srgbClr val="4FD1C5"/>
                </a:solidFill>
                <a:latin typeface="Courier New" pitchFamily="34" charset="0"/>
                <a:ea typeface="Courier New" pitchFamily="34" charset="-122"/>
                <a:cs typeface="Courier New" pitchFamily="34" charset="-120"/>
              </a:rPr>
              <a:t>INSERT</a:t>
            </a:r>
            <a:r>
              <a:rPr lang="en-US" sz="1150" dirty="0">
                <a:solidFill>
                  <a:srgbClr val="E6EDF3"/>
                </a:solidFill>
                <a:latin typeface="Courier New" pitchFamily="34" charset="0"/>
                <a:ea typeface="Courier New" pitchFamily="34" charset="-122"/>
                <a:cs typeface="Courier New" pitchFamily="34" charset="-120"/>
              </a:rPr>
              <a:t> </a:t>
            </a:r>
            <a:r>
              <a:rPr lang="en-US" sz="1150" b="1" dirty="0">
                <a:solidFill>
                  <a:srgbClr val="4FD1C5"/>
                </a:solidFill>
                <a:latin typeface="Courier New" pitchFamily="34" charset="0"/>
                <a:ea typeface="Courier New" pitchFamily="34" charset="-122"/>
                <a:cs typeface="Courier New" pitchFamily="34" charset="-120"/>
              </a:rPr>
              <a:t>INTO</a:t>
            </a:r>
            <a:r>
              <a:rPr lang="en-US" sz="1150" dirty="0">
                <a:solidFill>
                  <a:srgbClr val="E6EDF3"/>
                </a:solidFill>
                <a:latin typeface="Courier New" pitchFamily="34" charset="0"/>
                <a:ea typeface="Courier New" pitchFamily="34" charset="-122"/>
                <a:cs typeface="Courier New" pitchFamily="34" charset="-120"/>
              </a:rPr>
              <a:t> Companies (CompanyID, Ticker, CompanyName, SectorID, ListingDate)</a:t>
            </a:r>
            <a:endParaRPr lang="en-US" sz="1150" dirty="0"/>
          </a:p>
          <a:p>
            <a:pPr marL="0" indent="0">
              <a:lnSpc>
                <a:spcPct val="105000"/>
              </a:lnSpc>
              <a:buNone/>
            </a:pPr>
            <a:r>
              <a:rPr lang="en-US" sz="1150" b="1" dirty="0">
                <a:solidFill>
                  <a:srgbClr val="4FD1C5"/>
                </a:solidFill>
                <a:latin typeface="Courier New" pitchFamily="34" charset="0"/>
                <a:ea typeface="Courier New" pitchFamily="34" charset="-122"/>
                <a:cs typeface="Courier New" pitchFamily="34" charset="-120"/>
              </a:rPr>
              <a:t>VALUES</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25</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B134"/>
                </a:solidFill>
                <a:latin typeface="Courier New" pitchFamily="34" charset="0"/>
                <a:ea typeface="Courier New" pitchFamily="34" charset="-122"/>
                <a:cs typeface="Courier New" pitchFamily="34" charset="-120"/>
              </a:rPr>
              <a:t>'NEWC'</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B134"/>
                </a:solidFill>
                <a:latin typeface="Courier New" pitchFamily="34" charset="0"/>
                <a:ea typeface="Courier New" pitchFamily="34" charset="-122"/>
                <a:cs typeface="Courier New" pitchFamily="34" charset="-120"/>
              </a:rPr>
              <a:t>N'New Company'</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99</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B134"/>
                </a:solidFill>
                <a:latin typeface="Courier New" pitchFamily="34" charset="0"/>
                <a:ea typeface="Courier New" pitchFamily="34" charset="-122"/>
                <a:cs typeface="Courier New" pitchFamily="34" charset="-120"/>
              </a:rPr>
              <a:t>'2026-01-01'</a:t>
            </a: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marL="0" indent="0">
              <a:lnSpc>
                <a:spcPct val="105000"/>
              </a:lnSpc>
              <a:buNone/>
            </a:pPr>
            <a:r>
              <a:rPr lang="en-US" sz="1150" dirty="0">
                <a:solidFill>
                  <a:srgbClr val="8393A8"/>
                </a:solidFill>
                <a:latin typeface="Courier New" pitchFamily="34" charset="0"/>
                <a:ea typeface="Courier New" pitchFamily="34" charset="-122"/>
                <a:cs typeface="Courier New" pitchFamily="34" charset="-120"/>
              </a:rPr>
              <a:t>-- γ)</a:t>
            </a:r>
            <a:endParaRPr lang="en-US" sz="1150" dirty="0"/>
          </a:p>
          <a:p>
            <a:pPr marL="0" indent="0">
              <a:lnSpc>
                <a:spcPct val="105000"/>
              </a:lnSpc>
              <a:buNone/>
            </a:pPr>
            <a:r>
              <a:rPr lang="en-US" sz="1150" b="1" dirty="0">
                <a:solidFill>
                  <a:srgbClr val="4FD1C5"/>
                </a:solidFill>
                <a:latin typeface="Courier New" pitchFamily="34" charset="0"/>
                <a:ea typeface="Courier New" pitchFamily="34" charset="-122"/>
                <a:cs typeface="Courier New" pitchFamily="34" charset="-120"/>
              </a:rPr>
              <a:t>INSERT</a:t>
            </a:r>
            <a:r>
              <a:rPr lang="en-US" sz="1150" dirty="0">
                <a:solidFill>
                  <a:srgbClr val="E6EDF3"/>
                </a:solidFill>
                <a:latin typeface="Courier New" pitchFamily="34" charset="0"/>
                <a:ea typeface="Courier New" pitchFamily="34" charset="-122"/>
                <a:cs typeface="Courier New" pitchFamily="34" charset="-120"/>
              </a:rPr>
              <a:t> </a:t>
            </a:r>
            <a:r>
              <a:rPr lang="en-US" sz="1150" b="1" dirty="0">
                <a:solidFill>
                  <a:srgbClr val="4FD1C5"/>
                </a:solidFill>
                <a:latin typeface="Courier New" pitchFamily="34" charset="0"/>
                <a:ea typeface="Courier New" pitchFamily="34" charset="-122"/>
                <a:cs typeface="Courier New" pitchFamily="34" charset="-120"/>
              </a:rPr>
              <a:t>INTO</a:t>
            </a:r>
            <a:r>
              <a:rPr lang="en-US" sz="1150" dirty="0">
                <a:solidFill>
                  <a:srgbClr val="E6EDF3"/>
                </a:solidFill>
                <a:latin typeface="Courier New" pitchFamily="34" charset="0"/>
                <a:ea typeface="Courier New" pitchFamily="34" charset="-122"/>
                <a:cs typeface="Courier New" pitchFamily="34" charset="-120"/>
              </a:rPr>
              <a:t> StockPrices </a:t>
            </a:r>
            <a:r>
              <a:rPr lang="en-US" sz="1150" b="1" dirty="0">
                <a:solidFill>
                  <a:srgbClr val="4FD1C5"/>
                </a:solidFill>
                <a:latin typeface="Courier New" pitchFamily="34" charset="0"/>
                <a:ea typeface="Courier New" pitchFamily="34" charset="-122"/>
                <a:cs typeface="Courier New" pitchFamily="34" charset="-120"/>
              </a:rPr>
              <a:t>VALUES</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1</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B134"/>
                </a:solidFill>
                <a:latin typeface="Courier New" pitchFamily="34" charset="0"/>
                <a:ea typeface="Courier New" pitchFamily="34" charset="-122"/>
                <a:cs typeface="Courier New" pitchFamily="34" charset="-120"/>
              </a:rPr>
              <a:t>'2024-01-02'</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2.10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2.20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2.00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2.10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1000</a:t>
            </a: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marL="0" indent="0">
              <a:lnSpc>
                <a:spcPct val="105000"/>
              </a:lnSpc>
              <a:buNone/>
            </a:pPr>
            <a:r>
              <a:rPr lang="en-US" sz="1150" dirty="0">
                <a:solidFill>
                  <a:srgbClr val="8393A8"/>
                </a:solidFill>
                <a:latin typeface="Courier New" pitchFamily="34" charset="0"/>
                <a:ea typeface="Courier New" pitchFamily="34" charset="-122"/>
                <a:cs typeface="Courier New" pitchFamily="34" charset="-120"/>
              </a:rPr>
              <a:t>-- δ)</a:t>
            </a:r>
            <a:endParaRPr lang="en-US" sz="1150" dirty="0"/>
          </a:p>
          <a:p>
            <a:pPr marL="0" indent="0">
              <a:lnSpc>
                <a:spcPct val="105000"/>
              </a:lnSpc>
              <a:buNone/>
            </a:pPr>
            <a:r>
              <a:rPr lang="en-US" sz="1150" b="1" dirty="0">
                <a:solidFill>
                  <a:srgbClr val="4FD1C5"/>
                </a:solidFill>
                <a:latin typeface="Courier New" pitchFamily="34" charset="0"/>
                <a:ea typeface="Courier New" pitchFamily="34" charset="-122"/>
                <a:cs typeface="Courier New" pitchFamily="34" charset="-120"/>
              </a:rPr>
              <a:t>INSERT</a:t>
            </a:r>
            <a:r>
              <a:rPr lang="en-US" sz="1150" dirty="0">
                <a:solidFill>
                  <a:srgbClr val="E6EDF3"/>
                </a:solidFill>
                <a:latin typeface="Courier New" pitchFamily="34" charset="0"/>
                <a:ea typeface="Courier New" pitchFamily="34" charset="-122"/>
                <a:cs typeface="Courier New" pitchFamily="34" charset="-120"/>
              </a:rPr>
              <a:t> </a:t>
            </a:r>
            <a:r>
              <a:rPr lang="en-US" sz="1150" b="1" dirty="0">
                <a:solidFill>
                  <a:srgbClr val="4FD1C5"/>
                </a:solidFill>
                <a:latin typeface="Courier New" pitchFamily="34" charset="0"/>
                <a:ea typeface="Courier New" pitchFamily="34" charset="-122"/>
                <a:cs typeface="Courier New" pitchFamily="34" charset="-120"/>
              </a:rPr>
              <a:t>INTO</a:t>
            </a:r>
            <a:r>
              <a:rPr lang="en-US" sz="1150" dirty="0">
                <a:solidFill>
                  <a:srgbClr val="E6EDF3"/>
                </a:solidFill>
                <a:latin typeface="Courier New" pitchFamily="34" charset="0"/>
                <a:ea typeface="Courier New" pitchFamily="34" charset="-122"/>
                <a:cs typeface="Courier New" pitchFamily="34" charset="-120"/>
              </a:rPr>
              <a:t> StockPrices </a:t>
            </a:r>
            <a:r>
              <a:rPr lang="en-US" sz="1150" b="1" dirty="0">
                <a:solidFill>
                  <a:srgbClr val="4FD1C5"/>
                </a:solidFill>
                <a:latin typeface="Courier New" pitchFamily="34" charset="0"/>
                <a:ea typeface="Courier New" pitchFamily="34" charset="-122"/>
                <a:cs typeface="Courier New" pitchFamily="34" charset="-120"/>
              </a:rPr>
              <a:t>VALUES</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1</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B134"/>
                </a:solidFill>
                <a:latin typeface="Courier New" pitchFamily="34" charset="0"/>
                <a:ea typeface="Courier New" pitchFamily="34" charset="-122"/>
                <a:cs typeface="Courier New" pitchFamily="34" charset="-120"/>
              </a:rPr>
              <a:t>'2026-01-05'</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2.10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1.90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2.00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2.00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1000</a:t>
            </a: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marL="0" indent="0">
              <a:lnSpc>
                <a:spcPct val="105000"/>
              </a:lnSpc>
              <a:buNone/>
            </a:pPr>
            <a:r>
              <a:rPr lang="en-US" sz="1150" dirty="0">
                <a:solidFill>
                  <a:srgbClr val="8393A8"/>
                </a:solidFill>
                <a:latin typeface="Courier New" pitchFamily="34" charset="0"/>
                <a:ea typeface="Courier New" pitchFamily="34" charset="-122"/>
                <a:cs typeface="Courier New" pitchFamily="34" charset="-120"/>
              </a:rPr>
              <a:t>-- ε)</a:t>
            </a:r>
            <a:endParaRPr lang="en-US" sz="1150" dirty="0"/>
          </a:p>
          <a:p>
            <a:pPr marL="0" indent="0">
              <a:lnSpc>
                <a:spcPct val="105000"/>
              </a:lnSpc>
              <a:buNone/>
            </a:pPr>
            <a:r>
              <a:rPr lang="en-US" sz="1150" b="1" dirty="0">
                <a:solidFill>
                  <a:srgbClr val="4FD1C5"/>
                </a:solidFill>
                <a:latin typeface="Courier New" pitchFamily="34" charset="0"/>
                <a:ea typeface="Courier New" pitchFamily="34" charset="-122"/>
                <a:cs typeface="Courier New" pitchFamily="34" charset="-120"/>
              </a:rPr>
              <a:t>INSERT</a:t>
            </a:r>
            <a:r>
              <a:rPr lang="en-US" sz="1150" dirty="0">
                <a:solidFill>
                  <a:srgbClr val="E6EDF3"/>
                </a:solidFill>
                <a:latin typeface="Courier New" pitchFamily="34" charset="0"/>
                <a:ea typeface="Courier New" pitchFamily="34" charset="-122"/>
                <a:cs typeface="Courier New" pitchFamily="34" charset="-120"/>
              </a:rPr>
              <a:t> </a:t>
            </a:r>
            <a:r>
              <a:rPr lang="en-US" sz="1150" b="1" dirty="0">
                <a:solidFill>
                  <a:srgbClr val="4FD1C5"/>
                </a:solidFill>
                <a:latin typeface="Courier New" pitchFamily="34" charset="0"/>
                <a:ea typeface="Courier New" pitchFamily="34" charset="-122"/>
                <a:cs typeface="Courier New" pitchFamily="34" charset="-120"/>
              </a:rPr>
              <a:t>INTO</a:t>
            </a:r>
            <a:r>
              <a:rPr lang="en-US" sz="1150" dirty="0">
                <a:solidFill>
                  <a:srgbClr val="E6EDF3"/>
                </a:solidFill>
                <a:latin typeface="Courier New" pitchFamily="34" charset="0"/>
                <a:ea typeface="Courier New" pitchFamily="34" charset="-122"/>
                <a:cs typeface="Courier New" pitchFamily="34" charset="-120"/>
              </a:rPr>
              <a:t> Companies (CompanyID, Ticker, CompanyName, SectorID, ListingDate)</a:t>
            </a:r>
            <a:endParaRPr lang="en-US" sz="1150" dirty="0"/>
          </a:p>
          <a:p>
            <a:pPr marL="0" indent="0">
              <a:lnSpc>
                <a:spcPct val="105000"/>
              </a:lnSpc>
              <a:buNone/>
            </a:pPr>
            <a:r>
              <a:rPr lang="en-US" sz="1150" b="1" dirty="0">
                <a:solidFill>
                  <a:srgbClr val="4FD1C5"/>
                </a:solidFill>
                <a:latin typeface="Courier New" pitchFamily="34" charset="0"/>
                <a:ea typeface="Courier New" pitchFamily="34" charset="-122"/>
                <a:cs typeface="Courier New" pitchFamily="34" charset="-120"/>
              </a:rPr>
              <a:t>VALUES</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25</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B134"/>
                </a:solidFill>
                <a:latin typeface="Courier New" pitchFamily="34" charset="0"/>
                <a:ea typeface="Courier New" pitchFamily="34" charset="-122"/>
                <a:cs typeface="Courier New" pitchFamily="34" charset="-120"/>
              </a:rPr>
              <a:t>'NEWC'</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B134"/>
                </a:solidFill>
                <a:latin typeface="Courier New" pitchFamily="34" charset="0"/>
                <a:ea typeface="Courier New" pitchFamily="34" charset="-122"/>
                <a:cs typeface="Courier New" pitchFamily="34" charset="-120"/>
              </a:rPr>
              <a:t>N'New Company'</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8B82"/>
                </a:solidFill>
                <a:latin typeface="Courier New" pitchFamily="34" charset="0"/>
                <a:ea typeface="Courier New" pitchFamily="34" charset="-122"/>
                <a:cs typeface="Courier New" pitchFamily="34" charset="-120"/>
              </a:rPr>
              <a:t>9</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2B134"/>
                </a:solidFill>
                <a:latin typeface="Courier New" pitchFamily="34" charset="0"/>
                <a:ea typeface="Courier New" pitchFamily="34" charset="-122"/>
                <a:cs typeface="Courier New" pitchFamily="34" charset="-120"/>
              </a:rPr>
              <a:t>'2026-01-01'</a:t>
            </a:r>
            <a:r>
              <a:rPr lang="en-US" sz="1150" dirty="0">
                <a:solidFill>
                  <a:srgbClr val="E6EDF3"/>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Ανάθεση DataCamp · Εβδομάδα 1</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Ολοκλήρωση πριν το επόμενο μάθημα · στο DataCamp Classroom του μαθήματος</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457200" y="1325880"/>
            <a:ext cx="8229600" cy="804672"/>
          </a:xfrm>
          <a:prstGeom prst="roundRect">
            <a:avLst>
              <a:gd name="adj" fmla="val 9091"/>
            </a:avLst>
          </a:prstGeom>
          <a:solidFill>
            <a:srgbClr val="EEF3F8"/>
          </a:solidFill>
          <a:ln w="12700">
            <a:solidFill>
              <a:srgbClr val="EEF3F8"/>
            </a:solidFill>
            <a:prstDash val="solid"/>
          </a:ln>
        </p:spPr>
        <p:txBody>
          <a:bodyPr/>
          <a:lstStyle/>
          <a:p>
            <a:endParaRPr lang="el-GR"/>
          </a:p>
        </p:txBody>
      </p:sp>
      <p:sp>
        <p:nvSpPr>
          <p:cNvPr id="7" name="Shape 5"/>
          <p:cNvSpPr/>
          <p:nvPr/>
        </p:nvSpPr>
        <p:spPr>
          <a:xfrm>
            <a:off x="640080" y="1472184"/>
            <a:ext cx="512064" cy="512064"/>
          </a:xfrm>
          <a:prstGeom prst="ellipse">
            <a:avLst/>
          </a:prstGeom>
          <a:solidFill>
            <a:srgbClr val="1A9E92"/>
          </a:solidFill>
          <a:ln w="12700">
            <a:solidFill>
              <a:srgbClr val="1A9E92"/>
            </a:solidFill>
            <a:prstDash val="solid"/>
          </a:ln>
        </p:spPr>
        <p:txBody>
          <a:bodyPr/>
          <a:lstStyle/>
          <a:p>
            <a:endParaRPr lang="el-GR"/>
          </a:p>
        </p:txBody>
      </p:sp>
      <p:pic>
        <p:nvPicPr>
          <p:cNvPr id="8" name="Image 0" descr="preencoded.png"/>
          <p:cNvPicPr>
            <a:picLocks noChangeAspect="1"/>
          </p:cNvPicPr>
          <p:nvPr/>
        </p:nvPicPr>
        <p:blipFill>
          <a:blip r:embed="rId3"/>
          <a:stretch>
            <a:fillRect/>
          </a:stretch>
        </p:blipFill>
        <p:spPr>
          <a:xfrm>
            <a:off x="768096" y="1600200"/>
            <a:ext cx="256032" cy="256032"/>
          </a:xfrm>
          <a:prstGeom prst="rect">
            <a:avLst/>
          </a:prstGeom>
        </p:spPr>
      </p:pic>
      <p:sp>
        <p:nvSpPr>
          <p:cNvPr id="9" name="Text 6"/>
          <p:cNvSpPr txBox="1"/>
          <p:nvPr/>
        </p:nvSpPr>
        <p:spPr>
          <a:xfrm>
            <a:off x="1325880" y="1380744"/>
            <a:ext cx="5852160" cy="694944"/>
          </a:xfrm>
          <a:prstGeom prst="rect">
            <a:avLst/>
          </a:prstGeom>
          <a:noFill/>
          <a:ln/>
        </p:spPr>
        <p:txBody>
          <a:bodyPr wrap="square" lIns="0" tIns="0" rIns="0" bIns="0"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Introduction to SQL</a:t>
            </a:r>
            <a:endParaRPr lang="en-US" sz="1400" dirty="0"/>
          </a:p>
          <a:p>
            <a:pPr marL="0" indent="0">
              <a:buNone/>
            </a:pPr>
            <a:r>
              <a:rPr lang="en-US" sz="1200" dirty="0">
                <a:solidFill>
                  <a:srgbClr val="5B6B7F"/>
                </a:solidFill>
                <a:latin typeface="Calibri" pitchFamily="34" charset="0"/>
                <a:ea typeface="Calibri" pitchFamily="34" charset="-122"/>
                <a:cs typeface="Calibri" pitchFamily="34" charset="-120"/>
              </a:rPr>
              <a:t>Κεφ. 1 Meet Databases &amp; SQL · Κεφ. 2 Write Your First SQL · Κεφ. 3 Complete Your SQL Foundation</a:t>
            </a:r>
            <a:endParaRPr lang="en-US" sz="1400" dirty="0"/>
          </a:p>
        </p:txBody>
      </p:sp>
      <p:sp>
        <p:nvSpPr>
          <p:cNvPr id="10" name="Shape 7"/>
          <p:cNvSpPr/>
          <p:nvPr/>
        </p:nvSpPr>
        <p:spPr>
          <a:xfrm>
            <a:off x="7360920" y="1591056"/>
            <a:ext cx="1143000" cy="274320"/>
          </a:xfrm>
          <a:prstGeom prst="roundRect">
            <a:avLst>
              <a:gd name="adj" fmla="val 50000"/>
            </a:avLst>
          </a:prstGeom>
          <a:solidFill>
            <a:srgbClr val="1A9E92"/>
          </a:solidFill>
          <a:ln w="12700">
            <a:solidFill>
              <a:srgbClr val="1A9E92"/>
            </a:solidFill>
            <a:prstDash val="solid"/>
          </a:ln>
        </p:spPr>
        <p:txBody>
          <a:bodyPr/>
          <a:lstStyle/>
          <a:p>
            <a:endParaRPr lang="el-GR"/>
          </a:p>
        </p:txBody>
      </p:sp>
      <p:sp>
        <p:nvSpPr>
          <p:cNvPr id="11" name="Text 8"/>
          <p:cNvSpPr txBox="1"/>
          <p:nvPr/>
        </p:nvSpPr>
        <p:spPr>
          <a:xfrm>
            <a:off x="7360920" y="1591056"/>
            <a:ext cx="11430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~45′</a:t>
            </a:r>
            <a:endParaRPr lang="en-US" sz="1000" dirty="0"/>
          </a:p>
        </p:txBody>
      </p:sp>
      <p:sp>
        <p:nvSpPr>
          <p:cNvPr id="12" name="Shape 9"/>
          <p:cNvSpPr/>
          <p:nvPr/>
        </p:nvSpPr>
        <p:spPr>
          <a:xfrm>
            <a:off x="457200" y="2286000"/>
            <a:ext cx="8229600" cy="804672"/>
          </a:xfrm>
          <a:prstGeom prst="roundRect">
            <a:avLst>
              <a:gd name="adj" fmla="val 9091"/>
            </a:avLst>
          </a:prstGeom>
          <a:solidFill>
            <a:srgbClr val="EEF3F8"/>
          </a:solidFill>
          <a:ln w="12700">
            <a:solidFill>
              <a:srgbClr val="EEF3F8"/>
            </a:solidFill>
            <a:prstDash val="solid"/>
          </a:ln>
        </p:spPr>
        <p:txBody>
          <a:bodyPr/>
          <a:lstStyle/>
          <a:p>
            <a:endParaRPr lang="el-GR"/>
          </a:p>
        </p:txBody>
      </p:sp>
      <p:sp>
        <p:nvSpPr>
          <p:cNvPr id="13" name="Shape 10"/>
          <p:cNvSpPr/>
          <p:nvPr/>
        </p:nvSpPr>
        <p:spPr>
          <a:xfrm>
            <a:off x="640080" y="2432304"/>
            <a:ext cx="512064" cy="512064"/>
          </a:xfrm>
          <a:prstGeom prst="ellipse">
            <a:avLst/>
          </a:prstGeom>
          <a:solidFill>
            <a:srgbClr val="12233A"/>
          </a:solidFill>
          <a:ln w="12700">
            <a:solidFill>
              <a:srgbClr val="12233A"/>
            </a:solidFill>
            <a:prstDash val="solid"/>
          </a:ln>
        </p:spPr>
        <p:txBody>
          <a:bodyPr/>
          <a:lstStyle/>
          <a:p>
            <a:endParaRPr lang="el-GR"/>
          </a:p>
        </p:txBody>
      </p:sp>
      <p:pic>
        <p:nvPicPr>
          <p:cNvPr id="14" name="Image 1" descr="preencoded.png"/>
          <p:cNvPicPr>
            <a:picLocks noChangeAspect="1"/>
          </p:cNvPicPr>
          <p:nvPr/>
        </p:nvPicPr>
        <p:blipFill>
          <a:blip r:embed="rId3"/>
          <a:stretch>
            <a:fillRect/>
          </a:stretch>
        </p:blipFill>
        <p:spPr>
          <a:xfrm>
            <a:off x="768096" y="2560320"/>
            <a:ext cx="256032" cy="256032"/>
          </a:xfrm>
          <a:prstGeom prst="rect">
            <a:avLst/>
          </a:prstGeom>
        </p:spPr>
      </p:pic>
      <p:sp>
        <p:nvSpPr>
          <p:cNvPr id="15" name="Text 11"/>
          <p:cNvSpPr txBox="1"/>
          <p:nvPr/>
        </p:nvSpPr>
        <p:spPr>
          <a:xfrm>
            <a:off x="1325880" y="2340864"/>
            <a:ext cx="5852160" cy="694944"/>
          </a:xfrm>
          <a:prstGeom prst="rect">
            <a:avLst/>
          </a:prstGeom>
          <a:noFill/>
          <a:ln/>
        </p:spPr>
        <p:txBody>
          <a:bodyPr wrap="square" lIns="0" tIns="0" rIns="0" bIns="0" rtlCol="0" anchor="ctr"/>
          <a:lstStyle/>
          <a:p>
            <a:pPr marL="0" indent="0">
              <a:buNone/>
            </a:pPr>
            <a:r>
              <a:rPr lang="en-US" sz="1500" b="1" dirty="0">
                <a:solidFill>
                  <a:srgbClr val="12233A"/>
                </a:solidFill>
                <a:latin typeface="Calibri" pitchFamily="34" charset="0"/>
                <a:ea typeface="Calibri" pitchFamily="34" charset="-122"/>
                <a:cs typeface="Calibri" pitchFamily="34" charset="-120"/>
              </a:rPr>
              <a:t>Introduction to Relational Databases in SQL</a:t>
            </a:r>
            <a:endParaRPr lang="en-US" sz="1400" dirty="0"/>
          </a:p>
          <a:p>
            <a:pPr marL="0" indent="0">
              <a:buNone/>
            </a:pPr>
            <a:r>
              <a:rPr lang="en-US" sz="1200" dirty="0">
                <a:solidFill>
                  <a:srgbClr val="5B6B7F"/>
                </a:solidFill>
                <a:latin typeface="Calibri" pitchFamily="34" charset="0"/>
                <a:ea typeface="Calibri" pitchFamily="34" charset="-122"/>
                <a:cs typeface="Calibri" pitchFamily="34" charset="-120"/>
              </a:rPr>
              <a:t>Κεφ. 1 Your first database · Κεφ. 2 Enforce data consistency with attribute constraints</a:t>
            </a:r>
            <a:endParaRPr lang="en-US" sz="1400" dirty="0"/>
          </a:p>
        </p:txBody>
      </p:sp>
      <p:sp>
        <p:nvSpPr>
          <p:cNvPr id="16" name="Shape 12"/>
          <p:cNvSpPr/>
          <p:nvPr/>
        </p:nvSpPr>
        <p:spPr>
          <a:xfrm>
            <a:off x="7360920" y="2551176"/>
            <a:ext cx="1143000" cy="274320"/>
          </a:xfrm>
          <a:prstGeom prst="roundRect">
            <a:avLst>
              <a:gd name="adj" fmla="val 50000"/>
            </a:avLst>
          </a:prstGeom>
          <a:solidFill>
            <a:srgbClr val="12233A"/>
          </a:solidFill>
          <a:ln w="12700">
            <a:solidFill>
              <a:srgbClr val="12233A"/>
            </a:solidFill>
            <a:prstDash val="solid"/>
          </a:ln>
        </p:spPr>
        <p:txBody>
          <a:bodyPr/>
          <a:lstStyle/>
          <a:p>
            <a:endParaRPr lang="el-GR"/>
          </a:p>
        </p:txBody>
      </p:sp>
      <p:sp>
        <p:nvSpPr>
          <p:cNvPr id="17" name="Text 13"/>
          <p:cNvSpPr txBox="1"/>
          <p:nvPr/>
        </p:nvSpPr>
        <p:spPr>
          <a:xfrm>
            <a:off x="7360920" y="2551176"/>
            <a:ext cx="11430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 ώρες</a:t>
            </a:r>
            <a:endParaRPr lang="en-US" sz="1000" dirty="0"/>
          </a:p>
        </p:txBody>
      </p:sp>
      <p:sp>
        <p:nvSpPr>
          <p:cNvPr id="18" name="Shape 14"/>
          <p:cNvSpPr/>
          <p:nvPr/>
        </p:nvSpPr>
        <p:spPr>
          <a:xfrm>
            <a:off x="457200" y="3291840"/>
            <a:ext cx="8229600" cy="566928"/>
          </a:xfrm>
          <a:prstGeom prst="roundRect">
            <a:avLst>
              <a:gd name="adj" fmla="val 12903"/>
            </a:avLst>
          </a:prstGeom>
          <a:solidFill>
            <a:srgbClr val="F2B134"/>
          </a:solidFill>
          <a:ln w="12700">
            <a:solidFill>
              <a:srgbClr val="F2B134"/>
            </a:solidFill>
            <a:prstDash val="solid"/>
          </a:ln>
        </p:spPr>
        <p:txBody>
          <a:bodyPr/>
          <a:lstStyle/>
          <a:p>
            <a:endParaRPr lang="el-GR"/>
          </a:p>
        </p:txBody>
      </p:sp>
      <p:pic>
        <p:nvPicPr>
          <p:cNvPr id="19" name="Image 2" descr="preencoded.png"/>
          <p:cNvPicPr>
            <a:picLocks noChangeAspect="1"/>
          </p:cNvPicPr>
          <p:nvPr/>
        </p:nvPicPr>
        <p:blipFill>
          <a:blip r:embed="rId4"/>
          <a:stretch>
            <a:fillRect/>
          </a:stretch>
        </p:blipFill>
        <p:spPr>
          <a:xfrm>
            <a:off x="640080" y="3419856"/>
            <a:ext cx="310896" cy="310896"/>
          </a:xfrm>
          <a:prstGeom prst="rect">
            <a:avLst/>
          </a:prstGeom>
        </p:spPr>
      </p:pic>
      <p:sp>
        <p:nvSpPr>
          <p:cNvPr id="20" name="Text 15"/>
          <p:cNvSpPr txBox="1"/>
          <p:nvPr/>
        </p:nvSpPr>
        <p:spPr>
          <a:xfrm>
            <a:off x="1097280" y="3291840"/>
            <a:ext cx="7452360" cy="566928"/>
          </a:xfrm>
          <a:prstGeom prst="rect">
            <a:avLst/>
          </a:prstGeom>
          <a:noFill/>
          <a:ln/>
        </p:spPr>
        <p:txBody>
          <a:bodyPr wrap="square" lIns="0" tIns="0" rIns="0" bIns="0" rtlCol="0" anchor="ctr"/>
          <a:lstStyle/>
          <a:p>
            <a:pPr marL="0" indent="0">
              <a:buNone/>
            </a:pPr>
            <a:r>
              <a:rPr lang="en-US" sz="1200" b="1" dirty="0">
                <a:solidFill>
                  <a:srgbClr val="12233A"/>
                </a:solidFill>
                <a:latin typeface="Calibri" pitchFamily="34" charset="0"/>
                <a:ea typeface="Calibri" pitchFamily="34" charset="-122"/>
                <a:cs typeface="Calibri" pitchFamily="34" charset="-120"/>
              </a:rPr>
              <a:t>Προσοχή: </a:t>
            </a:r>
            <a:r>
              <a:rPr lang="en-US" sz="1200" dirty="0">
                <a:solidFill>
                  <a:srgbClr val="12233A"/>
                </a:solidFill>
                <a:latin typeface="Calibri" pitchFamily="34" charset="0"/>
                <a:ea typeface="Calibri" pitchFamily="34" charset="-122"/>
                <a:cs typeface="Calibri" pitchFamily="34" charset="-120"/>
              </a:rPr>
              <a:t>το DataCamp χρησιμοποιεί PostgreSQL. Οι βασικές εντολές είναι ίδιες — τις διαφορές τις επισημαίνουμε στο μάθημα.</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Σύνοψη &amp; επόμενη εβδομάδα</a:t>
            </a:r>
            <a:endParaRPr lang="en-US" sz="2600" dirty="0"/>
          </a:p>
        </p:txBody>
      </p:sp>
      <p:sp>
        <p:nvSpPr>
          <p:cNvPr id="3" name="Text 1"/>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4" name="Text 2"/>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30</a:t>
            </a:r>
            <a:endParaRPr lang="en-US" sz="900" dirty="0"/>
          </a:p>
        </p:txBody>
      </p:sp>
      <p:sp>
        <p:nvSpPr>
          <p:cNvPr id="5" name="Shape 3"/>
          <p:cNvSpPr/>
          <p:nvPr/>
        </p:nvSpPr>
        <p:spPr>
          <a:xfrm>
            <a:off x="457200" y="1097280"/>
            <a:ext cx="4663440" cy="3429000"/>
          </a:xfrm>
          <a:prstGeom prst="roundRect">
            <a:avLst>
              <a:gd name="adj" fmla="val 2133"/>
            </a:avLst>
          </a:prstGeom>
          <a:solidFill>
            <a:srgbClr val="EEF3F8"/>
          </a:solidFill>
          <a:ln w="12700">
            <a:solidFill>
              <a:srgbClr val="EEF3F8"/>
            </a:solidFill>
            <a:prstDash val="solid"/>
          </a:ln>
        </p:spPr>
        <p:txBody>
          <a:bodyPr/>
          <a:lstStyle/>
          <a:p>
            <a:endParaRPr lang="el-GR"/>
          </a:p>
        </p:txBody>
      </p:sp>
      <p:sp>
        <p:nvSpPr>
          <p:cNvPr id="6" name="Text 4"/>
          <p:cNvSpPr txBox="1"/>
          <p:nvPr/>
        </p:nvSpPr>
        <p:spPr>
          <a:xfrm>
            <a:off x="685800" y="1234440"/>
            <a:ext cx="4206240" cy="320040"/>
          </a:xfrm>
          <a:prstGeom prst="rect">
            <a:avLst/>
          </a:prstGeom>
          <a:noFill/>
          <a:ln/>
        </p:spPr>
        <p:txBody>
          <a:bodyPr wrap="square" lIns="0" tIns="0" rIns="0" bIns="0" rtlCol="0" anchor="t"/>
          <a:lstStyle/>
          <a:p>
            <a:pPr marL="0" indent="0">
              <a:buNone/>
            </a:pPr>
            <a:r>
              <a:rPr lang="en-US" sz="1600" b="1" dirty="0">
                <a:solidFill>
                  <a:srgbClr val="1A9E92"/>
                </a:solidFill>
                <a:latin typeface="Calibri" pitchFamily="34" charset="0"/>
                <a:ea typeface="Calibri" pitchFamily="34" charset="-122"/>
                <a:cs typeface="Calibri" pitchFamily="34" charset="-120"/>
              </a:rPr>
              <a:t>Τι κρατάμε από σήμερα</a:t>
            </a:r>
            <a:endParaRPr lang="en-US" sz="1600" dirty="0"/>
          </a:p>
        </p:txBody>
      </p:sp>
      <p:sp>
        <p:nvSpPr>
          <p:cNvPr id="7" name="Text 5"/>
          <p:cNvSpPr txBox="1"/>
          <p:nvPr/>
        </p:nvSpPr>
        <p:spPr>
          <a:xfrm>
            <a:off x="685800" y="1691640"/>
            <a:ext cx="4251960" cy="27432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2233A"/>
                </a:solidFill>
                <a:latin typeface="Calibri" pitchFamily="34" charset="0"/>
                <a:ea typeface="Calibri" pitchFamily="34" charset="-122"/>
                <a:cs typeface="Calibri" pitchFamily="34" charset="-120"/>
              </a:rPr>
              <a:t>Η σχεσιακή βάση οργανώνει τα δεδομένα σε πίνακες με γραμμές και στήλες</a:t>
            </a:r>
            <a:endParaRPr lang="en-US" sz="1300" dirty="0"/>
          </a:p>
          <a:p>
            <a:pPr marL="342900" indent="-342900">
              <a:spcAft>
                <a:spcPts val="1000"/>
              </a:spcAft>
              <a:buSzPct val="100000"/>
              <a:buChar char="•"/>
            </a:pPr>
            <a:r>
              <a:rPr lang="en-US" sz="1300" dirty="0">
                <a:solidFill>
                  <a:srgbClr val="12233A"/>
                </a:solidFill>
                <a:latin typeface="Calibri" pitchFamily="34" charset="0"/>
                <a:ea typeface="Calibri" pitchFamily="34" charset="-122"/>
                <a:cs typeface="Calibri" pitchFamily="34" charset="-120"/>
              </a:rPr>
              <a:t>Το σχήμα ορίζει στήλες, τύπους και κανόνες πριν μπουν δεδομένα</a:t>
            </a:r>
            <a:endParaRPr lang="en-US" sz="1300" dirty="0"/>
          </a:p>
          <a:p>
            <a:pPr marL="342900" indent="-342900">
              <a:spcAft>
                <a:spcPts val="1000"/>
              </a:spcAft>
              <a:buSzPct val="100000"/>
              <a:buChar char="•"/>
            </a:pPr>
            <a:r>
              <a:rPr lang="en-US" sz="1300" dirty="0">
                <a:solidFill>
                  <a:srgbClr val="12233A"/>
                </a:solidFill>
                <a:latin typeface="Calibri" pitchFamily="34" charset="0"/>
                <a:ea typeface="Calibri" pitchFamily="34" charset="-122"/>
                <a:cs typeface="Calibri" pitchFamily="34" charset="-120"/>
              </a:rPr>
              <a:t>DECIMAL για χρήματα · NVARCHAR για ελληνικά</a:t>
            </a:r>
            <a:endParaRPr lang="en-US" sz="1300" dirty="0"/>
          </a:p>
          <a:p>
            <a:pPr marL="342900" indent="-342900">
              <a:spcAft>
                <a:spcPts val="1000"/>
              </a:spcAft>
              <a:buSzPct val="100000"/>
              <a:buChar char="•"/>
            </a:pPr>
            <a:r>
              <a:rPr lang="en-US" sz="1300" dirty="0">
                <a:solidFill>
                  <a:srgbClr val="12233A"/>
                </a:solidFill>
                <a:latin typeface="Calibri" pitchFamily="34" charset="0"/>
                <a:ea typeface="Calibri" pitchFamily="34" charset="-122"/>
                <a:cs typeface="Calibri" pitchFamily="34" charset="-120"/>
              </a:rPr>
              <a:t>PK = ταυτότητα γραμμής · FK = σύνδεση πινάκων · CHECK/DEFAULT = επιχειρηματικοί κανόνες</a:t>
            </a:r>
            <a:endParaRPr lang="en-US" sz="1300" dirty="0"/>
          </a:p>
        </p:txBody>
      </p:sp>
      <p:sp>
        <p:nvSpPr>
          <p:cNvPr id="8" name="Shape 6"/>
          <p:cNvSpPr/>
          <p:nvPr/>
        </p:nvSpPr>
        <p:spPr>
          <a:xfrm>
            <a:off x="5394960" y="1097280"/>
            <a:ext cx="3291840" cy="3429000"/>
          </a:xfrm>
          <a:prstGeom prst="roundRect">
            <a:avLst>
              <a:gd name="adj" fmla="val 2222"/>
            </a:avLst>
          </a:prstGeom>
          <a:solidFill>
            <a:srgbClr val="0D1B2A"/>
          </a:solidFill>
          <a:ln w="12700">
            <a:solidFill>
              <a:srgbClr val="0D1B2A"/>
            </a:solidFill>
            <a:prstDash val="solid"/>
          </a:ln>
        </p:spPr>
        <p:txBody>
          <a:bodyPr/>
          <a:lstStyle/>
          <a:p>
            <a:endParaRPr lang="el-GR"/>
          </a:p>
        </p:txBody>
      </p:sp>
      <p:sp>
        <p:nvSpPr>
          <p:cNvPr id="9" name="Text 7"/>
          <p:cNvSpPr txBox="1"/>
          <p:nvPr/>
        </p:nvSpPr>
        <p:spPr>
          <a:xfrm>
            <a:off x="5623560" y="1234440"/>
            <a:ext cx="2834640" cy="320040"/>
          </a:xfrm>
          <a:prstGeom prst="rect">
            <a:avLst/>
          </a:prstGeom>
          <a:noFill/>
          <a:ln/>
        </p:spPr>
        <p:txBody>
          <a:bodyPr wrap="square" lIns="0" tIns="0" rIns="0" bIns="0" rtlCol="0" anchor="t"/>
          <a:lstStyle/>
          <a:p>
            <a:pPr marL="0" indent="0">
              <a:buNone/>
            </a:pPr>
            <a:r>
              <a:rPr lang="en-US" sz="1600" b="1" dirty="0">
                <a:solidFill>
                  <a:srgbClr val="2EC4B6"/>
                </a:solidFill>
                <a:latin typeface="Calibri" pitchFamily="34" charset="0"/>
                <a:ea typeface="Calibri" pitchFamily="34" charset="-122"/>
                <a:cs typeface="Calibri" pitchFamily="34" charset="-120"/>
              </a:rPr>
              <a:t>Εβδομάδα 2</a:t>
            </a:r>
            <a:endParaRPr lang="en-US" sz="1600" dirty="0"/>
          </a:p>
        </p:txBody>
      </p:sp>
      <p:sp>
        <p:nvSpPr>
          <p:cNvPr id="10" name="Text 8"/>
          <p:cNvSpPr txBox="1"/>
          <p:nvPr/>
        </p:nvSpPr>
        <p:spPr>
          <a:xfrm>
            <a:off x="5623560" y="1691640"/>
            <a:ext cx="2880360" cy="27432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CREATE, ALTER, DROP</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Τα πρώτα μας ερωτήματα: SELECT, WHERE</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Ταξινόμηση &amp; μοναδικές τιμές: ORDER BY, DISTINCT</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TOP (SQL Server) vs LIMIT (PostgreSQL)</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Παράρτημα · Χάρτης DataCamp (εβδ. 1–7)</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Οι αναθέσεις DataCamp του εξαμήνου · ~1 ώρα ανά κεφάλαιο</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31</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02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40233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Εβδ.</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Θέμα</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DataCamp: μάθημα (κεφάλαια)</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Χρόνος</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Σχεσιακές βάσεις · σχήμα · τύποι · περιορισμοί</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Introduction to SQL (κεφ. 1–3) · Introduction to Relational Databases in SQL (κεφ. 1–2)</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~2,5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CREATE / ALTER / DROP · SELECT · WHERE · ORDER BY</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Introduction to SQL Server (κεφ. 1 «SELECTion Box», κεφ. 4 «You've got the power»)</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Συναθροιστικές συναρτήσεις · GROUP BY · HAVING</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Introduction to SQL Server (κεφ. 2) · Data Analysis in Excel (κεφ. 1 PivotTables)</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Συνενώσεις πινάκων (JOINs)</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Introduction to SQL Server (κεφ. 3) · Joining Data in SQL (κεφ. 2) · Advanced Excel Functions (κεφ. 1 XLOOKUP)</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~2,5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Υποερωτήματα · Views</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Data Manipulation in SQL (κεφ. 2) · Database Design (κεφ. 3)</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Απλή &amp; πολλαπλή παλινδρόμηση</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Introduction to R (κεφ. 1, 2, 5) · Introduction to Regression in R (κεφ. 1)</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~2,5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6"/>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Έλεγχοι υποθέσεων · p-values · R²</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Hypothesis Testing in R (κεφ. 1) · Introduction to Regression in R (κεφ. 3)</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12233A"/>
                </a:solidFill>
                <a:latin typeface="Arial" pitchFamily="34" charset="0"/>
                <a:ea typeface="Arial" pitchFamily="34" charset="-122"/>
                <a:cs typeface="Arial" pitchFamily="34" charset="-120"/>
              </a:rPr>
              <a:t>Παράρτημα · Χάρτης DataCamp (εβδ. 8–13)</a:t>
            </a:r>
            <a:endParaRPr lang="en-US" sz="26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Οι αναθέσεις DataCamp του εξαμήνου · ~1 ώρα ανά κεφάλαιο</a:t>
            </a:r>
            <a:endParaRPr lang="en-US" sz="1400" dirty="0"/>
          </a:p>
        </p:txBody>
      </p:sp>
      <p:sp>
        <p:nvSpPr>
          <p:cNvPr id="4" name="Text 2"/>
          <p:cNvSpPr txBox="1"/>
          <p:nvPr/>
        </p:nvSpPr>
        <p:spPr>
          <a:xfrm>
            <a:off x="457200" y="4828032"/>
            <a:ext cx="6400800" cy="201168"/>
          </a:xfrm>
          <a:prstGeom prst="rect">
            <a:avLst/>
          </a:prstGeom>
          <a:noFill/>
          <a:ln/>
        </p:spPr>
        <p:txBody>
          <a:bodyPr wrap="square" lIns="0" tIns="0" rIns="0" bIns="0" rtlCol="0" anchor="ctr"/>
          <a:lstStyle/>
          <a:p>
            <a:pPr marL="0" indent="0">
              <a:buNone/>
            </a:pPr>
            <a:r>
              <a:rPr lang="en-US" sz="900" dirty="0">
                <a:solidFill>
                  <a:srgbClr val="5B6B7F"/>
                </a:solidFill>
                <a:latin typeface="Calibri" pitchFamily="34" charset="0"/>
                <a:ea typeface="Calibri" pitchFamily="34" charset="-122"/>
                <a:cs typeface="Calibri" pitchFamily="34" charset="-120"/>
              </a:rPr>
              <a:t>ΒΔ &amp; Επιχειρηματική Αναλυτική · Εβδομάδα 1</a:t>
            </a:r>
            <a:endParaRPr lang="en-US" sz="900" dirty="0"/>
          </a:p>
        </p:txBody>
      </p:sp>
      <p:sp>
        <p:nvSpPr>
          <p:cNvPr id="5" name="Text 3"/>
          <p:cNvSpPr txBox="1"/>
          <p:nvPr/>
        </p:nvSpPr>
        <p:spPr>
          <a:xfrm>
            <a:off x="8138160" y="4828032"/>
            <a:ext cx="548640" cy="201168"/>
          </a:xfrm>
          <a:prstGeom prst="rect">
            <a:avLst/>
          </a:prstGeom>
          <a:noFill/>
          <a:ln/>
        </p:spPr>
        <p:txBody>
          <a:bodyPr wrap="square" lIns="0" tIns="0" rIns="0" bIns="0" rtlCol="0" anchor="ctr"/>
          <a:lstStyle/>
          <a:p>
            <a:pPr marL="0" indent="0" algn="r">
              <a:buNone/>
            </a:pPr>
            <a:r>
              <a:rPr lang="en-US" sz="900" dirty="0">
                <a:solidFill>
                  <a:srgbClr val="5B6B7F"/>
                </a:solidFill>
                <a:latin typeface="Calibri" pitchFamily="34" charset="0"/>
                <a:ea typeface="Calibri" pitchFamily="34" charset="-122"/>
                <a:cs typeface="Calibri"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029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40233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Εβδ.</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Θέμα</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DataCamp: μάθημα (κεφάλαια)</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Χρόνος</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12233A"/>
                    </a:solidFill>
                  </a:tcPr>
                </a:tc>
                <a:extLst>
                  <a:ext uri="{0D108BD9-81ED-4DB2-BD59-A6C34878D82A}">
                    <a16:rowId xmlns:a16="http://schemas.microsoft.com/office/drawing/2014/main" val="10000"/>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Διαγνωστικοί έλεγχοι</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Intermediate Regression in R (κεφ. 3) · + υλικό διδάσκοντα*</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~1 ώρα</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RStudio · σύνδεση R με SQL Server</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Intermediate Importing Data in R (κεφ. 1–2)</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~1,5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2"/>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Καθαρισμός δεδομένων με dplyr</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Data Manipulation with dplyr (κεφ. 1–2)</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Οπτικοποίηση · Power BI</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Introduction to Data Visualization with ggplot2 (κεφ. 1, 3) · Introduction to Power BI (κεφ. 1, προαιρ.)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~2–3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4"/>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Οικονομετρία στην R με lm()</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Introduction to Regression in R (κεφ. 2) · Intermediate Regression in R (κεφ. 1)</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~2 ώρ.</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End-to-end ανάλυση · παρουσιάσεις</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 (εστίαση στο project) · προαιρ.: Introduction to Power BI (κεφ. 4)</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tc>
                  <a:txBody>
                    <a:bodyPr/>
                    <a:lstStyle/>
                    <a:p>
                      <a:pPr marL="0" indent="0">
                        <a:buNone/>
                      </a:pPr>
                      <a:r>
                        <a:rPr lang="en-US" sz="1000" dirty="0">
                          <a:solidFill>
                            <a:srgbClr val="12233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63500" marR="63500" marT="25400" marB="25400"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rgbClr val="EEF3F8"/>
                    </a:solidFill>
                  </a:tcPr>
                </a:tc>
                <a:extLst>
                  <a:ext uri="{0D108BD9-81ED-4DB2-BD59-A6C34878D82A}">
                    <a16:rowId xmlns:a16="http://schemas.microsoft.com/office/drawing/2014/main" val="10006"/>
                  </a:ext>
                </a:extLst>
              </a:tr>
            </a:tbl>
          </a:graphicData>
        </a:graphic>
      </p:graphicFrame>
      <p:sp>
        <p:nvSpPr>
          <p:cNvPr id="7" name="Text 4"/>
          <p:cNvSpPr txBox="1"/>
          <p:nvPr/>
        </p:nvSpPr>
        <p:spPr>
          <a:xfrm>
            <a:off x="457200" y="4160520"/>
            <a:ext cx="8229600" cy="274320"/>
          </a:xfrm>
          <a:prstGeom prst="rect">
            <a:avLst/>
          </a:prstGeom>
          <a:noFill/>
          <a:ln/>
        </p:spPr>
        <p:txBody>
          <a:bodyPr wrap="square" lIns="0" tIns="0" rIns="0" bIns="0" rtlCol="0" anchor="t"/>
          <a:lstStyle/>
          <a:p>
            <a:pPr marL="0" indent="0">
              <a:buNone/>
            </a:pPr>
            <a:r>
              <a:rPr lang="en-US" sz="1000" i="1" dirty="0">
                <a:solidFill>
                  <a:srgbClr val="5B6B7F"/>
                </a:solidFill>
                <a:latin typeface="Calibri" pitchFamily="34" charset="0"/>
                <a:ea typeface="Calibri" pitchFamily="34" charset="-122"/>
                <a:cs typeface="Calibri" pitchFamily="34" charset="-120"/>
              </a:rPr>
              <a:t>* Το DataCamp δεν έχει κεφάλαιο για ετεροσκεδαστικότητα / αυτοσυσχέτιση — καλύπτεται με υλικό του διδάσκοντα.</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3855</Words>
  <Application>Microsoft Office PowerPoint</Application>
  <PresentationFormat>On-screen Show (16:9)</PresentationFormat>
  <Paragraphs>751</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Εβδομάδα 1 · Εισαγωγή στις Σχεσιακές Βάσεις Δεδομένων</dc:title>
  <dc:subject>PptxGenJS Presentation</dc:subject>
  <dc:creator>Δρ. Αθανάσιος Κρανιάς</dc:creator>
  <cp:lastModifiedBy>Athanasios Kranias</cp:lastModifiedBy>
  <cp:revision>2</cp:revision>
  <dcterms:created xsi:type="dcterms:W3CDTF">2026-10-04T19:08:08Z</dcterms:created>
  <dcterms:modified xsi:type="dcterms:W3CDTF">2026-10-05T14:28:12Z</dcterms:modified>
</cp:coreProperties>
</file>